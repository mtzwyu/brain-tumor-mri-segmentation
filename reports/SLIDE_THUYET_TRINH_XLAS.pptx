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Kính thưa Thầy và các bạn, em là Hà Mạnh Trường, nhóm trưởng. Đề tài của nhóm là Phân đoạn và phát hiện tổn thương trên ảnh y tế, trong đó nghiên cứu tập trung chuyên sâu vào phân đoạn và phát hiện khối u não trên ảnh cộng hưởng từ MRI (chuẩn TCGA-LGG) gồm 3.929 lát cắt của 110 bệnh nhân. Nhóm gồm hai thành viên, đóng góp 50/50.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Glioma là loại u có tính xâm lấn cao, việc khoanh vùng chính xác quyết định phác đồ xạ trị. Trên ảnh MRI có ba thách thức kỹ thuật: tương phản thấp, bờ u gồ ghề và nhiễu hyperintense từ xương sọ. Đây chính là ba bài toán mà pipeline của nhóm phải giải quyết.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Nhóm đặt bốn mục tiêu: xây dựng quy trình xử lý khép kín trên CPU, tách sọ chính xác, so sánh đối kháng hai thuật toán phân đoạn kinh điển, và cuối cùng là đo lường y khoa kèm Web Demo. Điểm nhấn là toàn bộ kết quả đều tái lập được qua các bước thực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Pipeline gồm bốn tầng nối tiếp: tiền xử lý, tách sọ, phân đoạn và tầng đo lường - đánh giá. Mỗi tầng là một module độc lập trong src, có unit test riêng, nhờ vậy có thể thay thuật toán ở tầng 3 mà không ảnh hưởng các tầng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Tầng tách sọ gồm sáu bước: Otsu, phép mở để cắt cầu nối mô, giữ thành phần liên thông lớn nhất, lấp lỗ hổng não thất và nhân logic với ảnh gốc. Hình bên phải là kết quả thật của cả sáu giai đoạn, cho thấy xương sọ và mô mềm đã bị loại bỏ hoàn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Phương án A là Marker-controlled Watershed. Điểm mấu chốt là biến đổi khoảng cách Euclidean: đỉnh của bản đồ khoảng cách cho ta tâm khối u, từ đó sinh marker và chạy Watershed có ràng buộc để chặn hiện tượng tràn biên. Thuật toán rất mạnh với khối u nhiều tâm.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Phương án B là Seeded Region Growing. Hạt giống lấy tại pixel sáng nhất trong não, sau đó lan truyền BFS 8 hướng với dung sai cường độ 15. Thuật toán rất nhanh và cho mặt nạ liền mạch, nhưng phụ thuộc hoàn toàn vào chất lượng hạt giống - đây là điểm yếu sẽ thấy rõ trong phần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 Bộ dữ liệu gồm 3.929 lát cắt của 110 bệnh nhân TCGA-LGG, trong đó 1.373 lát có u. Toàn bộ đã chuẩn hóa về 256 nhân 256, thang xám, kèm mặt nạ ground truth do chuyên gia gắn nhãn. Nhóm chia ba mức độ khó theo diện tích u để kiểm thử tính bền vững.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 Nhóm rút trích ba đặc trưng: diện tích, tỷ lệ u trên não và độ tròn. Độ tròn là chỉ số có ý nghĩa lâm sàng rõ nhất: gần 1 là bờ tròn đều, càng nhỏ càng gợi ý bờ xâm lấn. Ngoài ra hệ thống còn xuất bounding box để bác sĩ định vị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 Bốn chỉ số chuẩn y khoa: Dice và IoU đo mức tương đồng, Sensitivity đo khả năng không bỏ sót u, Specificity đo khả năng tránh báo động giả. Nhóm đánh giá trên 1.373 lát có u và kiểm tra dương tính giả trên 2.556 lát não lành.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 Đây là bảng kết quả trung tâm của đồ án. Watershed đạt Dice 0,4446, gấp 2,23 lần Region Growing, và nhanh gấp đôi. Cả hai đều giữ Specificity trên 98,5 phần trăm, nghĩa là bước tách sọ đã triệt tiêu dương tính giả rất tốt.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 Hai biểu đồ này giải thích vì sao Watershed thắng: hộp phân phối Dice của Watershed nằm cao hơn và ổn định hơn, trong khi Region Growing lao dốc về 0 ở nhiều ca. Biểu đồ cột bên phải cho thấy Watershed vượt trội ở gần như mọi ca tiêu biểu.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Nhóm khảo sát dist_thresh_ratio từ 0,2 đến 0,6 trên 30 lát cắt có u. Dice đạt cực đại tại 0,4, đúng bằng giá trị mặc định đang dùng; đây là bằng chứng thực nghiệm cho việc chọn siêu tham số. min_tumor_area được giữ ở 50 pixel để cân bằng giữa lọc nhiễu và bảo toàn u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Nhóm phân tích hai nhóm ca thất bại điển hình: u vi thể dưới 1,5% diện tích sọ và u có phù nề lan rộng. Nguyên nhân đều nằm ở bước sinh hạt giống. Nhóm đã áp dụng ba biện pháp: bảo toàn biên bằng bilateral, dung sai thích ứng và lọc đảo nhiễu theo ngưỡng diện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 Web Demo viết bằng Streamlit, chạy trực tiếp trên trình duyệt. Bác sĩ có thể tải ảnh bất kỳ hoặc chọn ca trong bộ dữ liệu, chuyển đổi giữa hai thuật toán bằng một cú nhấp, và nhận về bốn khung so sánh kèm bảng chỉ số. Giao diện dùng light theme, tiếng Việt có dấu đầy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 Đây là màn hình kết quả thực tế của ca minh họa. Bốn khung lần lượt là ảnh gốc, não sau tách sọ, mặt nạ u và ảnh có bounding box. Thẻ KPI tự động cảnh báo dương tính, kèm diện tích 835 pixel, độ tròn 0,689 và thời gian xử lý 5,1 mili-giây. Dice của ca này đạt 0,92 so với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Sau bảy ngày, nhóm hoàn thành toàn bộ mục tiêu: pipeline chạy dưới 20 mili-giây mỗi lát, 26 trên 26 unit test xanh, và Web Demo bàn giao được. Điểm cần nói thẳng là độ chính xác còn thấp ở u nhỏ và u phù nề, đã phân tích nguyên nhân ở slide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và Trí] Nhóm đề xuất ba hướng: tái tạo thể tích 3D để đo thể tích thật, pipeline lai giữa Watershed và mạng học sâu nhẹ, và tích hợp chuẩn DICOM/PACS để đưa vào bệnh viện. Trước khi tích hợp thực tế, cần đánh giá trên dữ liệu đa trung tâm.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[Trường] Về mặt kỹ thuật, mã nguồn chia thành bốn package tương ứng bốn tầng xử lý. Toàn bộ 26 unit test đều đạt, không có hồi quy, và bảy bất biến dữ liệu I1 đến I7 trong đặc tả vẫn được bảo toàn sau mọi thay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Thay mặt nhóm, em xin trân trọng cảm ơn Thầy ThS. Đỗ Hùng Dũng và các bạn sinh viên đã lắng nghe phần trình bày. Nhóm sẵn sàng trao đổi và trả lời các câu hỏi phản biện. Trường phụ trách phần quy trình xử lý và thuật toán, Trí phụ trách dữ liệu, đánh giá định lượng và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457200"/>
            <a:ext cx="5669280" cy="219456"/>
          </a:xfrm>
          <a:prstGeom prst="rect">
            <a:avLst/>
          </a:prstGeom>
          <a:noFill/>
          <a:ln/>
        </p:spPr>
        <p:txBody>
          <a:bodyPr wrap="square" lIns="0" tIns="0" rIns="0" bIns="0" rtlCol="0" anchor="ctr"/>
          <a:lstStyle/>
          <a:p>
            <a:pPr indent="0" marL="0">
              <a:buNone/>
            </a:pPr>
            <a:r>
              <a:rPr lang="en-US" sz="1050" spc="80" kern="0" dirty="0">
                <a:solidFill>
                  <a:srgbClr val="065A82"/>
                </a:solidFill>
                <a:latin typeface="Segoe UI Semibold" pitchFamily="34" charset="0"/>
                <a:ea typeface="Segoe UI Semibold" pitchFamily="34" charset="-122"/>
                <a:cs typeface="Segoe UI Semibold" pitchFamily="34" charset="-120"/>
              </a:rPr>
              <a:t>TRƯỜNG ĐẠI HỌC CÔNG THƯƠNG TP. HỒ CHÍ MINH (HUIT)</a:t>
            </a:r>
            <a:endParaRPr lang="en-US" sz="1050" dirty="0"/>
          </a:p>
        </p:txBody>
      </p:sp>
      <p:sp>
        <p:nvSpPr>
          <p:cNvPr id="3" name="Text 1"/>
          <p:cNvSpPr/>
          <p:nvPr/>
        </p:nvSpPr>
        <p:spPr>
          <a:xfrm>
            <a:off x="502920" y="694944"/>
            <a:ext cx="5669280" cy="201168"/>
          </a:xfrm>
          <a:prstGeom prst="rect">
            <a:avLst/>
          </a:prstGeom>
          <a:noFill/>
          <a:ln/>
        </p:spPr>
        <p:txBody>
          <a:bodyPr wrap="square" lIns="0" tIns="0" rIns="0" bIns="0" rtlCol="0" anchor="ctr"/>
          <a:lstStyle/>
          <a:p>
            <a:pPr indent="0" marL="0">
              <a:buNone/>
            </a:pPr>
            <a:r>
              <a:rPr lang="en-US" sz="850" spc="80" kern="0" dirty="0">
                <a:solidFill>
                  <a:srgbClr val="5F7186"/>
                </a:solidFill>
                <a:latin typeface="Segoe UI" pitchFamily="34" charset="0"/>
                <a:ea typeface="Segoe UI" pitchFamily="34" charset="-122"/>
                <a:cs typeface="Segoe UI" pitchFamily="34" charset="-120"/>
              </a:rPr>
              <a:t>KHOA CÔNG NGHỆ THÔNG TIN  ·  NGÀNH KHOA HỌC DỮ LIỆU  ·  BỘ MÔN XỬ LÝ ẢNH SỐ</a:t>
            </a:r>
            <a:endParaRPr lang="en-US" sz="850" dirty="0"/>
          </a:p>
        </p:txBody>
      </p:sp>
      <p:sp>
        <p:nvSpPr>
          <p:cNvPr id="4" name="Text 2"/>
          <p:cNvSpPr/>
          <p:nvPr/>
        </p:nvSpPr>
        <p:spPr>
          <a:xfrm>
            <a:off x="502920" y="1225296"/>
            <a:ext cx="5669280" cy="201168"/>
          </a:xfrm>
          <a:prstGeom prst="rect">
            <a:avLst/>
          </a:prstGeom>
          <a:noFill/>
          <a:ln/>
        </p:spPr>
        <p:txBody>
          <a:bodyPr wrap="square" lIns="0" tIns="0" rIns="0" bIns="0" rtlCol="0" anchor="ctr"/>
          <a:lstStyle/>
          <a:p>
            <a:pPr indent="0" marL="0">
              <a:buNone/>
            </a:pPr>
            <a:r>
              <a:rPr lang="en-US" sz="900" spc="140" kern="0" dirty="0">
                <a:solidFill>
                  <a:srgbClr val="00A896"/>
                </a:solidFill>
                <a:latin typeface="Segoe UI Semibold" pitchFamily="34" charset="0"/>
                <a:ea typeface="Segoe UI Semibold" pitchFamily="34" charset="-122"/>
                <a:cs typeface="Segoe UI Semibold" pitchFamily="34" charset="-120"/>
              </a:rPr>
              <a:t>BÁO CÁO ĐỒ ÁN MÔN HỌC  ·  XỬ LÝ ẢNH SỐ</a:t>
            </a:r>
            <a:endParaRPr lang="en-US" sz="900" dirty="0"/>
          </a:p>
        </p:txBody>
      </p:sp>
      <p:sp>
        <p:nvSpPr>
          <p:cNvPr id="5" name="Text 3"/>
          <p:cNvSpPr/>
          <p:nvPr/>
        </p:nvSpPr>
        <p:spPr>
          <a:xfrm>
            <a:off x="502920" y="1426464"/>
            <a:ext cx="5806440" cy="868680"/>
          </a:xfrm>
          <a:prstGeom prst="rect">
            <a:avLst/>
          </a:prstGeom>
          <a:noFill/>
          <a:ln/>
        </p:spPr>
        <p:txBody>
          <a:bodyPr wrap="square" lIns="0" tIns="0" rIns="0" bIns="0" rtlCol="0" anchor="t"/>
          <a:lstStyle/>
          <a:p>
            <a:pPr indent="0" marL="0">
              <a:lnSpc>
                <a:spcPct val="112000"/>
              </a:lnSpc>
              <a:buNone/>
            </a:pPr>
            <a:r>
              <a:rPr lang="en-US" sz="2200" dirty="0">
                <a:solidFill>
                  <a:srgbClr val="21295C"/>
                </a:solidFill>
                <a:latin typeface="Segoe UI Semibold" pitchFamily="34" charset="0"/>
                <a:ea typeface="Segoe UI Semibold" pitchFamily="34" charset="-122"/>
                <a:cs typeface="Segoe UI Semibold" pitchFamily="34" charset="-120"/>
              </a:rPr>
              <a:t>PHÂN ĐOẠN VÀ PHÁT HIỆN</a:t>
            </a:r>
            <a:endParaRPr lang="en-US" sz="2200" dirty="0"/>
          </a:p>
          <a:p>
            <a:pPr indent="0" marL="0">
              <a:lnSpc>
                <a:spcPct val="112000"/>
              </a:lnSpc>
              <a:buNone/>
            </a:pPr>
            <a:r>
              <a:rPr lang="en-US" sz="2200" dirty="0">
                <a:solidFill>
                  <a:srgbClr val="21295C"/>
                </a:solidFill>
                <a:latin typeface="Segoe UI Semibold" pitchFamily="34" charset="0"/>
                <a:ea typeface="Segoe UI Semibold" pitchFamily="34" charset="-122"/>
                <a:cs typeface="Segoe UI Semibold" pitchFamily="34" charset="-120"/>
              </a:rPr>
              <a:t>TỔN THƯƠNG TRÊN ẢNH Y TẾ</a:t>
            </a:r>
            <a:endParaRPr lang="en-US" sz="2200" dirty="0"/>
          </a:p>
        </p:txBody>
      </p:sp>
      <p:sp>
        <p:nvSpPr>
          <p:cNvPr id="6" name="Text 4"/>
          <p:cNvSpPr/>
          <p:nvPr/>
        </p:nvSpPr>
        <p:spPr>
          <a:xfrm>
            <a:off x="502920" y="2359152"/>
            <a:ext cx="5806440" cy="420624"/>
          </a:xfrm>
          <a:prstGeom prst="rect">
            <a:avLst/>
          </a:prstGeom>
          <a:noFill/>
          <a:ln/>
        </p:spPr>
        <p:txBody>
          <a:bodyPr wrap="square" lIns="0" tIns="0" rIns="0" bIns="0" rtlCol="0" anchor="ctr"/>
          <a:lstStyle/>
          <a:p>
            <a:pPr indent="0" marL="0">
              <a:lnSpc>
                <a:spcPct val="115000"/>
              </a:lnSpc>
              <a:buNone/>
            </a:pPr>
            <a:r>
              <a:rPr lang="en-US" sz="1050" i="1" dirty="0">
                <a:solidFill>
                  <a:srgbClr val="028090"/>
                </a:solidFill>
                <a:latin typeface="Segoe UI" pitchFamily="34" charset="0"/>
                <a:ea typeface="Segoe UI" pitchFamily="34" charset="-122"/>
                <a:cs typeface="Segoe UI" pitchFamily="34" charset="-120"/>
              </a:rPr>
              <a:t>(Nghiên cứu trọng tâm: Phân đoạn và phát hiện khối u não trên ảnh cộng hưởng từ MRI — Bộ dữ liệu chuẩn TCGA-LGG)</a:t>
            </a:r>
            <a:endParaRPr lang="en-US" sz="1050" dirty="0"/>
          </a:p>
        </p:txBody>
      </p:sp>
      <p:sp>
        <p:nvSpPr>
          <p:cNvPr id="7" name="Text 5"/>
          <p:cNvSpPr/>
          <p:nvPr/>
        </p:nvSpPr>
        <p:spPr>
          <a:xfrm>
            <a:off x="502920" y="2871216"/>
            <a:ext cx="5669280" cy="219456"/>
          </a:xfrm>
          <a:prstGeom prst="rect">
            <a:avLst/>
          </a:prstGeom>
          <a:noFill/>
          <a:ln/>
        </p:spPr>
        <p:txBody>
          <a:bodyPr wrap="square" lIns="0" tIns="0" rIns="0" bIns="0" rtlCol="0" anchor="ctr"/>
          <a:lstStyle/>
          <a:p>
            <a:pPr indent="0" marL="0">
              <a:buNone/>
            </a:pPr>
            <a:r>
              <a:rPr lang="en-US" sz="1000" dirty="0">
                <a:solidFill>
                  <a:srgbClr val="1E293B"/>
                </a:solidFill>
                <a:latin typeface="Segoe UI" pitchFamily="34" charset="0"/>
                <a:ea typeface="Segoe UI" pitchFamily="34" charset="-122"/>
                <a:cs typeface="Segoe UI" pitchFamily="34" charset="-120"/>
              </a:rPr>
              <a:t>Giảng viên hướng dẫn: ThS. Đỗ Hùng Dũng</a:t>
            </a:r>
            <a:endParaRPr lang="en-US" sz="1000" dirty="0"/>
          </a:p>
        </p:txBody>
      </p:sp>
      <p:sp>
        <p:nvSpPr>
          <p:cNvPr id="8" name="Shape 6"/>
          <p:cNvSpPr/>
          <p:nvPr/>
        </p:nvSpPr>
        <p:spPr>
          <a:xfrm>
            <a:off x="502920" y="3218688"/>
            <a:ext cx="2697480" cy="932688"/>
          </a:xfrm>
          <a:prstGeom prst="roundRect">
            <a:avLst>
              <a:gd name="adj" fmla="val 5882"/>
            </a:avLst>
          </a:prstGeom>
          <a:solidFill>
            <a:srgbClr val="FFFFFF"/>
          </a:solidFill>
          <a:ln w="9525">
            <a:solidFill>
              <a:srgbClr val="D1E3E8"/>
            </a:solidFill>
            <a:prstDash val="solid"/>
          </a:ln>
          <a:effectLst>
            <a:outerShdw sx="100000" sy="100000" kx="0" ky="0" algn="bl" rotWithShape="0" blurRad="25400" dist="12700" dir="5400000">
              <a:srgbClr val="0B2B3C">
                <a:alpha val="10000"/>
              </a:srgbClr>
            </a:outerShdw>
          </a:effectLst>
        </p:spPr>
      </p:sp>
      <p:sp>
        <p:nvSpPr>
          <p:cNvPr id="9" name="Text 7"/>
          <p:cNvSpPr/>
          <p:nvPr/>
        </p:nvSpPr>
        <p:spPr>
          <a:xfrm>
            <a:off x="685800" y="3310128"/>
            <a:ext cx="2331720" cy="219456"/>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Hà Mạnh Trường</a:t>
            </a:r>
            <a:endParaRPr lang="en-US" sz="1150" dirty="0"/>
          </a:p>
        </p:txBody>
      </p:sp>
      <p:sp>
        <p:nvSpPr>
          <p:cNvPr id="10" name="Text 8"/>
          <p:cNvSpPr/>
          <p:nvPr/>
        </p:nvSpPr>
        <p:spPr>
          <a:xfrm>
            <a:off x="685800" y="3547872"/>
            <a:ext cx="2331720" cy="182880"/>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MSSV 2045240326  ·  Nhóm trưởng</a:t>
            </a:r>
            <a:endParaRPr lang="en-US" sz="850" dirty="0"/>
          </a:p>
        </p:txBody>
      </p:sp>
      <p:sp>
        <p:nvSpPr>
          <p:cNvPr id="11" name="Shape 9"/>
          <p:cNvSpPr/>
          <p:nvPr/>
        </p:nvSpPr>
        <p:spPr>
          <a:xfrm>
            <a:off x="685800" y="3794760"/>
            <a:ext cx="658368" cy="237744"/>
          </a:xfrm>
          <a:prstGeom prst="roundRect">
            <a:avLst>
              <a:gd name="adj" fmla="val 15385"/>
            </a:avLst>
          </a:prstGeom>
          <a:solidFill>
            <a:srgbClr val="E3F1F4"/>
          </a:solidFill>
          <a:ln w="9525">
            <a:solidFill>
              <a:srgbClr val="D1E3E8"/>
            </a:solidFill>
            <a:prstDash val="solid"/>
          </a:ln>
        </p:spPr>
      </p:sp>
      <p:sp>
        <p:nvSpPr>
          <p:cNvPr id="12" name="Text 10"/>
          <p:cNvSpPr/>
          <p:nvPr/>
        </p:nvSpPr>
        <p:spPr>
          <a:xfrm>
            <a:off x="777240" y="3794760"/>
            <a:ext cx="475488" cy="237744"/>
          </a:xfrm>
          <a:prstGeom prst="rect">
            <a:avLst/>
          </a:prstGeom>
          <a:noFill/>
          <a:ln/>
        </p:spPr>
        <p:txBody>
          <a:bodyPr wrap="square" lIns="0" tIns="0" rIns="0" bIns="0" rtlCol="0" anchor="ctr"/>
          <a:lstStyle/>
          <a:p>
            <a:pPr algn="ctr" indent="0" marL="0">
              <a:buNone/>
            </a:pPr>
            <a:r>
              <a:rPr lang="en-US" sz="850" b="1" dirty="0">
                <a:solidFill>
                  <a:srgbClr val="065A82"/>
                </a:solidFill>
                <a:latin typeface="Segoe UI" pitchFamily="34" charset="0"/>
                <a:ea typeface="Segoe UI" pitchFamily="34" charset="-122"/>
                <a:cs typeface="Segoe UI" pitchFamily="34" charset="-120"/>
              </a:rPr>
              <a:t>50%</a:t>
            </a:r>
            <a:endParaRPr lang="en-US" sz="850" dirty="0"/>
          </a:p>
        </p:txBody>
      </p:sp>
      <p:sp>
        <p:nvSpPr>
          <p:cNvPr id="13" name="Text 11"/>
          <p:cNvSpPr/>
          <p:nvPr/>
        </p:nvSpPr>
        <p:spPr>
          <a:xfrm>
            <a:off x="1417320" y="3794760"/>
            <a:ext cx="1417320" cy="237744"/>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Đóng góp</a:t>
            </a:r>
            <a:endParaRPr lang="en-US" sz="850" dirty="0"/>
          </a:p>
        </p:txBody>
      </p:sp>
      <p:sp>
        <p:nvSpPr>
          <p:cNvPr id="14" name="Shape 12"/>
          <p:cNvSpPr/>
          <p:nvPr/>
        </p:nvSpPr>
        <p:spPr>
          <a:xfrm>
            <a:off x="3383280" y="3218688"/>
            <a:ext cx="2697480" cy="932688"/>
          </a:xfrm>
          <a:prstGeom prst="roundRect">
            <a:avLst>
              <a:gd name="adj" fmla="val 5882"/>
            </a:avLst>
          </a:prstGeom>
          <a:solidFill>
            <a:srgbClr val="FFFFFF"/>
          </a:solidFill>
          <a:ln w="9525">
            <a:solidFill>
              <a:srgbClr val="D1E3E8"/>
            </a:solidFill>
            <a:prstDash val="solid"/>
          </a:ln>
          <a:effectLst>
            <a:outerShdw sx="100000" sy="100000" kx="0" ky="0" algn="bl" rotWithShape="0" blurRad="322580000" dist="161290000" dir="324000000000">
              <a:srgbClr val="0B2B3C">
                <a:alpha val="1000000000"/>
              </a:srgbClr>
            </a:outerShdw>
          </a:effectLst>
        </p:spPr>
      </p:sp>
      <p:sp>
        <p:nvSpPr>
          <p:cNvPr id="15" name="Text 13"/>
          <p:cNvSpPr/>
          <p:nvPr/>
        </p:nvSpPr>
        <p:spPr>
          <a:xfrm>
            <a:off x="3566160" y="3310128"/>
            <a:ext cx="2331720" cy="219456"/>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Huỳnh Tâm Trí</a:t>
            </a:r>
            <a:endParaRPr lang="en-US" sz="1150" dirty="0"/>
          </a:p>
        </p:txBody>
      </p:sp>
      <p:sp>
        <p:nvSpPr>
          <p:cNvPr id="16" name="Text 14"/>
          <p:cNvSpPr/>
          <p:nvPr/>
        </p:nvSpPr>
        <p:spPr>
          <a:xfrm>
            <a:off x="3566160" y="3547872"/>
            <a:ext cx="2331720" cy="182880"/>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MSSV 2045240315  ·  Thành viên</a:t>
            </a:r>
            <a:endParaRPr lang="en-US" sz="850" dirty="0"/>
          </a:p>
        </p:txBody>
      </p:sp>
      <p:sp>
        <p:nvSpPr>
          <p:cNvPr id="17" name="Shape 15"/>
          <p:cNvSpPr/>
          <p:nvPr/>
        </p:nvSpPr>
        <p:spPr>
          <a:xfrm>
            <a:off x="3566160" y="3794760"/>
            <a:ext cx="658368" cy="237744"/>
          </a:xfrm>
          <a:prstGeom prst="roundRect">
            <a:avLst>
              <a:gd name="adj" fmla="val 15385"/>
            </a:avLst>
          </a:prstGeom>
          <a:solidFill>
            <a:srgbClr val="E3F1F4"/>
          </a:solidFill>
          <a:ln w="9525">
            <a:solidFill>
              <a:srgbClr val="D1E3E8"/>
            </a:solidFill>
            <a:prstDash val="solid"/>
          </a:ln>
        </p:spPr>
      </p:sp>
      <p:sp>
        <p:nvSpPr>
          <p:cNvPr id="18" name="Text 16"/>
          <p:cNvSpPr/>
          <p:nvPr/>
        </p:nvSpPr>
        <p:spPr>
          <a:xfrm>
            <a:off x="3657600" y="3794760"/>
            <a:ext cx="475488" cy="237744"/>
          </a:xfrm>
          <a:prstGeom prst="rect">
            <a:avLst/>
          </a:prstGeom>
          <a:noFill/>
          <a:ln/>
        </p:spPr>
        <p:txBody>
          <a:bodyPr wrap="square" lIns="0" tIns="0" rIns="0" bIns="0" rtlCol="0" anchor="ctr"/>
          <a:lstStyle/>
          <a:p>
            <a:pPr algn="ctr" indent="0" marL="0">
              <a:buNone/>
            </a:pPr>
            <a:r>
              <a:rPr lang="en-US" sz="850" b="1" dirty="0">
                <a:solidFill>
                  <a:srgbClr val="065A82"/>
                </a:solidFill>
                <a:latin typeface="Segoe UI" pitchFamily="34" charset="0"/>
                <a:ea typeface="Segoe UI" pitchFamily="34" charset="-122"/>
                <a:cs typeface="Segoe UI" pitchFamily="34" charset="-120"/>
              </a:rPr>
              <a:t>50%</a:t>
            </a:r>
            <a:endParaRPr lang="en-US" sz="850" dirty="0"/>
          </a:p>
        </p:txBody>
      </p:sp>
      <p:sp>
        <p:nvSpPr>
          <p:cNvPr id="19" name="Text 17"/>
          <p:cNvSpPr/>
          <p:nvPr/>
        </p:nvSpPr>
        <p:spPr>
          <a:xfrm>
            <a:off x="4297680" y="3794760"/>
            <a:ext cx="1417320" cy="237744"/>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Đóng góp</a:t>
            </a:r>
            <a:endParaRPr lang="en-US" sz="850" dirty="0"/>
          </a:p>
        </p:txBody>
      </p:sp>
      <p:sp>
        <p:nvSpPr>
          <p:cNvPr id="20" name="Text 18"/>
          <p:cNvSpPr/>
          <p:nvPr/>
        </p:nvSpPr>
        <p:spPr>
          <a:xfrm>
            <a:off x="502920" y="4334256"/>
            <a:ext cx="5669280" cy="219456"/>
          </a:xfrm>
          <a:prstGeom prst="rect">
            <a:avLst/>
          </a:prstGeom>
          <a:noFill/>
          <a:ln/>
        </p:spPr>
        <p:txBody>
          <a:bodyPr wrap="square" lIns="0" tIns="0" rIns="0" bIns="0" rtlCol="0" anchor="ctr"/>
          <a:lstStyle/>
          <a:p>
            <a:pPr indent="0" marL="0">
              <a:buNone/>
            </a:pPr>
            <a:r>
              <a:rPr lang="en-US" sz="1000" dirty="0">
                <a:solidFill>
                  <a:srgbClr val="21295C"/>
                </a:solidFill>
                <a:latin typeface="Segoe UI Semibold" pitchFamily="34" charset="0"/>
                <a:ea typeface="Segoe UI Semibold" pitchFamily="34" charset="-122"/>
                <a:cs typeface="Segoe UI Semibold" pitchFamily="34" charset="-120"/>
              </a:rPr>
              <a:t>TP. Hồ Chí Minh, Năm 2026</a:t>
            </a:r>
            <a:endParaRPr lang="en-US" sz="1000" dirty="0"/>
          </a:p>
        </p:txBody>
      </p:sp>
      <p:sp>
        <p:nvSpPr>
          <p:cNvPr id="21" name="Shape 19"/>
          <p:cNvSpPr/>
          <p:nvPr/>
        </p:nvSpPr>
        <p:spPr>
          <a:xfrm>
            <a:off x="6446520" y="457200"/>
            <a:ext cx="2194560" cy="4224528"/>
          </a:xfrm>
          <a:prstGeom prst="roundRect">
            <a:avLst>
              <a:gd name="adj" fmla="val 2500"/>
            </a:avLst>
          </a:prstGeom>
          <a:solidFill>
            <a:srgbClr val="065A82"/>
          </a:solidFill>
          <a:ln w="9525">
            <a:solidFill>
              <a:srgbClr val="065A82"/>
            </a:solidFill>
            <a:prstDash val="solid"/>
          </a:ln>
          <a:effectLst>
            <a:outerShdw sx="100000" sy="100000" kx="0" ky="0" algn="bl" rotWithShape="0" blurRad="4096766000000" dist="2048383000000" dir="19440000000000000">
              <a:srgbClr val="0B2B3C">
                <a:alpha val="100000000000000"/>
              </a:srgbClr>
            </a:outerShdw>
          </a:effectLst>
        </p:spPr>
      </p:sp>
      <p:sp>
        <p:nvSpPr>
          <p:cNvPr id="22" name="Text 20"/>
          <p:cNvSpPr/>
          <p:nvPr/>
        </p:nvSpPr>
        <p:spPr>
          <a:xfrm>
            <a:off x="6693408" y="713232"/>
            <a:ext cx="1737360" cy="457200"/>
          </a:xfrm>
          <a:prstGeom prst="rect">
            <a:avLst/>
          </a:prstGeom>
          <a:noFill/>
          <a:ln/>
        </p:spPr>
        <p:txBody>
          <a:bodyPr wrap="square" lIns="0" tIns="0" rIns="0" bIns="0" rtlCol="0" anchor="t"/>
          <a:lstStyle/>
          <a:p>
            <a:pPr indent="0" marL="0">
              <a:lnSpc>
                <a:spcPct val="110000"/>
              </a:lnSpc>
              <a:buNone/>
            </a:pPr>
            <a:r>
              <a:rPr lang="en-US" sz="950" spc="140" kern="0" dirty="0">
                <a:solidFill>
                  <a:srgbClr val="9FE8DC"/>
                </a:solidFill>
                <a:latin typeface="Segoe UI Semibold" pitchFamily="34" charset="0"/>
                <a:ea typeface="Segoe UI Semibold" pitchFamily="34" charset="-122"/>
                <a:cs typeface="Segoe UI Semibold" pitchFamily="34" charset="-120"/>
              </a:rPr>
              <a:t>DỮ LIỆU</a:t>
            </a:r>
            <a:endParaRPr lang="en-US" sz="950" dirty="0"/>
          </a:p>
          <a:p>
            <a:pPr indent="0" marL="0">
              <a:lnSpc>
                <a:spcPct val="110000"/>
              </a:lnSpc>
              <a:buNone/>
            </a:pPr>
            <a:r>
              <a:rPr lang="en-US" sz="950" spc="140" kern="0" dirty="0">
                <a:solidFill>
                  <a:srgbClr val="9FE8DC"/>
                </a:solidFill>
                <a:latin typeface="Segoe UI Semibold" pitchFamily="34" charset="0"/>
                <a:ea typeface="Segoe UI Semibold" pitchFamily="34" charset="-122"/>
                <a:cs typeface="Segoe UI Semibold" pitchFamily="34" charset="-120"/>
              </a:rPr>
              <a:t>THỰC NGHIỆM</a:t>
            </a:r>
            <a:endParaRPr lang="en-US" sz="950" dirty="0"/>
          </a:p>
        </p:txBody>
      </p:sp>
      <p:sp>
        <p:nvSpPr>
          <p:cNvPr id="23" name="Text 21"/>
          <p:cNvSpPr/>
          <p:nvPr/>
        </p:nvSpPr>
        <p:spPr>
          <a:xfrm>
            <a:off x="6693408" y="1572768"/>
            <a:ext cx="1737360" cy="310896"/>
          </a:xfrm>
          <a:prstGeom prst="rect">
            <a:avLst/>
          </a:prstGeom>
          <a:noFill/>
          <a:ln/>
        </p:spPr>
        <p:txBody>
          <a:bodyPr wrap="square" lIns="0" tIns="0" rIns="0" bIns="0" rtlCol="0" anchor="ctr"/>
          <a:lstStyle/>
          <a:p>
            <a:pPr indent="0" marL="0">
              <a:buNone/>
            </a:pPr>
            <a:r>
              <a:rPr lang="en-US" sz="1900" dirty="0">
                <a:solidFill>
                  <a:srgbClr val="FFFFFF"/>
                </a:solidFill>
                <a:latin typeface="Segoe UI Semibold" pitchFamily="34" charset="0"/>
                <a:ea typeface="Segoe UI Semibold" pitchFamily="34" charset="-122"/>
                <a:cs typeface="Segoe UI Semibold" pitchFamily="34" charset="-120"/>
              </a:rPr>
              <a:t>3.929</a:t>
            </a:r>
            <a:endParaRPr lang="en-US" sz="1900" dirty="0"/>
          </a:p>
        </p:txBody>
      </p:sp>
      <p:sp>
        <p:nvSpPr>
          <p:cNvPr id="24" name="Text 22"/>
          <p:cNvSpPr/>
          <p:nvPr/>
        </p:nvSpPr>
        <p:spPr>
          <a:xfrm>
            <a:off x="6693408" y="1883664"/>
            <a:ext cx="1737360" cy="182880"/>
          </a:xfrm>
          <a:prstGeom prst="rect">
            <a:avLst/>
          </a:prstGeom>
          <a:noFill/>
          <a:ln/>
        </p:spPr>
        <p:txBody>
          <a:bodyPr wrap="square" lIns="0" tIns="0" rIns="0" bIns="0" rtlCol="0" anchor="ctr"/>
          <a:lstStyle/>
          <a:p>
            <a:pPr indent="0" marL="0">
              <a:buNone/>
            </a:pPr>
            <a:r>
              <a:rPr lang="en-US" sz="850" dirty="0">
                <a:solidFill>
                  <a:srgbClr val="CBE8EF"/>
                </a:solidFill>
                <a:latin typeface="Segoe UI" pitchFamily="34" charset="0"/>
                <a:ea typeface="Segoe UI" pitchFamily="34" charset="-122"/>
                <a:cs typeface="Segoe UI" pitchFamily="34" charset="-120"/>
              </a:rPr>
              <a:t>lát cắt MRI</a:t>
            </a:r>
            <a:endParaRPr lang="en-US" sz="850" dirty="0"/>
          </a:p>
        </p:txBody>
      </p:sp>
      <p:sp>
        <p:nvSpPr>
          <p:cNvPr id="25" name="Text 23"/>
          <p:cNvSpPr/>
          <p:nvPr/>
        </p:nvSpPr>
        <p:spPr>
          <a:xfrm>
            <a:off x="6693408" y="2286000"/>
            <a:ext cx="1737360" cy="310896"/>
          </a:xfrm>
          <a:prstGeom prst="rect">
            <a:avLst/>
          </a:prstGeom>
          <a:noFill/>
          <a:ln/>
        </p:spPr>
        <p:txBody>
          <a:bodyPr wrap="square" lIns="0" tIns="0" rIns="0" bIns="0" rtlCol="0" anchor="ctr"/>
          <a:lstStyle/>
          <a:p>
            <a:pPr indent="0" marL="0">
              <a:buNone/>
            </a:pPr>
            <a:r>
              <a:rPr lang="en-US" sz="1900" dirty="0">
                <a:solidFill>
                  <a:srgbClr val="FFFFFF"/>
                </a:solidFill>
                <a:latin typeface="Segoe UI Semibold" pitchFamily="34" charset="0"/>
                <a:ea typeface="Segoe UI Semibold" pitchFamily="34" charset="-122"/>
                <a:cs typeface="Segoe UI Semibold" pitchFamily="34" charset="-120"/>
              </a:rPr>
              <a:t>110</a:t>
            </a:r>
            <a:endParaRPr lang="en-US" sz="1900" dirty="0"/>
          </a:p>
        </p:txBody>
      </p:sp>
      <p:sp>
        <p:nvSpPr>
          <p:cNvPr id="26" name="Text 24"/>
          <p:cNvSpPr/>
          <p:nvPr/>
        </p:nvSpPr>
        <p:spPr>
          <a:xfrm>
            <a:off x="6693408" y="2596896"/>
            <a:ext cx="1737360" cy="182880"/>
          </a:xfrm>
          <a:prstGeom prst="rect">
            <a:avLst/>
          </a:prstGeom>
          <a:noFill/>
          <a:ln/>
        </p:spPr>
        <p:txBody>
          <a:bodyPr wrap="square" lIns="0" tIns="0" rIns="0" bIns="0" rtlCol="0" anchor="ctr"/>
          <a:lstStyle/>
          <a:p>
            <a:pPr indent="0" marL="0">
              <a:buNone/>
            </a:pPr>
            <a:r>
              <a:rPr lang="en-US" sz="850" dirty="0">
                <a:solidFill>
                  <a:srgbClr val="CBE8EF"/>
                </a:solidFill>
                <a:latin typeface="Segoe UI" pitchFamily="34" charset="0"/>
                <a:ea typeface="Segoe UI" pitchFamily="34" charset="-122"/>
                <a:cs typeface="Segoe UI" pitchFamily="34" charset="-120"/>
              </a:rPr>
              <a:t>bệnh nhân LGG</a:t>
            </a:r>
            <a:endParaRPr lang="en-US" sz="850" dirty="0"/>
          </a:p>
        </p:txBody>
      </p:sp>
      <p:sp>
        <p:nvSpPr>
          <p:cNvPr id="27" name="Text 25"/>
          <p:cNvSpPr/>
          <p:nvPr/>
        </p:nvSpPr>
        <p:spPr>
          <a:xfrm>
            <a:off x="6693408" y="2999232"/>
            <a:ext cx="1737360" cy="310896"/>
          </a:xfrm>
          <a:prstGeom prst="rect">
            <a:avLst/>
          </a:prstGeom>
          <a:noFill/>
          <a:ln/>
        </p:spPr>
        <p:txBody>
          <a:bodyPr wrap="square" lIns="0" tIns="0" rIns="0" bIns="0" rtlCol="0" anchor="ctr"/>
          <a:lstStyle/>
          <a:p>
            <a:pPr indent="0" marL="0">
              <a:buNone/>
            </a:pPr>
            <a:r>
              <a:rPr lang="en-US" sz="1900" dirty="0">
                <a:solidFill>
                  <a:srgbClr val="FFFFFF"/>
                </a:solidFill>
                <a:latin typeface="Segoe UI Semibold" pitchFamily="34" charset="0"/>
                <a:ea typeface="Segoe UI Semibold" pitchFamily="34" charset="-122"/>
                <a:cs typeface="Segoe UI Semibold" pitchFamily="34" charset="-120"/>
              </a:rPr>
              <a:t>1.373</a:t>
            </a:r>
            <a:endParaRPr lang="en-US" sz="1900" dirty="0"/>
          </a:p>
        </p:txBody>
      </p:sp>
      <p:sp>
        <p:nvSpPr>
          <p:cNvPr id="28" name="Text 26"/>
          <p:cNvSpPr/>
          <p:nvPr/>
        </p:nvSpPr>
        <p:spPr>
          <a:xfrm>
            <a:off x="6693408" y="3310128"/>
            <a:ext cx="1737360" cy="182880"/>
          </a:xfrm>
          <a:prstGeom prst="rect">
            <a:avLst/>
          </a:prstGeom>
          <a:noFill/>
          <a:ln/>
        </p:spPr>
        <p:txBody>
          <a:bodyPr wrap="square" lIns="0" tIns="0" rIns="0" bIns="0" rtlCol="0" anchor="ctr"/>
          <a:lstStyle/>
          <a:p>
            <a:pPr indent="0" marL="0">
              <a:buNone/>
            </a:pPr>
            <a:r>
              <a:rPr lang="en-US" sz="850" dirty="0">
                <a:solidFill>
                  <a:srgbClr val="CBE8EF"/>
                </a:solidFill>
                <a:latin typeface="Segoe UI" pitchFamily="34" charset="0"/>
                <a:ea typeface="Segoe UI" pitchFamily="34" charset="-122"/>
                <a:cs typeface="Segoe UI" pitchFamily="34" charset="-120"/>
              </a:rPr>
              <a:t>lát cắt có u</a:t>
            </a:r>
            <a:endParaRPr lang="en-US" sz="850" dirty="0"/>
          </a:p>
        </p:txBody>
      </p:sp>
      <p:sp>
        <p:nvSpPr>
          <p:cNvPr id="29" name="Text 27"/>
          <p:cNvSpPr/>
          <p:nvPr/>
        </p:nvSpPr>
        <p:spPr>
          <a:xfrm>
            <a:off x="6693408" y="3712464"/>
            <a:ext cx="1737360" cy="310896"/>
          </a:xfrm>
          <a:prstGeom prst="rect">
            <a:avLst/>
          </a:prstGeom>
          <a:noFill/>
          <a:ln/>
        </p:spPr>
        <p:txBody>
          <a:bodyPr wrap="square" lIns="0" tIns="0" rIns="0" bIns="0" rtlCol="0" anchor="ctr"/>
          <a:lstStyle/>
          <a:p>
            <a:pPr indent="0" marL="0">
              <a:buNone/>
            </a:pPr>
            <a:r>
              <a:rPr lang="en-US" sz="1900" dirty="0">
                <a:solidFill>
                  <a:srgbClr val="FFFFFF"/>
                </a:solidFill>
                <a:latin typeface="Segoe UI Semibold" pitchFamily="34" charset="0"/>
                <a:ea typeface="Segoe UI Semibold" pitchFamily="34" charset="-122"/>
                <a:cs typeface="Segoe UI Semibold" pitchFamily="34" charset="-120"/>
              </a:rPr>
              <a:t>256×256</a:t>
            </a:r>
            <a:endParaRPr lang="en-US" sz="1900" dirty="0"/>
          </a:p>
        </p:txBody>
      </p:sp>
      <p:sp>
        <p:nvSpPr>
          <p:cNvPr id="30" name="Text 28"/>
          <p:cNvSpPr/>
          <p:nvPr/>
        </p:nvSpPr>
        <p:spPr>
          <a:xfrm>
            <a:off x="6693408" y="4023360"/>
            <a:ext cx="1737360" cy="182880"/>
          </a:xfrm>
          <a:prstGeom prst="rect">
            <a:avLst/>
          </a:prstGeom>
          <a:noFill/>
          <a:ln/>
        </p:spPr>
        <p:txBody>
          <a:bodyPr wrap="square" lIns="0" tIns="0" rIns="0" bIns="0" rtlCol="0" anchor="ctr"/>
          <a:lstStyle/>
          <a:p>
            <a:pPr indent="0" marL="0">
              <a:buNone/>
            </a:pPr>
            <a:r>
              <a:rPr lang="en-US" sz="850" dirty="0">
                <a:solidFill>
                  <a:srgbClr val="CBE8EF"/>
                </a:solidFill>
                <a:latin typeface="Segoe UI" pitchFamily="34" charset="0"/>
                <a:ea typeface="Segoe UI" pitchFamily="34" charset="-122"/>
                <a:cs typeface="Segoe UI" pitchFamily="34" charset="-120"/>
              </a:rPr>
              <a:t>pixel, FLAIR / T1</a:t>
            </a:r>
            <a:endParaRPr lang="en-US" sz="8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00"/>
                                        <p:tgtEl>
                                          <p:spTgt spid="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00"/>
                                        <p:tgtEl>
                                          <p:spTgt spid="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fade">
                                      <p:cBhvr>
                                        <p:cTn id="109" dur="400"/>
                                        <p:tgtEl>
                                          <p:spTgt spid="23"/>
                                        </p:tgtEl>
                                      </p:cBhvr>
                                    </p:animEffect>
                                  </p:childTnLst>
                                </p:cTn>
                              </p:par>
                              <p:par>
                                <p:cTn id="110" presetID="10" presetClass="entr" presetSubtype="0" fill="hold" grpId="0" nodeType="withEffect">
                                  <p:stCondLst>
                                    <p:cond delay="28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400"/>
                                        <p:tgtEl>
                                          <p:spTgt spid="24"/>
                                        </p:tgtEl>
                                      </p:cBhvr>
                                    </p:animEffect>
                                  </p:childTnLst>
                                </p:cTn>
                              </p:par>
                              <p:par>
                                <p:cTn id="113" presetID="10" presetClass="entr" presetSubtype="0" fill="hold" grpId="0" nodeType="withEffect">
                                  <p:stCondLst>
                                    <p:cond delay="560"/>
                                  </p:stCondLst>
                                  <p:childTnLst>
                                    <p:set>
                                      <p:cBhvr>
                                        <p:cTn id="114" dur="1" fill="hold">
                                          <p:stCondLst>
                                            <p:cond delay="0"/>
                                          </p:stCondLst>
                                        </p:cTn>
                                        <p:tgtEl>
                                          <p:spTgt spid="6"/>
                                        </p:tgtEl>
                                        <p:attrNameLst>
                                          <p:attrName>style.visibility</p:attrName>
                                        </p:attrNameLst>
                                      </p:cBhvr>
                                      <p:to>
                                        <p:strVal val="visible"/>
                                      </p:to>
                                    </p:set>
                                    <p:animEffect transition="in" filter="fade">
                                      <p:cBhvr>
                                        <p:cTn id="115" dur="400"/>
                                        <p:tgtEl>
                                          <p:spTgt spid="6"/>
                                        </p:tgtEl>
                                      </p:cBhvr>
                                    </p:animEffect>
                                  </p:childTnLst>
                                </p:cTn>
                              </p:par>
                              <p:par>
                                <p:cTn id="116" presetID="10" presetClass="entr" presetSubtype="0" fill="hold" grpId="0" nodeType="withEffect">
                                  <p:stCondLst>
                                    <p:cond delay="56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400"/>
                                        <p:tgtEl>
                                          <p:spTgt spid="25"/>
                                        </p:tgtEl>
                                      </p:cBhvr>
                                    </p:animEffect>
                                  </p:childTnLst>
                                </p:cTn>
                              </p:par>
                              <p:par>
                                <p:cTn id="119" presetID="10" presetClass="entr" presetSubtype="0" fill="hold" grpId="0" nodeType="withEffect">
                                  <p:stCondLst>
                                    <p:cond delay="840"/>
                                  </p:stCondLst>
                                  <p:childTnLst>
                                    <p:set>
                                      <p:cBhvr>
                                        <p:cTn id="120" dur="1" fill="hold">
                                          <p:stCondLst>
                                            <p:cond delay="0"/>
                                          </p:stCondLst>
                                        </p:cTn>
                                        <p:tgtEl>
                                          <p:spTgt spid="7"/>
                                        </p:tgtEl>
                                        <p:attrNameLst>
                                          <p:attrName>style.visibility</p:attrName>
                                        </p:attrNameLst>
                                      </p:cBhvr>
                                      <p:to>
                                        <p:strVal val="visible"/>
                                      </p:to>
                                    </p:set>
                                    <p:animEffect transition="in" filter="fade">
                                      <p:cBhvr>
                                        <p:cTn id="121" dur="400"/>
                                        <p:tgtEl>
                                          <p:spTgt spid="7"/>
                                        </p:tgtEl>
                                      </p:cBhvr>
                                    </p:animEffect>
                                  </p:childTnLst>
                                </p:cTn>
                              </p:par>
                              <p:par>
                                <p:cTn id="122" presetID="10" presetClass="entr" presetSubtype="0" fill="hold" grpId="0" nodeType="withEffect">
                                  <p:stCondLst>
                                    <p:cond delay="840"/>
                                  </p:stCondLst>
                                  <p:childTnLst>
                                    <p:set>
                                      <p:cBhvr>
                                        <p:cTn id="123" dur="1" fill="hold">
                                          <p:stCondLst>
                                            <p:cond delay="0"/>
                                          </p:stCondLst>
                                        </p:cTn>
                                        <p:tgtEl>
                                          <p:spTgt spid="26"/>
                                        </p:tgtEl>
                                        <p:attrNameLst>
                                          <p:attrName>style.visibility</p:attrName>
                                        </p:attrNameLst>
                                      </p:cBhvr>
                                      <p:to>
                                        <p:strVal val="visible"/>
                                      </p:to>
                                    </p:set>
                                    <p:animEffect transition="in" filter="fade">
                                      <p:cBhvr>
                                        <p:cTn id="124" dur="400"/>
                                        <p:tgtEl>
                                          <p:spTgt spid="26"/>
                                        </p:tgtEl>
                                      </p:cBhvr>
                                    </p:animEffect>
                                  </p:childTnLst>
                                </p:cTn>
                              </p:par>
                              <p:par>
                                <p:cTn id="125" presetID="10" presetClass="entr" presetSubtype="0" fill="hold" grpId="0" nodeType="withEffect">
                                  <p:stCondLst>
                                    <p:cond delay="1120"/>
                                  </p:stCondLst>
                                  <p:childTnLst>
                                    <p:set>
                                      <p:cBhvr>
                                        <p:cTn id="126" dur="1" fill="hold">
                                          <p:stCondLst>
                                            <p:cond delay="0"/>
                                          </p:stCondLst>
                                        </p:cTn>
                                        <p:tgtEl>
                                          <p:spTgt spid="8"/>
                                        </p:tgtEl>
                                        <p:attrNameLst>
                                          <p:attrName>style.visibility</p:attrName>
                                        </p:attrNameLst>
                                      </p:cBhvr>
                                      <p:to>
                                        <p:strVal val="visible"/>
                                      </p:to>
                                    </p:set>
                                    <p:animEffect transition="in" filter="fade">
                                      <p:cBhvr>
                                        <p:cTn id="127" dur="400"/>
                                        <p:tgtEl>
                                          <p:spTgt spid="8"/>
                                        </p:tgtEl>
                                      </p:cBhvr>
                                    </p:animEffect>
                                  </p:childTnLst>
                                </p:cTn>
                              </p:par>
                              <p:par>
                                <p:cTn id="128" presetID="10" presetClass="entr" presetSubtype="0" fill="hold" grpId="0" nodeType="withEffect">
                                  <p:stCondLst>
                                    <p:cond delay="1120"/>
                                  </p:stCondLst>
                                  <p:childTnLst>
                                    <p:set>
                                      <p:cBhvr>
                                        <p:cTn id="129" dur="1" fill="hold">
                                          <p:stCondLst>
                                            <p:cond delay="0"/>
                                          </p:stCondLst>
                                        </p:cTn>
                                        <p:tgtEl>
                                          <p:spTgt spid="9"/>
                                        </p:tgtEl>
                                        <p:attrNameLst>
                                          <p:attrName>style.visibility</p:attrName>
                                        </p:attrNameLst>
                                      </p:cBhvr>
                                      <p:to>
                                        <p:strVal val="visible"/>
                                      </p:to>
                                    </p:set>
                                    <p:animEffect transition="in" filter="fade">
                                      <p:cBhvr>
                                        <p:cTn id="130" dur="400"/>
                                        <p:tgtEl>
                                          <p:spTgt spid="9"/>
                                        </p:tgtEl>
                                      </p:cBhvr>
                                    </p:animEffect>
                                  </p:childTnLst>
                                </p:cTn>
                              </p:par>
                              <p:par>
                                <p:cTn id="131" presetID="10" presetClass="entr" presetSubtype="0" fill="hold" grpId="0" nodeType="withEffect">
                                  <p:stCondLst>
                                    <p:cond delay="112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00"/>
                                        <p:tgtEl>
                                          <p:spTgt spid="14"/>
                                        </p:tgtEl>
                                      </p:cBhvr>
                                    </p:animEffect>
                                  </p:childTnLst>
                                </p:cTn>
                              </p:par>
                              <p:par>
                                <p:cTn id="134" presetID="10" presetClass="entr" presetSubtype="0" fill="hold" grpId="0" nodeType="withEffect">
                                  <p:stCondLst>
                                    <p:cond delay="112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00"/>
                                        <p:tgtEl>
                                          <p:spTgt spid="15"/>
                                        </p:tgtEl>
                                      </p:cBhvr>
                                    </p:animEffect>
                                  </p:childTnLst>
                                </p:cTn>
                              </p:par>
                              <p:par>
                                <p:cTn id="137" presetID="10" presetClass="entr" presetSubtype="0" fill="hold" grpId="0" nodeType="withEffect">
                                  <p:stCondLst>
                                    <p:cond delay="1120"/>
                                  </p:stCondLst>
                                  <p:childTnLst>
                                    <p:set>
                                      <p:cBhvr>
                                        <p:cTn id="138" dur="1" fill="hold">
                                          <p:stCondLst>
                                            <p:cond delay="0"/>
                                          </p:stCondLst>
                                        </p:cTn>
                                        <p:tgtEl>
                                          <p:spTgt spid="27"/>
                                        </p:tgtEl>
                                        <p:attrNameLst>
                                          <p:attrName>style.visibility</p:attrName>
                                        </p:attrNameLst>
                                      </p:cBhvr>
                                      <p:to>
                                        <p:strVal val="visible"/>
                                      </p:to>
                                    </p:set>
                                    <p:animEffect transition="in" filter="fade">
                                      <p:cBhvr>
                                        <p:cTn id="139" dur="400"/>
                                        <p:tgtEl>
                                          <p:spTgt spid="27"/>
                                        </p:tgtEl>
                                      </p:cBhvr>
                                    </p:animEffect>
                                  </p:childTnLst>
                                </p:cTn>
                              </p:par>
                              <p:par>
                                <p:cTn id="140" presetID="10" presetClass="entr" presetSubtype="0" fill="hold" grpId="0" nodeType="withEffect">
                                  <p:stCondLst>
                                    <p:cond delay="1120"/>
                                  </p:stCondLst>
                                  <p:childTnLst>
                                    <p:set>
                                      <p:cBhvr>
                                        <p:cTn id="141" dur="1" fill="hold">
                                          <p:stCondLst>
                                            <p:cond delay="0"/>
                                          </p:stCondLst>
                                        </p:cTn>
                                        <p:tgtEl>
                                          <p:spTgt spid="28"/>
                                        </p:tgtEl>
                                        <p:attrNameLst>
                                          <p:attrName>style.visibility</p:attrName>
                                        </p:attrNameLst>
                                      </p:cBhvr>
                                      <p:to>
                                        <p:strVal val="visible"/>
                                      </p:to>
                                    </p:set>
                                    <p:animEffect transition="in" filter="fade">
                                      <p:cBhvr>
                                        <p:cTn id="142" dur="400"/>
                                        <p:tgtEl>
                                          <p:spTgt spid="28"/>
                                        </p:tgtEl>
                                      </p:cBhvr>
                                    </p:animEffect>
                                  </p:childTnLst>
                                </p:cTn>
                              </p:par>
                              <p:par>
                                <p:cTn id="143" presetID="10" presetClass="entr" presetSubtype="0" fill="hold" grpId="0" nodeType="withEffect">
                                  <p:stCondLst>
                                    <p:cond delay="1400"/>
                                  </p:stCondLst>
                                  <p:childTnLst>
                                    <p:set>
                                      <p:cBhvr>
                                        <p:cTn id="144" dur="1" fill="hold">
                                          <p:stCondLst>
                                            <p:cond delay="0"/>
                                          </p:stCondLst>
                                        </p:cTn>
                                        <p:tgtEl>
                                          <p:spTgt spid="10"/>
                                        </p:tgtEl>
                                        <p:attrNameLst>
                                          <p:attrName>style.visibility</p:attrName>
                                        </p:attrNameLst>
                                      </p:cBhvr>
                                      <p:to>
                                        <p:strVal val="visible"/>
                                      </p:to>
                                    </p:set>
                                    <p:animEffect transition="in" filter="fade">
                                      <p:cBhvr>
                                        <p:cTn id="145" dur="400"/>
                                        <p:tgtEl>
                                          <p:spTgt spid="10"/>
                                        </p:tgtEl>
                                      </p:cBhvr>
                                    </p:animEffect>
                                  </p:childTnLst>
                                </p:cTn>
                              </p:par>
                              <p:par>
                                <p:cTn id="146" presetID="10" presetClass="entr" presetSubtype="0" fill="hold" grpId="0" nodeType="withEffect">
                                  <p:stCondLst>
                                    <p:cond delay="1400"/>
                                  </p:stCondLst>
                                  <p:childTnLst>
                                    <p:set>
                                      <p:cBhvr>
                                        <p:cTn id="147" dur="1" fill="hold">
                                          <p:stCondLst>
                                            <p:cond delay="0"/>
                                          </p:stCondLst>
                                        </p:cTn>
                                        <p:tgtEl>
                                          <p:spTgt spid="11"/>
                                        </p:tgtEl>
                                        <p:attrNameLst>
                                          <p:attrName>style.visibility</p:attrName>
                                        </p:attrNameLst>
                                      </p:cBhvr>
                                      <p:to>
                                        <p:strVal val="visible"/>
                                      </p:to>
                                    </p:set>
                                    <p:animEffect transition="in" filter="fade">
                                      <p:cBhvr>
                                        <p:cTn id="148" dur="400"/>
                                        <p:tgtEl>
                                          <p:spTgt spid="11"/>
                                        </p:tgtEl>
                                      </p:cBhvr>
                                    </p:animEffect>
                                  </p:childTnLst>
                                </p:cTn>
                              </p:par>
                              <p:par>
                                <p:cTn id="149" presetID="10" presetClass="entr" presetSubtype="0" fill="hold" grpId="0" nodeType="withEffect">
                                  <p:stCondLst>
                                    <p:cond delay="1400"/>
                                  </p:stCondLst>
                                  <p:childTnLst>
                                    <p:set>
                                      <p:cBhvr>
                                        <p:cTn id="150" dur="1" fill="hold">
                                          <p:stCondLst>
                                            <p:cond delay="0"/>
                                          </p:stCondLst>
                                        </p:cTn>
                                        <p:tgtEl>
                                          <p:spTgt spid="12"/>
                                        </p:tgtEl>
                                        <p:attrNameLst>
                                          <p:attrName>style.visibility</p:attrName>
                                        </p:attrNameLst>
                                      </p:cBhvr>
                                      <p:to>
                                        <p:strVal val="visible"/>
                                      </p:to>
                                    </p:set>
                                    <p:animEffect transition="in" filter="fade">
                                      <p:cBhvr>
                                        <p:cTn id="151" dur="400"/>
                                        <p:tgtEl>
                                          <p:spTgt spid="12"/>
                                        </p:tgtEl>
                                      </p:cBhvr>
                                    </p:animEffect>
                                  </p:childTnLst>
                                </p:cTn>
                              </p:par>
                              <p:par>
                                <p:cTn id="152" presetID="10" presetClass="entr" presetSubtype="0" fill="hold" grpId="0" nodeType="withEffect">
                                  <p:stCondLst>
                                    <p:cond delay="1400"/>
                                  </p:stCondLst>
                                  <p:childTnLst>
                                    <p:set>
                                      <p:cBhvr>
                                        <p:cTn id="153" dur="1" fill="hold">
                                          <p:stCondLst>
                                            <p:cond delay="0"/>
                                          </p:stCondLst>
                                        </p:cTn>
                                        <p:tgtEl>
                                          <p:spTgt spid="13"/>
                                        </p:tgtEl>
                                        <p:attrNameLst>
                                          <p:attrName>style.visibility</p:attrName>
                                        </p:attrNameLst>
                                      </p:cBhvr>
                                      <p:to>
                                        <p:strVal val="visible"/>
                                      </p:to>
                                    </p:set>
                                    <p:animEffect transition="in" filter="fade">
                                      <p:cBhvr>
                                        <p:cTn id="154" dur="400"/>
                                        <p:tgtEl>
                                          <p:spTgt spid="13"/>
                                        </p:tgtEl>
                                      </p:cBhvr>
                                    </p:animEffect>
                                  </p:childTnLst>
                                </p:cTn>
                              </p:par>
                              <p:par>
                                <p:cTn id="155" presetID="10" presetClass="entr" presetSubtype="0" fill="hold" grpId="0" nodeType="withEffect">
                                  <p:stCondLst>
                                    <p:cond delay="1400"/>
                                  </p:stCondLst>
                                  <p:childTnLst>
                                    <p:set>
                                      <p:cBhvr>
                                        <p:cTn id="156" dur="1" fill="hold">
                                          <p:stCondLst>
                                            <p:cond delay="0"/>
                                          </p:stCondLst>
                                        </p:cTn>
                                        <p:tgtEl>
                                          <p:spTgt spid="16"/>
                                        </p:tgtEl>
                                        <p:attrNameLst>
                                          <p:attrName>style.visibility</p:attrName>
                                        </p:attrNameLst>
                                      </p:cBhvr>
                                      <p:to>
                                        <p:strVal val="visible"/>
                                      </p:to>
                                    </p:set>
                                    <p:animEffect transition="in" filter="fade">
                                      <p:cBhvr>
                                        <p:cTn id="157" dur="400"/>
                                        <p:tgtEl>
                                          <p:spTgt spid="16"/>
                                        </p:tgtEl>
                                      </p:cBhvr>
                                    </p:animEffect>
                                  </p:childTnLst>
                                </p:cTn>
                              </p:par>
                              <p:par>
                                <p:cTn id="158" presetID="10" presetClass="entr" presetSubtype="0" fill="hold" grpId="0" nodeType="withEffect">
                                  <p:stCondLst>
                                    <p:cond delay="1400"/>
                                  </p:stCondLst>
                                  <p:childTnLst>
                                    <p:set>
                                      <p:cBhvr>
                                        <p:cTn id="159" dur="1" fill="hold">
                                          <p:stCondLst>
                                            <p:cond delay="0"/>
                                          </p:stCondLst>
                                        </p:cTn>
                                        <p:tgtEl>
                                          <p:spTgt spid="17"/>
                                        </p:tgtEl>
                                        <p:attrNameLst>
                                          <p:attrName>style.visibility</p:attrName>
                                        </p:attrNameLst>
                                      </p:cBhvr>
                                      <p:to>
                                        <p:strVal val="visible"/>
                                      </p:to>
                                    </p:set>
                                    <p:animEffect transition="in" filter="fade">
                                      <p:cBhvr>
                                        <p:cTn id="160" dur="400"/>
                                        <p:tgtEl>
                                          <p:spTgt spid="17"/>
                                        </p:tgtEl>
                                      </p:cBhvr>
                                    </p:animEffect>
                                  </p:childTnLst>
                                </p:cTn>
                              </p:par>
                              <p:par>
                                <p:cTn id="161" presetID="10" presetClass="entr" presetSubtype="0" fill="hold" grpId="0" nodeType="withEffect">
                                  <p:stCondLst>
                                    <p:cond delay="1400"/>
                                  </p:stCondLst>
                                  <p:childTnLst>
                                    <p:set>
                                      <p:cBhvr>
                                        <p:cTn id="162" dur="1" fill="hold">
                                          <p:stCondLst>
                                            <p:cond delay="0"/>
                                          </p:stCondLst>
                                        </p:cTn>
                                        <p:tgtEl>
                                          <p:spTgt spid="18"/>
                                        </p:tgtEl>
                                        <p:attrNameLst>
                                          <p:attrName>style.visibility</p:attrName>
                                        </p:attrNameLst>
                                      </p:cBhvr>
                                      <p:to>
                                        <p:strVal val="visible"/>
                                      </p:to>
                                    </p:set>
                                    <p:animEffect transition="in" filter="fade">
                                      <p:cBhvr>
                                        <p:cTn id="163" dur="400"/>
                                        <p:tgtEl>
                                          <p:spTgt spid="18"/>
                                        </p:tgtEl>
                                      </p:cBhvr>
                                    </p:animEffect>
                                  </p:childTnLst>
                                </p:cTn>
                              </p:par>
                              <p:par>
                                <p:cTn id="164" presetID="10" presetClass="entr" presetSubtype="0" fill="hold" grpId="0" nodeType="withEffect">
                                  <p:stCondLst>
                                    <p:cond delay="1400"/>
                                  </p:stCondLst>
                                  <p:childTnLst>
                                    <p:set>
                                      <p:cBhvr>
                                        <p:cTn id="165" dur="1" fill="hold">
                                          <p:stCondLst>
                                            <p:cond delay="0"/>
                                          </p:stCondLst>
                                        </p:cTn>
                                        <p:tgtEl>
                                          <p:spTgt spid="19"/>
                                        </p:tgtEl>
                                        <p:attrNameLst>
                                          <p:attrName>style.visibility</p:attrName>
                                        </p:attrNameLst>
                                      </p:cBhvr>
                                      <p:to>
                                        <p:strVal val="visible"/>
                                      </p:to>
                                    </p:set>
                                    <p:animEffect transition="in" filter="fade">
                                      <p:cBhvr>
                                        <p:cTn id="166" dur="400"/>
                                        <p:tgtEl>
                                          <p:spTgt spid="19"/>
                                        </p:tgtEl>
                                      </p:cBhvr>
                                    </p:animEffect>
                                  </p:childTnLst>
                                </p:cTn>
                              </p:par>
                              <p:par>
                                <p:cTn id="167" presetID="10" presetClass="entr" presetSubtype="0" fill="hold" grpId="0" nodeType="withEffect">
                                  <p:stCondLst>
                                    <p:cond delay="1400"/>
                                  </p:stCondLst>
                                  <p:childTnLst>
                                    <p:set>
                                      <p:cBhvr>
                                        <p:cTn id="168" dur="1" fill="hold">
                                          <p:stCondLst>
                                            <p:cond delay="0"/>
                                          </p:stCondLst>
                                        </p:cTn>
                                        <p:tgtEl>
                                          <p:spTgt spid="29"/>
                                        </p:tgtEl>
                                        <p:attrNameLst>
                                          <p:attrName>style.visibility</p:attrName>
                                        </p:attrNameLst>
                                      </p:cBhvr>
                                      <p:to>
                                        <p:strVal val="visible"/>
                                      </p:to>
                                    </p:set>
                                    <p:animEffect transition="in" filter="fade">
                                      <p:cBhvr>
                                        <p:cTn id="169"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01  ·  ĐẶT VẤN ĐỀ</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Vì sao cần phân đoạn khối u não tự động?</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02 / 20</a:t>
            </a:r>
            <a:endParaRPr lang="en-US" sz="800" dirty="0"/>
          </a:p>
        </p:txBody>
      </p:sp>
      <p:sp>
        <p:nvSpPr>
          <p:cNvPr id="6" name="Text 4"/>
          <p:cNvSpPr/>
          <p:nvPr/>
        </p:nvSpPr>
        <p:spPr>
          <a:xfrm>
            <a:off x="502920" y="1280160"/>
            <a:ext cx="3749040" cy="1051560"/>
          </a:xfrm>
          <a:prstGeom prst="rect">
            <a:avLst/>
          </a:prstGeom>
          <a:noFill/>
          <a:ln/>
        </p:spPr>
        <p:txBody>
          <a:bodyPr wrap="square" lIns="0" tIns="0" rIns="0" bIns="0" rtlCol="0" anchor="t"/>
          <a:lstStyle/>
          <a:p>
            <a:pPr indent="0" marL="0">
              <a:lnSpc>
                <a:spcPct val="125000"/>
              </a:lnSpc>
              <a:buNone/>
            </a:pPr>
            <a:r>
              <a:rPr lang="en-US" sz="1100" dirty="0">
                <a:solidFill>
                  <a:srgbClr val="1E293B"/>
                </a:solidFill>
                <a:latin typeface="Segoe UI" pitchFamily="34" charset="0"/>
                <a:ea typeface="Segoe UI" pitchFamily="34" charset="-122"/>
                <a:cs typeface="Segoe UI" pitchFamily="34" charset="-120"/>
              </a:rPr>
              <a:t>U thần kinh đệm (Glioma) có tính xâm lấn cao. Xác định chính xác vị trí và thể tích khối u là đầu vào bắt buộc cho lập phác đồ xạ trị, phẫu thuật và theo dõi tiến triển bệnh.</a:t>
            </a:r>
            <a:endParaRPr lang="en-US" sz="1100" dirty="0"/>
          </a:p>
        </p:txBody>
      </p:sp>
      <p:sp>
        <p:nvSpPr>
          <p:cNvPr id="7" name="Shape 5"/>
          <p:cNvSpPr/>
          <p:nvPr/>
        </p:nvSpPr>
        <p:spPr>
          <a:xfrm>
            <a:off x="502920" y="2395728"/>
            <a:ext cx="3749040" cy="932688"/>
          </a:xfrm>
          <a:prstGeom prst="roundRect">
            <a:avLst>
              <a:gd name="adj" fmla="val 5882"/>
            </a:avLst>
          </a:prstGeom>
          <a:solidFill>
            <a:srgbClr val="FFFFFF"/>
          </a:solidFill>
          <a:ln w="9525">
            <a:solidFill>
              <a:srgbClr val="D1E3E8"/>
            </a:solidFill>
            <a:prstDash val="solid"/>
          </a:ln>
          <a:effectLst>
            <a:outerShdw sx="100000" sy="100000" kx="0" ky="0" algn="bl" rotWithShape="0" blurRad="52028928200000000" dist="26014464100000000" dir="1.1664e+21">
              <a:srgbClr val="0B2B3C">
                <a:alpha val="10000000000000000000"/>
              </a:srgbClr>
            </a:outerShdw>
          </a:effectLst>
        </p:spPr>
      </p:sp>
      <p:sp>
        <p:nvSpPr>
          <p:cNvPr id="8" name="Text 6"/>
          <p:cNvSpPr/>
          <p:nvPr/>
        </p:nvSpPr>
        <p:spPr>
          <a:xfrm>
            <a:off x="704088" y="2523744"/>
            <a:ext cx="3291840" cy="201168"/>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Khoanh vùng thủ công</a:t>
            </a:r>
            <a:endParaRPr lang="en-US" sz="1050" dirty="0"/>
          </a:p>
        </p:txBody>
      </p:sp>
      <p:sp>
        <p:nvSpPr>
          <p:cNvPr id="9" name="Text 7"/>
          <p:cNvSpPr/>
          <p:nvPr/>
        </p:nvSpPr>
        <p:spPr>
          <a:xfrm>
            <a:off x="704088" y="2761488"/>
            <a:ext cx="3346704" cy="475488"/>
          </a:xfrm>
          <a:prstGeom prst="rect">
            <a:avLst/>
          </a:prstGeom>
          <a:noFill/>
          <a:ln/>
        </p:spPr>
        <p:txBody>
          <a:bodyPr wrap="square" lIns="0" tIns="0" rIns="0" bIns="0" rtlCol="0" anchor="t"/>
          <a:lstStyle/>
          <a:p>
            <a:pPr indent="0" marL="0">
              <a:lnSpc>
                <a:spcPct val="115000"/>
              </a:lnSpc>
              <a:buNone/>
            </a:pPr>
            <a:r>
              <a:rPr lang="en-US" sz="950" dirty="0">
                <a:solidFill>
                  <a:srgbClr val="5F7186"/>
                </a:solidFill>
                <a:latin typeface="Segoe UI" pitchFamily="34" charset="0"/>
                <a:ea typeface="Segoe UI" pitchFamily="34" charset="-122"/>
                <a:cs typeface="Segoe UI" pitchFamily="34" charset="-120"/>
              </a:rPr>
              <a:t>Hàng trăm lát cắt mỗi ca chụp, tốn thời gian và phụ thuộc chủ quan bác sĩ đọc phim.</a:t>
            </a:r>
            <a:endParaRPr lang="en-US" sz="950" dirty="0"/>
          </a:p>
        </p:txBody>
      </p:sp>
      <p:sp>
        <p:nvSpPr>
          <p:cNvPr id="10" name="Shape 8"/>
          <p:cNvSpPr/>
          <p:nvPr/>
        </p:nvSpPr>
        <p:spPr>
          <a:xfrm>
            <a:off x="502920" y="3456432"/>
            <a:ext cx="3749040" cy="932688"/>
          </a:xfrm>
          <a:prstGeom prst="roundRect">
            <a:avLst>
              <a:gd name="adj" fmla="val 5882"/>
            </a:avLst>
          </a:prstGeom>
          <a:solidFill>
            <a:srgbClr val="065A82"/>
          </a:solidFill>
          <a:ln w="9525">
            <a:solidFill>
              <a:srgbClr val="065A82"/>
            </a:solidFill>
            <a:prstDash val="solid"/>
          </a:ln>
          <a:effectLst>
            <a:outerShdw sx="100000" sy="100000" kx="0" ky="0" algn="bl" rotWithShape="0" blurRad="660767388140000000000" dist="330383694070000000000" dir="6.9984e+25">
              <a:srgbClr val="0B2B3C">
                <a:alpha val="1e+24"/>
              </a:srgbClr>
            </a:outerShdw>
          </a:effectLst>
        </p:spPr>
      </p:sp>
      <p:sp>
        <p:nvSpPr>
          <p:cNvPr id="11" name="Text 9"/>
          <p:cNvSpPr/>
          <p:nvPr/>
        </p:nvSpPr>
        <p:spPr>
          <a:xfrm>
            <a:off x="704088" y="3584448"/>
            <a:ext cx="3291840" cy="201168"/>
          </a:xfrm>
          <a:prstGeom prst="rect">
            <a:avLst/>
          </a:prstGeom>
          <a:noFill/>
          <a:ln/>
        </p:spPr>
        <p:txBody>
          <a:bodyPr wrap="square" lIns="0" tIns="0" rIns="0" bIns="0" rtlCol="0" anchor="ctr"/>
          <a:lstStyle/>
          <a:p>
            <a:pPr indent="0" marL="0">
              <a:buNone/>
            </a:pPr>
            <a:r>
              <a:rPr lang="en-US" sz="1050" dirty="0">
                <a:solidFill>
                  <a:srgbClr val="9FE8DC"/>
                </a:solidFill>
                <a:latin typeface="Segoe UI Semibold" pitchFamily="34" charset="0"/>
                <a:ea typeface="Segoe UI Semibold" pitchFamily="34" charset="-122"/>
                <a:cs typeface="Segoe UI Semibold" pitchFamily="34" charset="-120"/>
              </a:rPr>
              <a:t>Định hướng của đồ án</a:t>
            </a:r>
            <a:endParaRPr lang="en-US" sz="1050" dirty="0"/>
          </a:p>
        </p:txBody>
      </p:sp>
      <p:sp>
        <p:nvSpPr>
          <p:cNvPr id="12" name="Text 10"/>
          <p:cNvSpPr/>
          <p:nvPr/>
        </p:nvSpPr>
        <p:spPr>
          <a:xfrm>
            <a:off x="704088" y="3822192"/>
            <a:ext cx="3346704" cy="475488"/>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Segoe UI" pitchFamily="34" charset="0"/>
                <a:ea typeface="Segoe UI" pitchFamily="34" charset="-122"/>
                <a:cs typeface="Segoe UI" pitchFamily="34" charset="-120"/>
              </a:rPr>
              <a:t>Pipeline xử lý ảnh số chạy trên CPU, cho kết quả tức thời và có thể giải thích từng bước.</a:t>
            </a:r>
            <a:endParaRPr lang="en-US" sz="950" dirty="0"/>
          </a:p>
        </p:txBody>
      </p:sp>
      <p:sp>
        <p:nvSpPr>
          <p:cNvPr id="13" name="Text 11"/>
          <p:cNvSpPr/>
          <p:nvPr/>
        </p:nvSpPr>
        <p:spPr>
          <a:xfrm>
            <a:off x="4526280" y="1261872"/>
            <a:ext cx="4114800" cy="201168"/>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03 THÁCH THỨC LỚN TRÊN ẢNH MRI</a:t>
            </a:r>
            <a:endParaRPr lang="en-US" sz="850" dirty="0"/>
          </a:p>
        </p:txBody>
      </p:sp>
      <p:sp>
        <p:nvSpPr>
          <p:cNvPr id="14" name="Shape 12"/>
          <p:cNvSpPr/>
          <p:nvPr/>
        </p:nvSpPr>
        <p:spPr>
          <a:xfrm>
            <a:off x="4526280" y="1517904"/>
            <a:ext cx="4114800" cy="969264"/>
          </a:xfrm>
          <a:prstGeom prst="roundRect">
            <a:avLst>
              <a:gd name="adj" fmla="val 5660"/>
            </a:avLst>
          </a:prstGeom>
          <a:solidFill>
            <a:srgbClr val="FFFFFF"/>
          </a:solidFill>
          <a:ln w="9525">
            <a:solidFill>
              <a:srgbClr val="D1E3E8"/>
            </a:solidFill>
            <a:prstDash val="solid"/>
          </a:ln>
          <a:effectLst>
            <a:outerShdw sx="100000" sy="100000" kx="0" ky="0" algn="bl" rotWithShape="0" blurRad="8.391745829378e+24" dist="4.195872914689e+24" dir="4.19904e+30">
              <a:srgbClr val="0B2B3C">
                <a:alpha val="1e+29"/>
              </a:srgbClr>
            </a:outerShdw>
          </a:effectLst>
        </p:spPr>
      </p:sp>
      <p:sp>
        <p:nvSpPr>
          <p:cNvPr id="15" name="Shape 13"/>
          <p:cNvSpPr/>
          <p:nvPr/>
        </p:nvSpPr>
        <p:spPr>
          <a:xfrm>
            <a:off x="4727448" y="1719072"/>
            <a:ext cx="365760" cy="365760"/>
          </a:xfrm>
          <a:prstGeom prst="ellipse">
            <a:avLst/>
          </a:prstGeom>
          <a:solidFill>
            <a:srgbClr val="065A82"/>
          </a:solidFill>
          <a:ln w="9525">
            <a:solidFill>
              <a:srgbClr val="065A82"/>
            </a:solidFill>
            <a:prstDash val="solid"/>
          </a:ln>
        </p:spPr>
      </p:sp>
      <p:sp>
        <p:nvSpPr>
          <p:cNvPr id="16" name="Text 14"/>
          <p:cNvSpPr/>
          <p:nvPr/>
        </p:nvSpPr>
        <p:spPr>
          <a:xfrm>
            <a:off x="4727448" y="1719072"/>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01</a:t>
            </a:r>
            <a:endParaRPr lang="en-US" sz="1200" dirty="0"/>
          </a:p>
        </p:txBody>
      </p:sp>
      <p:sp>
        <p:nvSpPr>
          <p:cNvPr id="17" name="Text 15"/>
          <p:cNvSpPr/>
          <p:nvPr/>
        </p:nvSpPr>
        <p:spPr>
          <a:xfrm>
            <a:off x="5202936" y="1700784"/>
            <a:ext cx="3255264" cy="237744"/>
          </a:xfrm>
          <a:prstGeom prst="rect">
            <a:avLst/>
          </a:prstGeom>
          <a:noFill/>
          <a:ln/>
        </p:spPr>
        <p:txBody>
          <a:bodyPr wrap="square" lIns="0" tIns="0" rIns="0" bIns="0" rtlCol="0" anchor="ctr"/>
          <a:lstStyle/>
          <a:p>
            <a:pPr indent="0" marL="0">
              <a:buNone/>
            </a:pPr>
            <a:r>
              <a:rPr lang="en-US" sz="1250" dirty="0">
                <a:solidFill>
                  <a:srgbClr val="21295C"/>
                </a:solidFill>
                <a:latin typeface="Segoe UI Semibold" pitchFamily="34" charset="0"/>
                <a:ea typeface="Segoe UI Semibold" pitchFamily="34" charset="-122"/>
                <a:cs typeface="Segoe UI Semibold" pitchFamily="34" charset="-120"/>
              </a:rPr>
              <a:t>Tương phản thấp</a:t>
            </a:r>
            <a:endParaRPr lang="en-US" sz="1250" dirty="0"/>
          </a:p>
        </p:txBody>
      </p:sp>
      <p:sp>
        <p:nvSpPr>
          <p:cNvPr id="18" name="Text 16"/>
          <p:cNvSpPr/>
          <p:nvPr/>
        </p:nvSpPr>
        <p:spPr>
          <a:xfrm>
            <a:off x="5202936" y="1975104"/>
            <a:ext cx="3255264" cy="365760"/>
          </a:xfrm>
          <a:prstGeom prst="rect">
            <a:avLst/>
          </a:prstGeom>
          <a:noFill/>
          <a:ln/>
        </p:spPr>
        <p:txBody>
          <a:bodyPr wrap="square" lIns="0" tIns="0" rIns="0" bIns="0" rtlCol="0" anchor="t"/>
          <a:lstStyle/>
          <a:p>
            <a:pPr indent="0" marL="0">
              <a:lnSpc>
                <a:spcPct val="120000"/>
              </a:lnSpc>
              <a:buNone/>
            </a:pPr>
            <a:r>
              <a:rPr lang="en-US" sz="1000" dirty="0">
                <a:solidFill>
                  <a:srgbClr val="5F7186"/>
                </a:solidFill>
                <a:latin typeface="Segoe UI" pitchFamily="34" charset="0"/>
                <a:ea typeface="Segoe UI" pitchFamily="34" charset="-122"/>
                <a:cs typeface="Segoe UI" pitchFamily="34" charset="-120"/>
              </a:rPr>
              <a:t>Cường độ mô u gần như trùng với vùng phù nề và chất trắng lân cận, biên mờ khó tách.</a:t>
            </a:r>
            <a:endParaRPr lang="en-US" sz="1000" dirty="0"/>
          </a:p>
        </p:txBody>
      </p:sp>
      <p:sp>
        <p:nvSpPr>
          <p:cNvPr id="19" name="Shape 17"/>
          <p:cNvSpPr/>
          <p:nvPr/>
        </p:nvSpPr>
        <p:spPr>
          <a:xfrm>
            <a:off x="4526280" y="2542032"/>
            <a:ext cx="4114800" cy="969264"/>
          </a:xfrm>
          <a:prstGeom prst="roundRect">
            <a:avLst>
              <a:gd name="adj" fmla="val 5660"/>
            </a:avLst>
          </a:prstGeom>
          <a:solidFill>
            <a:srgbClr val="FFFFFF"/>
          </a:solidFill>
          <a:ln w="9525">
            <a:solidFill>
              <a:srgbClr val="D1E3E8"/>
            </a:solidFill>
            <a:prstDash val="solid"/>
          </a:ln>
          <a:effectLst>
            <a:outerShdw sx="100000" sy="100000" kx="0" ky="0" algn="bl" rotWithShape="0" blurRad="1.0657517203310059e+29" dist="5.3287586016550295e+28" dir="2.519424e+35">
              <a:srgbClr val="0B2B3C">
                <a:alpha val="1e+34"/>
              </a:srgbClr>
            </a:outerShdw>
          </a:effectLst>
        </p:spPr>
      </p:sp>
      <p:sp>
        <p:nvSpPr>
          <p:cNvPr id="20" name="Shape 18"/>
          <p:cNvSpPr/>
          <p:nvPr/>
        </p:nvSpPr>
        <p:spPr>
          <a:xfrm>
            <a:off x="4727448" y="2743200"/>
            <a:ext cx="365760" cy="365760"/>
          </a:xfrm>
          <a:prstGeom prst="ellipse">
            <a:avLst/>
          </a:prstGeom>
          <a:solidFill>
            <a:srgbClr val="065A82"/>
          </a:solidFill>
          <a:ln w="9525">
            <a:solidFill>
              <a:srgbClr val="065A82"/>
            </a:solidFill>
            <a:prstDash val="solid"/>
          </a:ln>
        </p:spPr>
      </p:sp>
      <p:sp>
        <p:nvSpPr>
          <p:cNvPr id="21" name="Text 19"/>
          <p:cNvSpPr/>
          <p:nvPr/>
        </p:nvSpPr>
        <p:spPr>
          <a:xfrm>
            <a:off x="4727448" y="2743200"/>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02</a:t>
            </a:r>
            <a:endParaRPr lang="en-US" sz="1200" dirty="0"/>
          </a:p>
        </p:txBody>
      </p:sp>
      <p:sp>
        <p:nvSpPr>
          <p:cNvPr id="22" name="Text 20"/>
          <p:cNvSpPr/>
          <p:nvPr/>
        </p:nvSpPr>
        <p:spPr>
          <a:xfrm>
            <a:off x="5202936" y="2724912"/>
            <a:ext cx="3255264" cy="237744"/>
          </a:xfrm>
          <a:prstGeom prst="rect">
            <a:avLst/>
          </a:prstGeom>
          <a:noFill/>
          <a:ln/>
        </p:spPr>
        <p:txBody>
          <a:bodyPr wrap="square" lIns="0" tIns="0" rIns="0" bIns="0" rtlCol="0" anchor="ctr"/>
          <a:lstStyle/>
          <a:p>
            <a:pPr indent="0" marL="0">
              <a:buNone/>
            </a:pPr>
            <a:r>
              <a:rPr lang="en-US" sz="1250" dirty="0">
                <a:solidFill>
                  <a:srgbClr val="21295C"/>
                </a:solidFill>
                <a:latin typeface="Segoe UI Semibold" pitchFamily="34" charset="0"/>
                <a:ea typeface="Segoe UI Semibold" pitchFamily="34" charset="-122"/>
                <a:cs typeface="Segoe UI Semibold" pitchFamily="34" charset="-120"/>
              </a:rPr>
              <a:t>Bờ khối u gồ ghề</a:t>
            </a:r>
            <a:endParaRPr lang="en-US" sz="1250" dirty="0"/>
          </a:p>
        </p:txBody>
      </p:sp>
      <p:sp>
        <p:nvSpPr>
          <p:cNvPr id="23" name="Text 21"/>
          <p:cNvSpPr/>
          <p:nvPr/>
        </p:nvSpPr>
        <p:spPr>
          <a:xfrm>
            <a:off x="5202936" y="2999232"/>
            <a:ext cx="3255264" cy="365760"/>
          </a:xfrm>
          <a:prstGeom prst="rect">
            <a:avLst/>
          </a:prstGeom>
          <a:noFill/>
          <a:ln/>
        </p:spPr>
        <p:txBody>
          <a:bodyPr wrap="square" lIns="0" tIns="0" rIns="0" bIns="0" rtlCol="0" anchor="t"/>
          <a:lstStyle/>
          <a:p>
            <a:pPr indent="0" marL="0">
              <a:lnSpc>
                <a:spcPct val="120000"/>
              </a:lnSpc>
              <a:buNone/>
            </a:pPr>
            <a:r>
              <a:rPr lang="en-US" sz="1000" dirty="0">
                <a:solidFill>
                  <a:srgbClr val="5F7186"/>
                </a:solidFill>
                <a:latin typeface="Segoe UI" pitchFamily="34" charset="0"/>
                <a:ea typeface="Segoe UI" pitchFamily="34" charset="-122"/>
                <a:cs typeface="Segoe UI" pitchFamily="34" charset="-120"/>
              </a:rPr>
              <a:t>Bờ u xâm lấn không đều, nhiều múi, gây under-segmentation nếu chỉ dùng ngưỡng toàn cục.</a:t>
            </a:r>
            <a:endParaRPr lang="en-US" sz="1000" dirty="0"/>
          </a:p>
        </p:txBody>
      </p:sp>
      <p:sp>
        <p:nvSpPr>
          <p:cNvPr id="24" name="Shape 22"/>
          <p:cNvSpPr/>
          <p:nvPr/>
        </p:nvSpPr>
        <p:spPr>
          <a:xfrm>
            <a:off x="4526280" y="3566160"/>
            <a:ext cx="4114800" cy="969264"/>
          </a:xfrm>
          <a:prstGeom prst="roundRect">
            <a:avLst>
              <a:gd name="adj" fmla="val 5660"/>
            </a:avLst>
          </a:prstGeom>
          <a:solidFill>
            <a:srgbClr val="FFFFFF"/>
          </a:solidFill>
          <a:ln w="9525">
            <a:solidFill>
              <a:srgbClr val="D1E3E8"/>
            </a:solidFill>
            <a:prstDash val="solid"/>
          </a:ln>
          <a:effectLst>
            <a:outerShdw sx="100000" sy="100000" kx="0" ky="0" algn="bl" rotWithShape="0" blurRad="1.3535046848203775e+33" dist="6.767523424101888e+32" dir="1.5116544e+40">
              <a:srgbClr val="0B2B3C">
                <a:alpha val="1e+39"/>
              </a:srgbClr>
            </a:outerShdw>
          </a:effectLst>
        </p:spPr>
      </p:sp>
      <p:sp>
        <p:nvSpPr>
          <p:cNvPr id="25" name="Shape 23"/>
          <p:cNvSpPr/>
          <p:nvPr/>
        </p:nvSpPr>
        <p:spPr>
          <a:xfrm>
            <a:off x="4727448" y="3767328"/>
            <a:ext cx="365760" cy="365760"/>
          </a:xfrm>
          <a:prstGeom prst="ellipse">
            <a:avLst/>
          </a:prstGeom>
          <a:solidFill>
            <a:srgbClr val="065A82"/>
          </a:solidFill>
          <a:ln w="9525">
            <a:solidFill>
              <a:srgbClr val="065A82"/>
            </a:solidFill>
            <a:prstDash val="solid"/>
          </a:ln>
        </p:spPr>
      </p:sp>
      <p:sp>
        <p:nvSpPr>
          <p:cNvPr id="26" name="Text 24"/>
          <p:cNvSpPr/>
          <p:nvPr/>
        </p:nvSpPr>
        <p:spPr>
          <a:xfrm>
            <a:off x="4727448" y="3767328"/>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03</a:t>
            </a:r>
            <a:endParaRPr lang="en-US" sz="1200" dirty="0"/>
          </a:p>
        </p:txBody>
      </p:sp>
      <p:sp>
        <p:nvSpPr>
          <p:cNvPr id="27" name="Text 25"/>
          <p:cNvSpPr/>
          <p:nvPr/>
        </p:nvSpPr>
        <p:spPr>
          <a:xfrm>
            <a:off x="5202936" y="3749040"/>
            <a:ext cx="3255264" cy="237744"/>
          </a:xfrm>
          <a:prstGeom prst="rect">
            <a:avLst/>
          </a:prstGeom>
          <a:noFill/>
          <a:ln/>
        </p:spPr>
        <p:txBody>
          <a:bodyPr wrap="square" lIns="0" tIns="0" rIns="0" bIns="0" rtlCol="0" anchor="ctr"/>
          <a:lstStyle/>
          <a:p>
            <a:pPr indent="0" marL="0">
              <a:buNone/>
            </a:pPr>
            <a:r>
              <a:rPr lang="en-US" sz="1250" dirty="0">
                <a:solidFill>
                  <a:srgbClr val="21295C"/>
                </a:solidFill>
                <a:latin typeface="Segoe UI Semibold" pitchFamily="34" charset="0"/>
                <a:ea typeface="Segoe UI Semibold" pitchFamily="34" charset="-122"/>
                <a:cs typeface="Segoe UI Semibold" pitchFamily="34" charset="-120"/>
              </a:rPr>
              <a:t>Nhiễu từ xương sọ</a:t>
            </a:r>
            <a:endParaRPr lang="en-US" sz="1250" dirty="0"/>
          </a:p>
        </p:txBody>
      </p:sp>
      <p:sp>
        <p:nvSpPr>
          <p:cNvPr id="28" name="Text 26"/>
          <p:cNvSpPr/>
          <p:nvPr/>
        </p:nvSpPr>
        <p:spPr>
          <a:xfrm>
            <a:off x="5202936" y="4023360"/>
            <a:ext cx="3255264" cy="365760"/>
          </a:xfrm>
          <a:prstGeom prst="rect">
            <a:avLst/>
          </a:prstGeom>
          <a:noFill/>
          <a:ln/>
        </p:spPr>
        <p:txBody>
          <a:bodyPr wrap="square" lIns="0" tIns="0" rIns="0" bIns="0" rtlCol="0" anchor="t"/>
          <a:lstStyle/>
          <a:p>
            <a:pPr indent="0" marL="0">
              <a:lnSpc>
                <a:spcPct val="120000"/>
              </a:lnSpc>
              <a:buNone/>
            </a:pPr>
            <a:r>
              <a:rPr lang="en-US" sz="1000" dirty="0">
                <a:solidFill>
                  <a:srgbClr val="5F7186"/>
                </a:solidFill>
                <a:latin typeface="Segoe UI" pitchFamily="34" charset="0"/>
                <a:ea typeface="Segoe UI" pitchFamily="34" charset="-122"/>
                <a:cs typeface="Segoe UI" pitchFamily="34" charset="-120"/>
              </a:rPr>
              <a:t>Xương sọ và mô mềm ngoài sọ cho tín hiệu hyperintense rất mạnh, dễ bị nhận nhầm là u.</a:t>
            </a:r>
            <a:endParaRPr lang="en-US" sz="1000" dirty="0"/>
          </a:p>
        </p:txBody>
      </p:sp>
    </p:spTree>
  </p:cSld>
  <p:clrMapOvr>
    <a:masterClrMapping/>
  </p:clrMapOvr>
  <p:transition spd="fast">
    <p:push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3"/>
                                        </p:tgtEl>
                                        <p:attrNameLst>
                                          <p:attrName>style.visibility</p:attrName>
                                        </p:attrNameLst>
                                      </p:cBhvr>
                                      <p:to>
                                        <p:strVal val="visible"/>
                                      </p:to>
                                    </p:set>
                                    <p:animEffect transition="in" filter="fade">
                                      <p:cBhvr>
                                        <p:cTn id="106" dur="400"/>
                                        <p:tgtEl>
                                          <p:spTgt spid="1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4"/>
                                        </p:tgtEl>
                                        <p:attrNameLst>
                                          <p:attrName>style.visibility</p:attrName>
                                        </p:attrNameLst>
                                      </p:cBhvr>
                                      <p:to>
                                        <p:strVal val="visible"/>
                                      </p:to>
                                    </p:set>
                                    <p:animEffect transition="in" filter="fade">
                                      <p:cBhvr>
                                        <p:cTn id="109" dur="400"/>
                                        <p:tgtEl>
                                          <p:spTgt spid="14"/>
                                        </p:tgtEl>
                                      </p:cBhvr>
                                    </p:animEffect>
                                  </p:childTnLst>
                                </p:cTn>
                              </p:par>
                              <p:par>
                                <p:cTn id="110" presetID="10" presetClass="entr" presetSubtype="0" fill="hold" grpId="0" nodeType="withEffect">
                                  <p:stCondLst>
                                    <p:cond delay="280"/>
                                  </p:stCondLst>
                                  <p:childTnLst>
                                    <p:set>
                                      <p:cBhvr>
                                        <p:cTn id="111" dur="1" fill="hold">
                                          <p:stCondLst>
                                            <p:cond delay="0"/>
                                          </p:stCondLst>
                                        </p:cTn>
                                        <p:tgtEl>
                                          <p:spTgt spid="15"/>
                                        </p:tgtEl>
                                        <p:attrNameLst>
                                          <p:attrName>style.visibility</p:attrName>
                                        </p:attrNameLst>
                                      </p:cBhvr>
                                      <p:to>
                                        <p:strVal val="visible"/>
                                      </p:to>
                                    </p:set>
                                    <p:animEffect transition="in" filter="fade">
                                      <p:cBhvr>
                                        <p:cTn id="112" dur="400"/>
                                        <p:tgtEl>
                                          <p:spTgt spid="15"/>
                                        </p:tgtEl>
                                      </p:cBhvr>
                                    </p:animEffect>
                                  </p:childTnLst>
                                </p:cTn>
                              </p:par>
                              <p:par>
                                <p:cTn id="113" presetID="10" presetClass="entr" presetSubtype="0" fill="hold" grpId="0" nodeType="withEffect">
                                  <p:stCondLst>
                                    <p:cond delay="280"/>
                                  </p:stCondLst>
                                  <p:childTnLst>
                                    <p:set>
                                      <p:cBhvr>
                                        <p:cTn id="114" dur="1" fill="hold">
                                          <p:stCondLst>
                                            <p:cond delay="0"/>
                                          </p:stCondLst>
                                        </p:cTn>
                                        <p:tgtEl>
                                          <p:spTgt spid="16"/>
                                        </p:tgtEl>
                                        <p:attrNameLst>
                                          <p:attrName>style.visibility</p:attrName>
                                        </p:attrNameLst>
                                      </p:cBhvr>
                                      <p:to>
                                        <p:strVal val="visible"/>
                                      </p:to>
                                    </p:set>
                                    <p:animEffect transition="in" filter="fade">
                                      <p:cBhvr>
                                        <p:cTn id="115" dur="400"/>
                                        <p:tgtEl>
                                          <p:spTgt spid="16"/>
                                        </p:tgtEl>
                                      </p:cBhvr>
                                    </p:animEffect>
                                  </p:childTnLst>
                                </p:cTn>
                              </p:par>
                              <p:par>
                                <p:cTn id="116" presetID="10" presetClass="entr" presetSubtype="0" fill="hold" grpId="0" nodeType="withEffect">
                                  <p:stCondLst>
                                    <p:cond delay="280"/>
                                  </p:stCondLst>
                                  <p:childTnLst>
                                    <p:set>
                                      <p:cBhvr>
                                        <p:cTn id="117" dur="1" fill="hold">
                                          <p:stCondLst>
                                            <p:cond delay="0"/>
                                          </p:stCondLst>
                                        </p:cTn>
                                        <p:tgtEl>
                                          <p:spTgt spid="17"/>
                                        </p:tgtEl>
                                        <p:attrNameLst>
                                          <p:attrName>style.visibility</p:attrName>
                                        </p:attrNameLst>
                                      </p:cBhvr>
                                      <p:to>
                                        <p:strVal val="visible"/>
                                      </p:to>
                                    </p:set>
                                    <p:animEffect transition="in" filter="fade">
                                      <p:cBhvr>
                                        <p:cTn id="118" dur="400"/>
                                        <p:tgtEl>
                                          <p:spTgt spid="17"/>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8"/>
                                        </p:tgtEl>
                                        <p:attrNameLst>
                                          <p:attrName>style.visibility</p:attrName>
                                        </p:attrNameLst>
                                      </p:cBhvr>
                                      <p:to>
                                        <p:strVal val="visible"/>
                                      </p:to>
                                    </p:set>
                                    <p:animEffect transition="in" filter="fade">
                                      <p:cBhvr>
                                        <p:cTn id="121" dur="400"/>
                                        <p:tgtEl>
                                          <p:spTgt spid="18"/>
                                        </p:tgtEl>
                                      </p:cBhvr>
                                    </p:animEffect>
                                  </p:childTnLst>
                                </p:cTn>
                              </p:par>
                              <p:par>
                                <p:cTn id="122" presetID="10" presetClass="entr" presetSubtype="0" fill="hold" grpId="0" nodeType="withEffect">
                                  <p:stCondLst>
                                    <p:cond delay="560"/>
                                  </p:stCondLst>
                                  <p:childTnLst>
                                    <p:set>
                                      <p:cBhvr>
                                        <p:cTn id="123" dur="1" fill="hold">
                                          <p:stCondLst>
                                            <p:cond delay="0"/>
                                          </p:stCondLst>
                                        </p:cTn>
                                        <p:tgtEl>
                                          <p:spTgt spid="7"/>
                                        </p:tgtEl>
                                        <p:attrNameLst>
                                          <p:attrName>style.visibility</p:attrName>
                                        </p:attrNameLst>
                                      </p:cBhvr>
                                      <p:to>
                                        <p:strVal val="visible"/>
                                      </p:to>
                                    </p:set>
                                    <p:animEffect transition="in" filter="fade">
                                      <p:cBhvr>
                                        <p:cTn id="124" dur="400"/>
                                        <p:tgtEl>
                                          <p:spTgt spid="7"/>
                                        </p:tgtEl>
                                      </p:cBhvr>
                                    </p:animEffect>
                                  </p:childTnLst>
                                </p:cTn>
                              </p:par>
                              <p:par>
                                <p:cTn id="125" presetID="10" presetClass="entr" presetSubtype="0" fill="hold" grpId="0" nodeType="withEffect">
                                  <p:stCondLst>
                                    <p:cond delay="840"/>
                                  </p:stCondLst>
                                  <p:childTnLst>
                                    <p:set>
                                      <p:cBhvr>
                                        <p:cTn id="126" dur="1" fill="hold">
                                          <p:stCondLst>
                                            <p:cond delay="0"/>
                                          </p:stCondLst>
                                        </p:cTn>
                                        <p:tgtEl>
                                          <p:spTgt spid="8"/>
                                        </p:tgtEl>
                                        <p:attrNameLst>
                                          <p:attrName>style.visibility</p:attrName>
                                        </p:attrNameLst>
                                      </p:cBhvr>
                                      <p:to>
                                        <p:strVal val="visible"/>
                                      </p:to>
                                    </p:set>
                                    <p:animEffect transition="in" filter="fade">
                                      <p:cBhvr>
                                        <p:cTn id="127" dur="400"/>
                                        <p:tgtEl>
                                          <p:spTgt spid="8"/>
                                        </p:tgtEl>
                                      </p:cBhvr>
                                    </p:animEffect>
                                  </p:childTnLst>
                                </p:cTn>
                              </p:par>
                              <p:par>
                                <p:cTn id="128" presetID="10" presetClass="entr" presetSubtype="0" fill="hold" grpId="0" nodeType="withEffect">
                                  <p:stCondLst>
                                    <p:cond delay="840"/>
                                  </p:stCondLst>
                                  <p:childTnLst>
                                    <p:set>
                                      <p:cBhvr>
                                        <p:cTn id="129" dur="1" fill="hold">
                                          <p:stCondLst>
                                            <p:cond delay="0"/>
                                          </p:stCondLst>
                                        </p:cTn>
                                        <p:tgtEl>
                                          <p:spTgt spid="9"/>
                                        </p:tgtEl>
                                        <p:attrNameLst>
                                          <p:attrName>style.visibility</p:attrName>
                                        </p:attrNameLst>
                                      </p:cBhvr>
                                      <p:to>
                                        <p:strVal val="visible"/>
                                      </p:to>
                                    </p:set>
                                    <p:animEffect transition="in" filter="fade">
                                      <p:cBhvr>
                                        <p:cTn id="130" dur="400"/>
                                        <p:tgtEl>
                                          <p:spTgt spid="9"/>
                                        </p:tgtEl>
                                      </p:cBhvr>
                                    </p:animEffect>
                                  </p:childTnLst>
                                </p:cTn>
                              </p:par>
                              <p:par>
                                <p:cTn id="131" presetID="10" presetClass="entr" presetSubtype="0" fill="hold" grpId="0" nodeType="withEffect">
                                  <p:stCondLst>
                                    <p:cond delay="840"/>
                                  </p:stCondLst>
                                  <p:childTnLst>
                                    <p:set>
                                      <p:cBhvr>
                                        <p:cTn id="132" dur="1" fill="hold">
                                          <p:stCondLst>
                                            <p:cond delay="0"/>
                                          </p:stCondLst>
                                        </p:cTn>
                                        <p:tgtEl>
                                          <p:spTgt spid="19"/>
                                        </p:tgtEl>
                                        <p:attrNameLst>
                                          <p:attrName>style.visibility</p:attrName>
                                        </p:attrNameLst>
                                      </p:cBhvr>
                                      <p:to>
                                        <p:strVal val="visible"/>
                                      </p:to>
                                    </p:set>
                                    <p:animEffect transition="in" filter="fade">
                                      <p:cBhvr>
                                        <p:cTn id="133" dur="400"/>
                                        <p:tgtEl>
                                          <p:spTgt spid="19"/>
                                        </p:tgtEl>
                                      </p:cBhvr>
                                    </p:animEffect>
                                  </p:childTnLst>
                                </p:cTn>
                              </p:par>
                              <p:par>
                                <p:cTn id="134" presetID="10" presetClass="entr" presetSubtype="0" fill="hold" grpId="0" nodeType="withEffect">
                                  <p:stCondLst>
                                    <p:cond delay="840"/>
                                  </p:stCondLst>
                                  <p:childTnLst>
                                    <p:set>
                                      <p:cBhvr>
                                        <p:cTn id="135" dur="1" fill="hold">
                                          <p:stCondLst>
                                            <p:cond delay="0"/>
                                          </p:stCondLst>
                                        </p:cTn>
                                        <p:tgtEl>
                                          <p:spTgt spid="20"/>
                                        </p:tgtEl>
                                        <p:attrNameLst>
                                          <p:attrName>style.visibility</p:attrName>
                                        </p:attrNameLst>
                                      </p:cBhvr>
                                      <p:to>
                                        <p:strVal val="visible"/>
                                      </p:to>
                                    </p:set>
                                    <p:animEffect transition="in" filter="fade">
                                      <p:cBhvr>
                                        <p:cTn id="136" dur="400"/>
                                        <p:tgtEl>
                                          <p:spTgt spid="20"/>
                                        </p:tgtEl>
                                      </p:cBhvr>
                                    </p:animEffect>
                                  </p:childTnLst>
                                </p:cTn>
                              </p:par>
                              <p:par>
                                <p:cTn id="137" presetID="10" presetClass="entr" presetSubtype="0" fill="hold" grpId="0" nodeType="withEffect">
                                  <p:stCondLst>
                                    <p:cond delay="840"/>
                                  </p:stCondLst>
                                  <p:childTnLst>
                                    <p:set>
                                      <p:cBhvr>
                                        <p:cTn id="138" dur="1" fill="hold">
                                          <p:stCondLst>
                                            <p:cond delay="0"/>
                                          </p:stCondLst>
                                        </p:cTn>
                                        <p:tgtEl>
                                          <p:spTgt spid="21"/>
                                        </p:tgtEl>
                                        <p:attrNameLst>
                                          <p:attrName>style.visibility</p:attrName>
                                        </p:attrNameLst>
                                      </p:cBhvr>
                                      <p:to>
                                        <p:strVal val="visible"/>
                                      </p:to>
                                    </p:set>
                                    <p:animEffect transition="in" filter="fade">
                                      <p:cBhvr>
                                        <p:cTn id="139" dur="400"/>
                                        <p:tgtEl>
                                          <p:spTgt spid="21"/>
                                        </p:tgtEl>
                                      </p:cBhvr>
                                    </p:animEffect>
                                  </p:childTnLst>
                                </p:cTn>
                              </p:par>
                              <p:par>
                                <p:cTn id="140" presetID="10" presetClass="entr" presetSubtype="0" fill="hold" grpId="0" nodeType="withEffect">
                                  <p:stCondLst>
                                    <p:cond delay="840"/>
                                  </p:stCondLst>
                                  <p:childTnLst>
                                    <p:set>
                                      <p:cBhvr>
                                        <p:cTn id="141" dur="1" fill="hold">
                                          <p:stCondLst>
                                            <p:cond delay="0"/>
                                          </p:stCondLst>
                                        </p:cTn>
                                        <p:tgtEl>
                                          <p:spTgt spid="22"/>
                                        </p:tgtEl>
                                        <p:attrNameLst>
                                          <p:attrName>style.visibility</p:attrName>
                                        </p:attrNameLst>
                                      </p:cBhvr>
                                      <p:to>
                                        <p:strVal val="visible"/>
                                      </p:to>
                                    </p:set>
                                    <p:animEffect transition="in" filter="fade">
                                      <p:cBhvr>
                                        <p:cTn id="142" dur="400"/>
                                        <p:tgtEl>
                                          <p:spTgt spid="22"/>
                                        </p:tgtEl>
                                      </p:cBhvr>
                                    </p:animEffect>
                                  </p:childTnLst>
                                </p:cTn>
                              </p:par>
                              <p:par>
                                <p:cTn id="143" presetID="10" presetClass="entr" presetSubtype="0" fill="hold" grpId="0" nodeType="withEffect">
                                  <p:stCondLst>
                                    <p:cond delay="1120"/>
                                  </p:stCondLst>
                                  <p:childTnLst>
                                    <p:set>
                                      <p:cBhvr>
                                        <p:cTn id="144" dur="1" fill="hold">
                                          <p:stCondLst>
                                            <p:cond delay="0"/>
                                          </p:stCondLst>
                                        </p:cTn>
                                        <p:tgtEl>
                                          <p:spTgt spid="23"/>
                                        </p:tgtEl>
                                        <p:attrNameLst>
                                          <p:attrName>style.visibility</p:attrName>
                                        </p:attrNameLst>
                                      </p:cBhvr>
                                      <p:to>
                                        <p:strVal val="visible"/>
                                      </p:to>
                                    </p:set>
                                    <p:animEffect transition="in" filter="fade">
                                      <p:cBhvr>
                                        <p:cTn id="145" dur="400"/>
                                        <p:tgtEl>
                                          <p:spTgt spid="23"/>
                                        </p:tgtEl>
                                      </p:cBhvr>
                                    </p:animEffect>
                                  </p:childTnLst>
                                </p:cTn>
                              </p:par>
                              <p:par>
                                <p:cTn id="146" presetID="10" presetClass="entr" presetSubtype="0" fill="hold" grpId="0" nodeType="withEffect">
                                  <p:stCondLst>
                                    <p:cond delay="1400"/>
                                  </p:stCondLst>
                                  <p:childTnLst>
                                    <p:set>
                                      <p:cBhvr>
                                        <p:cTn id="147" dur="1" fill="hold">
                                          <p:stCondLst>
                                            <p:cond delay="0"/>
                                          </p:stCondLst>
                                        </p:cTn>
                                        <p:tgtEl>
                                          <p:spTgt spid="10"/>
                                        </p:tgtEl>
                                        <p:attrNameLst>
                                          <p:attrName>style.visibility</p:attrName>
                                        </p:attrNameLst>
                                      </p:cBhvr>
                                      <p:to>
                                        <p:strVal val="visible"/>
                                      </p:to>
                                    </p:set>
                                    <p:animEffect transition="in" filter="fade">
                                      <p:cBhvr>
                                        <p:cTn id="148" dur="400"/>
                                        <p:tgtEl>
                                          <p:spTgt spid="10"/>
                                        </p:tgtEl>
                                      </p:cBhvr>
                                    </p:animEffect>
                                  </p:childTnLst>
                                </p:cTn>
                              </p:par>
                              <p:par>
                                <p:cTn id="149" presetID="10" presetClass="entr" presetSubtype="0" fill="hold" grpId="0" nodeType="withEffect">
                                  <p:stCondLst>
                                    <p:cond delay="1400"/>
                                  </p:stCondLst>
                                  <p:childTnLst>
                                    <p:set>
                                      <p:cBhvr>
                                        <p:cTn id="150" dur="1" fill="hold">
                                          <p:stCondLst>
                                            <p:cond delay="0"/>
                                          </p:stCondLst>
                                        </p:cTn>
                                        <p:tgtEl>
                                          <p:spTgt spid="11"/>
                                        </p:tgtEl>
                                        <p:attrNameLst>
                                          <p:attrName>style.visibility</p:attrName>
                                        </p:attrNameLst>
                                      </p:cBhvr>
                                      <p:to>
                                        <p:strVal val="visible"/>
                                      </p:to>
                                    </p:set>
                                    <p:animEffect transition="in" filter="fade">
                                      <p:cBhvr>
                                        <p:cTn id="151" dur="400"/>
                                        <p:tgtEl>
                                          <p:spTgt spid="11"/>
                                        </p:tgtEl>
                                      </p:cBhvr>
                                    </p:animEffect>
                                  </p:childTnLst>
                                </p:cTn>
                              </p:par>
                              <p:par>
                                <p:cTn id="152" presetID="10" presetClass="entr" presetSubtype="0" fill="hold" grpId="0" nodeType="withEffect">
                                  <p:stCondLst>
                                    <p:cond delay="1400"/>
                                  </p:stCondLst>
                                  <p:childTnLst>
                                    <p:set>
                                      <p:cBhvr>
                                        <p:cTn id="153" dur="1" fill="hold">
                                          <p:stCondLst>
                                            <p:cond delay="0"/>
                                          </p:stCondLst>
                                        </p:cTn>
                                        <p:tgtEl>
                                          <p:spTgt spid="12"/>
                                        </p:tgtEl>
                                        <p:attrNameLst>
                                          <p:attrName>style.visibility</p:attrName>
                                        </p:attrNameLst>
                                      </p:cBhvr>
                                      <p:to>
                                        <p:strVal val="visible"/>
                                      </p:to>
                                    </p:set>
                                    <p:animEffect transition="in" filter="fade">
                                      <p:cBhvr>
                                        <p:cTn id="154" dur="400"/>
                                        <p:tgtEl>
                                          <p:spTgt spid="12"/>
                                        </p:tgtEl>
                                      </p:cBhvr>
                                    </p:animEffect>
                                  </p:childTnLst>
                                </p:cTn>
                              </p:par>
                              <p:par>
                                <p:cTn id="155" presetID="10" presetClass="entr" presetSubtype="0" fill="hold" grpId="0" nodeType="withEffect">
                                  <p:stCondLst>
                                    <p:cond delay="140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400"/>
                                        <p:tgtEl>
                                          <p:spTgt spid="24"/>
                                        </p:tgtEl>
                                      </p:cBhvr>
                                    </p:animEffect>
                                  </p:childTnLst>
                                </p:cTn>
                              </p:par>
                              <p:par>
                                <p:cTn id="158" presetID="10" presetClass="entr" presetSubtype="0" fill="hold" grpId="0" nodeType="withEffect">
                                  <p:stCondLst>
                                    <p:cond delay="1400"/>
                                  </p:stCondLst>
                                  <p:childTnLst>
                                    <p:set>
                                      <p:cBhvr>
                                        <p:cTn id="159" dur="1" fill="hold">
                                          <p:stCondLst>
                                            <p:cond delay="0"/>
                                          </p:stCondLst>
                                        </p:cTn>
                                        <p:tgtEl>
                                          <p:spTgt spid="25"/>
                                        </p:tgtEl>
                                        <p:attrNameLst>
                                          <p:attrName>style.visibility</p:attrName>
                                        </p:attrNameLst>
                                      </p:cBhvr>
                                      <p:to>
                                        <p:strVal val="visible"/>
                                      </p:to>
                                    </p:set>
                                    <p:animEffect transition="in" filter="fade">
                                      <p:cBhvr>
                                        <p:cTn id="160" dur="400"/>
                                        <p:tgtEl>
                                          <p:spTgt spid="25"/>
                                        </p:tgtEl>
                                      </p:cBhvr>
                                    </p:animEffect>
                                  </p:childTnLst>
                                </p:cTn>
                              </p:par>
                              <p:par>
                                <p:cTn id="161" presetID="10" presetClass="entr" presetSubtype="0" fill="hold" grpId="0" nodeType="withEffect">
                                  <p:stCondLst>
                                    <p:cond delay="1400"/>
                                  </p:stCondLst>
                                  <p:childTnLst>
                                    <p:set>
                                      <p:cBhvr>
                                        <p:cTn id="162" dur="1" fill="hold">
                                          <p:stCondLst>
                                            <p:cond delay="0"/>
                                          </p:stCondLst>
                                        </p:cTn>
                                        <p:tgtEl>
                                          <p:spTgt spid="26"/>
                                        </p:tgtEl>
                                        <p:attrNameLst>
                                          <p:attrName>style.visibility</p:attrName>
                                        </p:attrNameLst>
                                      </p:cBhvr>
                                      <p:to>
                                        <p:strVal val="visible"/>
                                      </p:to>
                                    </p:set>
                                    <p:animEffect transition="in" filter="fade">
                                      <p:cBhvr>
                                        <p:cTn id="163" dur="400"/>
                                        <p:tgtEl>
                                          <p:spTgt spid="26"/>
                                        </p:tgtEl>
                                      </p:cBhvr>
                                    </p:animEffect>
                                  </p:childTnLst>
                                </p:cTn>
                              </p:par>
                              <p:par>
                                <p:cTn id="164" presetID="10" presetClass="entr" presetSubtype="0" fill="hold" grpId="0" nodeType="withEffect">
                                  <p:stCondLst>
                                    <p:cond delay="1400"/>
                                  </p:stCondLst>
                                  <p:childTnLst>
                                    <p:set>
                                      <p:cBhvr>
                                        <p:cTn id="165" dur="1" fill="hold">
                                          <p:stCondLst>
                                            <p:cond delay="0"/>
                                          </p:stCondLst>
                                        </p:cTn>
                                        <p:tgtEl>
                                          <p:spTgt spid="27"/>
                                        </p:tgtEl>
                                        <p:attrNameLst>
                                          <p:attrName>style.visibility</p:attrName>
                                        </p:attrNameLst>
                                      </p:cBhvr>
                                      <p:to>
                                        <p:strVal val="visible"/>
                                      </p:to>
                                    </p:set>
                                    <p:animEffect transition="in" filter="fade">
                                      <p:cBhvr>
                                        <p:cTn id="166"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02  ·  MỤC TIÊU NGHIÊN CỨU</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Bốn mục tiêu cốt lõi và đóng góp kỹ thuật</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03 / 20</a:t>
            </a:r>
            <a:endParaRPr lang="en-US" sz="800" dirty="0"/>
          </a:p>
        </p:txBody>
      </p:sp>
      <p:sp>
        <p:nvSpPr>
          <p:cNvPr id="6" name="Shape 4"/>
          <p:cNvSpPr/>
          <p:nvPr/>
        </p:nvSpPr>
        <p:spPr>
          <a:xfrm>
            <a:off x="502920" y="1298448"/>
            <a:ext cx="3931920" cy="1316736"/>
          </a:xfrm>
          <a:prstGeom prst="roundRect">
            <a:avLst>
              <a:gd name="adj" fmla="val 4167"/>
            </a:avLst>
          </a:prstGeom>
          <a:solidFill>
            <a:srgbClr val="FFFFFF"/>
          </a:solidFill>
          <a:ln w="9525">
            <a:solidFill>
              <a:srgbClr val="D1E3E8"/>
            </a:solidFill>
            <a:prstDash val="solid"/>
          </a:ln>
          <a:effectLst>
            <a:outerShdw sx="100000" sy="100000" kx="0" ky="0" algn="bl" rotWithShape="0" blurRad="1.7189509497218795e+37" dist="8.594754748609397e+36" dir="9.069926400000001e+44">
              <a:srgbClr val="0B2B3C">
                <a:alpha val="9.999999999999999e+43"/>
              </a:srgbClr>
            </a:outerShdw>
          </a:effectLst>
        </p:spPr>
      </p:sp>
      <p:sp>
        <p:nvSpPr>
          <p:cNvPr id="7" name="Shape 5"/>
          <p:cNvSpPr/>
          <p:nvPr/>
        </p:nvSpPr>
        <p:spPr>
          <a:xfrm>
            <a:off x="704088" y="1499616"/>
            <a:ext cx="365760" cy="365760"/>
          </a:xfrm>
          <a:prstGeom prst="ellipse">
            <a:avLst/>
          </a:prstGeom>
          <a:solidFill>
            <a:srgbClr val="065A82"/>
          </a:solidFill>
          <a:ln w="9525">
            <a:solidFill>
              <a:srgbClr val="065A82"/>
            </a:solidFill>
            <a:prstDash val="solid"/>
          </a:ln>
        </p:spPr>
      </p:sp>
      <p:sp>
        <p:nvSpPr>
          <p:cNvPr id="8" name="Text 6"/>
          <p:cNvSpPr/>
          <p:nvPr/>
        </p:nvSpPr>
        <p:spPr>
          <a:xfrm>
            <a:off x="704088" y="1499616"/>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01</a:t>
            </a:r>
            <a:endParaRPr lang="en-US" sz="1200" dirty="0"/>
          </a:p>
        </p:txBody>
      </p:sp>
      <p:sp>
        <p:nvSpPr>
          <p:cNvPr id="9" name="Text 7"/>
          <p:cNvSpPr/>
          <p:nvPr/>
        </p:nvSpPr>
        <p:spPr>
          <a:xfrm>
            <a:off x="1179576" y="1481328"/>
            <a:ext cx="3072384" cy="237744"/>
          </a:xfrm>
          <a:prstGeom prst="rect">
            <a:avLst/>
          </a:prstGeom>
          <a:noFill/>
          <a:ln/>
        </p:spPr>
        <p:txBody>
          <a:bodyPr wrap="square" lIns="0" tIns="0" rIns="0" bIns="0" rtlCol="0" anchor="ctr"/>
          <a:lstStyle/>
          <a:p>
            <a:pPr indent="0" marL="0">
              <a:buNone/>
            </a:pPr>
            <a:r>
              <a:rPr lang="en-US" sz="1250" dirty="0">
                <a:solidFill>
                  <a:srgbClr val="21295C"/>
                </a:solidFill>
                <a:latin typeface="Segoe UI Semibold" pitchFamily="34" charset="0"/>
                <a:ea typeface="Segoe UI Semibold" pitchFamily="34" charset="-122"/>
                <a:cs typeface="Segoe UI Semibold" pitchFamily="34" charset="-120"/>
              </a:rPr>
              <a:t>Quy trình DIP khép kín</a:t>
            </a:r>
            <a:endParaRPr lang="en-US" sz="1250" dirty="0"/>
          </a:p>
        </p:txBody>
      </p:sp>
      <p:sp>
        <p:nvSpPr>
          <p:cNvPr id="10" name="Text 8"/>
          <p:cNvSpPr/>
          <p:nvPr/>
        </p:nvSpPr>
        <p:spPr>
          <a:xfrm>
            <a:off x="1179576" y="1755648"/>
            <a:ext cx="3072384" cy="713232"/>
          </a:xfrm>
          <a:prstGeom prst="rect">
            <a:avLst/>
          </a:prstGeom>
          <a:noFill/>
          <a:ln/>
        </p:spPr>
        <p:txBody>
          <a:bodyPr wrap="square" lIns="0" tIns="0" rIns="0" bIns="0" rtlCol="0" anchor="t"/>
          <a:lstStyle/>
          <a:p>
            <a:pPr indent="0" marL="0">
              <a:lnSpc>
                <a:spcPct val="120000"/>
              </a:lnSpc>
              <a:buNone/>
            </a:pPr>
            <a:r>
              <a:rPr lang="en-US" sz="1000" dirty="0">
                <a:solidFill>
                  <a:srgbClr val="5F7186"/>
                </a:solidFill>
                <a:latin typeface="Segoe UI" pitchFamily="34" charset="0"/>
                <a:ea typeface="Segoe UI" pitchFamily="34" charset="-122"/>
                <a:cs typeface="Segoe UI" pitchFamily="34" charset="-120"/>
              </a:rPr>
              <a:t>Xử lý trọn chuỗi từ ảnh thô đến kết quả đo, triển khai bằng OpenCV trên CPU, không phụ thuộc GPU đắt tiền.</a:t>
            </a:r>
            <a:endParaRPr lang="en-US" sz="1000" dirty="0"/>
          </a:p>
        </p:txBody>
      </p:sp>
      <p:sp>
        <p:nvSpPr>
          <p:cNvPr id="11" name="Shape 9"/>
          <p:cNvSpPr/>
          <p:nvPr/>
        </p:nvSpPr>
        <p:spPr>
          <a:xfrm>
            <a:off x="4617720" y="1298448"/>
            <a:ext cx="3931920" cy="1316736"/>
          </a:xfrm>
          <a:prstGeom prst="roundRect">
            <a:avLst>
              <a:gd name="adj" fmla="val 4167"/>
            </a:avLst>
          </a:prstGeom>
          <a:solidFill>
            <a:srgbClr val="FFFFFF"/>
          </a:solidFill>
          <a:ln w="9525">
            <a:solidFill>
              <a:srgbClr val="D1E3E8"/>
            </a:solidFill>
            <a:prstDash val="solid"/>
          </a:ln>
          <a:effectLst>
            <a:outerShdw sx="100000" sy="100000" kx="0" ky="0" algn="bl" rotWithShape="0" blurRad="2.183067706146787e+41" dist="1.0915338530733935e+41" dir="5.44195584e+49">
              <a:srgbClr val="0B2B3C">
                <a:alpha val="1e+49"/>
              </a:srgbClr>
            </a:outerShdw>
          </a:effectLst>
        </p:spPr>
      </p:sp>
      <p:sp>
        <p:nvSpPr>
          <p:cNvPr id="12" name="Shape 10"/>
          <p:cNvSpPr/>
          <p:nvPr/>
        </p:nvSpPr>
        <p:spPr>
          <a:xfrm>
            <a:off x="4818888" y="1499616"/>
            <a:ext cx="365760" cy="365760"/>
          </a:xfrm>
          <a:prstGeom prst="ellipse">
            <a:avLst/>
          </a:prstGeom>
          <a:solidFill>
            <a:srgbClr val="028090"/>
          </a:solidFill>
          <a:ln w="9525">
            <a:solidFill>
              <a:srgbClr val="028090"/>
            </a:solidFill>
            <a:prstDash val="solid"/>
          </a:ln>
        </p:spPr>
      </p:sp>
      <p:sp>
        <p:nvSpPr>
          <p:cNvPr id="13" name="Text 11"/>
          <p:cNvSpPr/>
          <p:nvPr/>
        </p:nvSpPr>
        <p:spPr>
          <a:xfrm>
            <a:off x="4818888" y="1499616"/>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02</a:t>
            </a:r>
            <a:endParaRPr lang="en-US" sz="1200" dirty="0"/>
          </a:p>
        </p:txBody>
      </p:sp>
      <p:sp>
        <p:nvSpPr>
          <p:cNvPr id="14" name="Text 12"/>
          <p:cNvSpPr/>
          <p:nvPr/>
        </p:nvSpPr>
        <p:spPr>
          <a:xfrm>
            <a:off x="5294376" y="1481328"/>
            <a:ext cx="3072384" cy="237744"/>
          </a:xfrm>
          <a:prstGeom prst="rect">
            <a:avLst/>
          </a:prstGeom>
          <a:noFill/>
          <a:ln/>
        </p:spPr>
        <p:txBody>
          <a:bodyPr wrap="square" lIns="0" tIns="0" rIns="0" bIns="0" rtlCol="0" anchor="ctr"/>
          <a:lstStyle/>
          <a:p>
            <a:pPr indent="0" marL="0">
              <a:buNone/>
            </a:pPr>
            <a:r>
              <a:rPr lang="en-US" sz="1250" dirty="0">
                <a:solidFill>
                  <a:srgbClr val="21295C"/>
                </a:solidFill>
                <a:latin typeface="Segoe UI Semibold" pitchFamily="34" charset="0"/>
                <a:ea typeface="Segoe UI Semibold" pitchFamily="34" charset="-122"/>
                <a:cs typeface="Segoe UI Semibold" pitchFamily="34" charset="-120"/>
              </a:rPr>
              <a:t>Tách sọ não chính xác cao</a:t>
            </a:r>
            <a:endParaRPr lang="en-US" sz="1250" dirty="0"/>
          </a:p>
        </p:txBody>
      </p:sp>
      <p:sp>
        <p:nvSpPr>
          <p:cNvPr id="15" name="Text 13"/>
          <p:cNvSpPr/>
          <p:nvPr/>
        </p:nvSpPr>
        <p:spPr>
          <a:xfrm>
            <a:off x="5294376" y="1755648"/>
            <a:ext cx="3072384" cy="713232"/>
          </a:xfrm>
          <a:prstGeom prst="rect">
            <a:avLst/>
          </a:prstGeom>
          <a:noFill/>
          <a:ln/>
        </p:spPr>
        <p:txBody>
          <a:bodyPr wrap="square" lIns="0" tIns="0" rIns="0" bIns="0" rtlCol="0" anchor="t"/>
          <a:lstStyle/>
          <a:p>
            <a:pPr indent="0" marL="0">
              <a:lnSpc>
                <a:spcPct val="120000"/>
              </a:lnSpc>
              <a:buNone/>
            </a:pPr>
            <a:r>
              <a:rPr lang="en-US" sz="1000" dirty="0">
                <a:solidFill>
                  <a:srgbClr val="5F7186"/>
                </a:solidFill>
                <a:latin typeface="Segoe UI" pitchFamily="34" charset="0"/>
                <a:ea typeface="Segoe UI" pitchFamily="34" charset="-122"/>
                <a:cs typeface="Segoe UI" pitchFamily="34" charset="-120"/>
              </a:rPr>
              <a:t>Quy trình 6 bước loại bỏ xương sọ và mô mềm, giữ lại trọn vẹn nhu mô não.</a:t>
            </a:r>
            <a:endParaRPr lang="en-US" sz="1000" dirty="0"/>
          </a:p>
        </p:txBody>
      </p:sp>
      <p:sp>
        <p:nvSpPr>
          <p:cNvPr id="16" name="Shape 14"/>
          <p:cNvSpPr/>
          <p:nvPr/>
        </p:nvSpPr>
        <p:spPr>
          <a:xfrm>
            <a:off x="502920" y="2871216"/>
            <a:ext cx="3931920" cy="1316736"/>
          </a:xfrm>
          <a:prstGeom prst="roundRect">
            <a:avLst>
              <a:gd name="adj" fmla="val 4167"/>
            </a:avLst>
          </a:prstGeom>
          <a:solidFill>
            <a:srgbClr val="FFFFFF"/>
          </a:solidFill>
          <a:ln w="9525">
            <a:solidFill>
              <a:srgbClr val="D1E3E8"/>
            </a:solidFill>
            <a:prstDash val="solid"/>
          </a:ln>
          <a:effectLst>
            <a:outerShdw sx="100000" sy="100000" kx="0" ky="0" algn="bl" rotWithShape="0" blurRad="2.7724959868064195e+45" dist="1.3862479934032098e+45" dir="3.2651735040000005e+54">
              <a:srgbClr val="0B2B3C">
                <a:alpha val="9.999999999999999e+53"/>
              </a:srgbClr>
            </a:outerShdw>
          </a:effectLst>
        </p:spPr>
      </p:sp>
      <p:sp>
        <p:nvSpPr>
          <p:cNvPr id="17" name="Shape 15"/>
          <p:cNvSpPr/>
          <p:nvPr/>
        </p:nvSpPr>
        <p:spPr>
          <a:xfrm>
            <a:off x="704088" y="3072384"/>
            <a:ext cx="365760" cy="365760"/>
          </a:xfrm>
          <a:prstGeom prst="ellipse">
            <a:avLst/>
          </a:prstGeom>
          <a:solidFill>
            <a:srgbClr val="065A82"/>
          </a:solidFill>
          <a:ln w="9525">
            <a:solidFill>
              <a:srgbClr val="065A82"/>
            </a:solidFill>
            <a:prstDash val="solid"/>
          </a:ln>
        </p:spPr>
      </p:sp>
      <p:sp>
        <p:nvSpPr>
          <p:cNvPr id="18" name="Text 16"/>
          <p:cNvSpPr/>
          <p:nvPr/>
        </p:nvSpPr>
        <p:spPr>
          <a:xfrm>
            <a:off x="704088" y="3072384"/>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03</a:t>
            </a:r>
            <a:endParaRPr lang="en-US" sz="1200" dirty="0"/>
          </a:p>
        </p:txBody>
      </p:sp>
      <p:sp>
        <p:nvSpPr>
          <p:cNvPr id="19" name="Text 17"/>
          <p:cNvSpPr/>
          <p:nvPr/>
        </p:nvSpPr>
        <p:spPr>
          <a:xfrm>
            <a:off x="1179576" y="3054096"/>
            <a:ext cx="3072384" cy="237744"/>
          </a:xfrm>
          <a:prstGeom prst="rect">
            <a:avLst/>
          </a:prstGeom>
          <a:noFill/>
          <a:ln/>
        </p:spPr>
        <p:txBody>
          <a:bodyPr wrap="square" lIns="0" tIns="0" rIns="0" bIns="0" rtlCol="0" anchor="ctr"/>
          <a:lstStyle/>
          <a:p>
            <a:pPr indent="0" marL="0">
              <a:buNone/>
            </a:pPr>
            <a:r>
              <a:rPr lang="en-US" sz="1250" dirty="0">
                <a:solidFill>
                  <a:srgbClr val="21295C"/>
                </a:solidFill>
                <a:latin typeface="Segoe UI Semibold" pitchFamily="34" charset="0"/>
                <a:ea typeface="Segoe UI Semibold" pitchFamily="34" charset="-122"/>
                <a:cs typeface="Segoe UI Semibold" pitchFamily="34" charset="-120"/>
              </a:rPr>
              <a:t>Đối kháng 2 phương pháp</a:t>
            </a:r>
            <a:endParaRPr lang="en-US" sz="1250" dirty="0"/>
          </a:p>
        </p:txBody>
      </p:sp>
      <p:sp>
        <p:nvSpPr>
          <p:cNvPr id="20" name="Text 18"/>
          <p:cNvSpPr/>
          <p:nvPr/>
        </p:nvSpPr>
        <p:spPr>
          <a:xfrm>
            <a:off x="1179576" y="3328416"/>
            <a:ext cx="3072384" cy="713232"/>
          </a:xfrm>
          <a:prstGeom prst="rect">
            <a:avLst/>
          </a:prstGeom>
          <a:noFill/>
          <a:ln/>
        </p:spPr>
        <p:txBody>
          <a:bodyPr wrap="square" lIns="0" tIns="0" rIns="0" bIns="0" rtlCol="0" anchor="t"/>
          <a:lstStyle/>
          <a:p>
            <a:pPr indent="0" marL="0">
              <a:lnSpc>
                <a:spcPct val="120000"/>
              </a:lnSpc>
              <a:buNone/>
            </a:pPr>
            <a:r>
              <a:rPr lang="en-US" sz="1000" dirty="0">
                <a:solidFill>
                  <a:srgbClr val="5F7186"/>
                </a:solidFill>
                <a:latin typeface="Segoe UI" pitchFamily="34" charset="0"/>
                <a:ea typeface="Segoe UI" pitchFamily="34" charset="-122"/>
                <a:cs typeface="Segoe UI" pitchFamily="34" charset="-120"/>
              </a:rPr>
              <a:t>Marker-controlled Watershed (baseline) so với Seeded Region Growing 8 láng giềng BFS.</a:t>
            </a:r>
            <a:endParaRPr lang="en-US" sz="1000" dirty="0"/>
          </a:p>
        </p:txBody>
      </p:sp>
      <p:sp>
        <p:nvSpPr>
          <p:cNvPr id="21" name="Shape 19"/>
          <p:cNvSpPr/>
          <p:nvPr/>
        </p:nvSpPr>
        <p:spPr>
          <a:xfrm>
            <a:off x="4617720" y="2871216"/>
            <a:ext cx="3931920" cy="1316736"/>
          </a:xfrm>
          <a:prstGeom prst="roundRect">
            <a:avLst>
              <a:gd name="adj" fmla="val 4167"/>
            </a:avLst>
          </a:prstGeom>
          <a:solidFill>
            <a:srgbClr val="FFFFFF"/>
          </a:solidFill>
          <a:ln w="9525">
            <a:solidFill>
              <a:srgbClr val="D1E3E8"/>
            </a:solidFill>
            <a:prstDash val="solid"/>
          </a:ln>
          <a:effectLst>
            <a:outerShdw sx="100000" sy="100000" kx="0" ky="0" algn="bl" rotWithShape="0" blurRad="3.5210699032441527e+49" dist="1.7605349516220764e+49" dir="1.9591041024000004e+59">
              <a:srgbClr val="0B2B3C">
                <a:alpha val="9.999999999999999e+58"/>
              </a:srgbClr>
            </a:outerShdw>
          </a:effectLst>
        </p:spPr>
      </p:sp>
      <p:sp>
        <p:nvSpPr>
          <p:cNvPr id="22" name="Shape 20"/>
          <p:cNvSpPr/>
          <p:nvPr/>
        </p:nvSpPr>
        <p:spPr>
          <a:xfrm>
            <a:off x="4818888" y="3072384"/>
            <a:ext cx="365760" cy="365760"/>
          </a:xfrm>
          <a:prstGeom prst="ellipse">
            <a:avLst/>
          </a:prstGeom>
          <a:solidFill>
            <a:srgbClr val="028090"/>
          </a:solidFill>
          <a:ln w="9525">
            <a:solidFill>
              <a:srgbClr val="028090"/>
            </a:solidFill>
            <a:prstDash val="solid"/>
          </a:ln>
        </p:spPr>
      </p:sp>
      <p:sp>
        <p:nvSpPr>
          <p:cNvPr id="23" name="Text 21"/>
          <p:cNvSpPr/>
          <p:nvPr/>
        </p:nvSpPr>
        <p:spPr>
          <a:xfrm>
            <a:off x="4818888" y="3072384"/>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04</a:t>
            </a:r>
            <a:endParaRPr lang="en-US" sz="1200" dirty="0"/>
          </a:p>
        </p:txBody>
      </p:sp>
      <p:sp>
        <p:nvSpPr>
          <p:cNvPr id="24" name="Text 22"/>
          <p:cNvSpPr/>
          <p:nvPr/>
        </p:nvSpPr>
        <p:spPr>
          <a:xfrm>
            <a:off x="5294376" y="3054096"/>
            <a:ext cx="3072384" cy="237744"/>
          </a:xfrm>
          <a:prstGeom prst="rect">
            <a:avLst/>
          </a:prstGeom>
          <a:noFill/>
          <a:ln/>
        </p:spPr>
        <p:txBody>
          <a:bodyPr wrap="square" lIns="0" tIns="0" rIns="0" bIns="0" rtlCol="0" anchor="ctr"/>
          <a:lstStyle/>
          <a:p>
            <a:pPr indent="0" marL="0">
              <a:buNone/>
            </a:pPr>
            <a:r>
              <a:rPr lang="en-US" sz="1250" dirty="0">
                <a:solidFill>
                  <a:srgbClr val="21295C"/>
                </a:solidFill>
                <a:latin typeface="Segoe UI Semibold" pitchFamily="34" charset="0"/>
                <a:ea typeface="Segoe UI Semibold" pitchFamily="34" charset="-122"/>
                <a:cs typeface="Segoe UI Semibold" pitchFamily="34" charset="-120"/>
              </a:rPr>
              <a:t>Đo lường y khoa &amp; Web Demo</a:t>
            </a:r>
            <a:endParaRPr lang="en-US" sz="1250" dirty="0"/>
          </a:p>
        </p:txBody>
      </p:sp>
      <p:sp>
        <p:nvSpPr>
          <p:cNvPr id="25" name="Text 23"/>
          <p:cNvSpPr/>
          <p:nvPr/>
        </p:nvSpPr>
        <p:spPr>
          <a:xfrm>
            <a:off x="5294376" y="3328416"/>
            <a:ext cx="3072384" cy="713232"/>
          </a:xfrm>
          <a:prstGeom prst="rect">
            <a:avLst/>
          </a:prstGeom>
          <a:noFill/>
          <a:ln/>
        </p:spPr>
        <p:txBody>
          <a:bodyPr wrap="square" lIns="0" tIns="0" rIns="0" bIns="0" rtlCol="0" anchor="t"/>
          <a:lstStyle/>
          <a:p>
            <a:pPr indent="0" marL="0">
              <a:lnSpc>
                <a:spcPct val="120000"/>
              </a:lnSpc>
              <a:buNone/>
            </a:pPr>
            <a:r>
              <a:rPr lang="en-US" sz="1000" dirty="0">
                <a:solidFill>
                  <a:srgbClr val="5F7186"/>
                </a:solidFill>
                <a:latin typeface="Segoe UI" pitchFamily="34" charset="0"/>
                <a:ea typeface="Segoe UI" pitchFamily="34" charset="-122"/>
                <a:cs typeface="Segoe UI" pitchFamily="34" charset="-120"/>
              </a:rPr>
              <a:t>Rút trích chỉ số hình học, đánh giá Dice/IoU và giao diện chẩn đoán tương tác cho bác sĩ.</a:t>
            </a:r>
            <a:endParaRPr lang="en-US" sz="1000" dirty="0"/>
          </a:p>
        </p:txBody>
      </p:sp>
      <p:sp>
        <p:nvSpPr>
          <p:cNvPr id="26" name="Text 24"/>
          <p:cNvSpPr/>
          <p:nvPr/>
        </p:nvSpPr>
        <p:spPr>
          <a:xfrm>
            <a:off x="502920" y="4498848"/>
            <a:ext cx="8138160" cy="219456"/>
          </a:xfrm>
          <a:prstGeom prst="rect">
            <a:avLst/>
          </a:prstGeom>
          <a:noFill/>
          <a:ln/>
        </p:spPr>
        <p:txBody>
          <a:bodyPr wrap="square" lIns="0" tIns="0" rIns="0" bIns="0" rtlCol="0" anchor="ctr"/>
          <a:lstStyle/>
          <a:p>
            <a:pPr indent="0" marL="0">
              <a:buNone/>
            </a:pPr>
            <a:r>
              <a:rPr lang="en-US" sz="950" i="1" dirty="0">
                <a:solidFill>
                  <a:srgbClr val="028090"/>
                </a:solidFill>
                <a:latin typeface="Segoe UI" pitchFamily="34" charset="0"/>
                <a:ea typeface="Segoe UI" pitchFamily="34" charset="-122"/>
                <a:cs typeface="Segoe UI" pitchFamily="34" charset="-120"/>
              </a:rPr>
              <a:t>Đóng góp nổi bật: bộ đánh giá định lượng chuẩn y khoa trên toàn bộ 3.929 lát cắt và Web Demo tái lập được kết quả.</a:t>
            </a:r>
            <a:endParaRPr lang="en-US" sz="950" dirty="0"/>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400"/>
                                        <p:tgtEl>
                                          <p:spTgt spid="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fade">
                                      <p:cBhvr>
                                        <p:cTn id="115" dur="400"/>
                                        <p:tgtEl>
                                          <p:spTgt spid="1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2"/>
                                        </p:tgtEl>
                                        <p:attrNameLst>
                                          <p:attrName>style.visibility</p:attrName>
                                        </p:attrNameLst>
                                      </p:cBhvr>
                                      <p:to>
                                        <p:strVal val="visible"/>
                                      </p:to>
                                    </p:set>
                                    <p:animEffect transition="in" filter="fade">
                                      <p:cBhvr>
                                        <p:cTn id="118" dur="400"/>
                                        <p:tgtEl>
                                          <p:spTgt spid="1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3"/>
                                        </p:tgtEl>
                                        <p:attrNameLst>
                                          <p:attrName>style.visibility</p:attrName>
                                        </p:attrNameLst>
                                      </p:cBhvr>
                                      <p:to>
                                        <p:strVal val="visible"/>
                                      </p:to>
                                    </p:set>
                                    <p:animEffect transition="in" filter="fade">
                                      <p:cBhvr>
                                        <p:cTn id="121" dur="400"/>
                                        <p:tgtEl>
                                          <p:spTgt spid="1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4"/>
                                        </p:tgtEl>
                                        <p:attrNameLst>
                                          <p:attrName>style.visibility</p:attrName>
                                        </p:attrNameLst>
                                      </p:cBhvr>
                                      <p:to>
                                        <p:strVal val="visible"/>
                                      </p:to>
                                    </p:set>
                                    <p:animEffect transition="in" filter="fade">
                                      <p:cBhvr>
                                        <p:cTn id="124" dur="400"/>
                                        <p:tgtEl>
                                          <p:spTgt spid="14"/>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10"/>
                                        </p:tgtEl>
                                        <p:attrNameLst>
                                          <p:attrName>style.visibility</p:attrName>
                                        </p:attrNameLst>
                                      </p:cBhvr>
                                      <p:to>
                                        <p:strVal val="visible"/>
                                      </p:to>
                                    </p:set>
                                    <p:animEffect transition="in" filter="fade">
                                      <p:cBhvr>
                                        <p:cTn id="127" dur="400"/>
                                        <p:tgtEl>
                                          <p:spTgt spid="10"/>
                                        </p:tgtEl>
                                      </p:cBhvr>
                                    </p:animEffect>
                                  </p:childTnLst>
                                </p:cTn>
                              </p:par>
                              <p:par>
                                <p:cTn id="128" presetID="10" presetClass="entr" presetSubtype="0" fill="hold" grpId="0" nodeType="withEffect">
                                  <p:stCondLst>
                                    <p:cond delay="280"/>
                                  </p:stCondLst>
                                  <p:childTnLst>
                                    <p:set>
                                      <p:cBhvr>
                                        <p:cTn id="129" dur="1" fill="hold">
                                          <p:stCondLst>
                                            <p:cond delay="0"/>
                                          </p:stCondLst>
                                        </p:cTn>
                                        <p:tgtEl>
                                          <p:spTgt spid="15"/>
                                        </p:tgtEl>
                                        <p:attrNameLst>
                                          <p:attrName>style.visibility</p:attrName>
                                        </p:attrNameLst>
                                      </p:cBhvr>
                                      <p:to>
                                        <p:strVal val="visible"/>
                                      </p:to>
                                    </p:set>
                                    <p:animEffect transition="in" filter="fade">
                                      <p:cBhvr>
                                        <p:cTn id="130" dur="400"/>
                                        <p:tgtEl>
                                          <p:spTgt spid="15"/>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16"/>
                                        </p:tgtEl>
                                        <p:attrNameLst>
                                          <p:attrName>style.visibility</p:attrName>
                                        </p:attrNameLst>
                                      </p:cBhvr>
                                      <p:to>
                                        <p:strVal val="visible"/>
                                      </p:to>
                                    </p:set>
                                    <p:animEffect transition="in" filter="fade">
                                      <p:cBhvr>
                                        <p:cTn id="133" dur="400"/>
                                        <p:tgtEl>
                                          <p:spTgt spid="16"/>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21"/>
                                        </p:tgtEl>
                                        <p:attrNameLst>
                                          <p:attrName>style.visibility</p:attrName>
                                        </p:attrNameLst>
                                      </p:cBhvr>
                                      <p:to>
                                        <p:strVal val="visible"/>
                                      </p:to>
                                    </p:set>
                                    <p:animEffect transition="in" filter="fade">
                                      <p:cBhvr>
                                        <p:cTn id="136" dur="400"/>
                                        <p:tgtEl>
                                          <p:spTgt spid="21"/>
                                        </p:tgtEl>
                                      </p:cBhvr>
                                    </p:animEffect>
                                  </p:childTnLst>
                                </p:cTn>
                              </p:par>
                              <p:par>
                                <p:cTn id="137" presetID="10" presetClass="entr" presetSubtype="0" fill="hold" grpId="0" nodeType="withEffect">
                                  <p:stCondLst>
                                    <p:cond delay="840"/>
                                  </p:stCondLst>
                                  <p:childTnLst>
                                    <p:set>
                                      <p:cBhvr>
                                        <p:cTn id="138" dur="1" fill="hold">
                                          <p:stCondLst>
                                            <p:cond delay="0"/>
                                          </p:stCondLst>
                                        </p:cTn>
                                        <p:tgtEl>
                                          <p:spTgt spid="17"/>
                                        </p:tgtEl>
                                        <p:attrNameLst>
                                          <p:attrName>style.visibility</p:attrName>
                                        </p:attrNameLst>
                                      </p:cBhvr>
                                      <p:to>
                                        <p:strVal val="visible"/>
                                      </p:to>
                                    </p:set>
                                    <p:animEffect transition="in" filter="fade">
                                      <p:cBhvr>
                                        <p:cTn id="139" dur="400"/>
                                        <p:tgtEl>
                                          <p:spTgt spid="17"/>
                                        </p:tgtEl>
                                      </p:cBhvr>
                                    </p:animEffect>
                                  </p:childTnLst>
                                </p:cTn>
                              </p:par>
                              <p:par>
                                <p:cTn id="140" presetID="10" presetClass="entr" presetSubtype="0" fill="hold" grpId="0" nodeType="withEffect">
                                  <p:stCondLst>
                                    <p:cond delay="840"/>
                                  </p:stCondLst>
                                  <p:childTnLst>
                                    <p:set>
                                      <p:cBhvr>
                                        <p:cTn id="141" dur="1" fill="hold">
                                          <p:stCondLst>
                                            <p:cond delay="0"/>
                                          </p:stCondLst>
                                        </p:cTn>
                                        <p:tgtEl>
                                          <p:spTgt spid="18"/>
                                        </p:tgtEl>
                                        <p:attrNameLst>
                                          <p:attrName>style.visibility</p:attrName>
                                        </p:attrNameLst>
                                      </p:cBhvr>
                                      <p:to>
                                        <p:strVal val="visible"/>
                                      </p:to>
                                    </p:set>
                                    <p:animEffect transition="in" filter="fade">
                                      <p:cBhvr>
                                        <p:cTn id="142" dur="400"/>
                                        <p:tgtEl>
                                          <p:spTgt spid="18"/>
                                        </p:tgtEl>
                                      </p:cBhvr>
                                    </p:animEffect>
                                  </p:childTnLst>
                                </p:cTn>
                              </p:par>
                              <p:par>
                                <p:cTn id="143" presetID="10" presetClass="entr" presetSubtype="0" fill="hold" grpId="0" nodeType="withEffect">
                                  <p:stCondLst>
                                    <p:cond delay="840"/>
                                  </p:stCondLst>
                                  <p:childTnLst>
                                    <p:set>
                                      <p:cBhvr>
                                        <p:cTn id="144" dur="1" fill="hold">
                                          <p:stCondLst>
                                            <p:cond delay="0"/>
                                          </p:stCondLst>
                                        </p:cTn>
                                        <p:tgtEl>
                                          <p:spTgt spid="19"/>
                                        </p:tgtEl>
                                        <p:attrNameLst>
                                          <p:attrName>style.visibility</p:attrName>
                                        </p:attrNameLst>
                                      </p:cBhvr>
                                      <p:to>
                                        <p:strVal val="visible"/>
                                      </p:to>
                                    </p:set>
                                    <p:animEffect transition="in" filter="fade">
                                      <p:cBhvr>
                                        <p:cTn id="145" dur="400"/>
                                        <p:tgtEl>
                                          <p:spTgt spid="19"/>
                                        </p:tgtEl>
                                      </p:cBhvr>
                                    </p:animEffect>
                                  </p:childTnLst>
                                </p:cTn>
                              </p:par>
                              <p:par>
                                <p:cTn id="146" presetID="10" presetClass="entr" presetSubtype="0" fill="hold" grpId="0" nodeType="withEffect">
                                  <p:stCondLst>
                                    <p:cond delay="840"/>
                                  </p:stCondLst>
                                  <p:childTnLst>
                                    <p:set>
                                      <p:cBhvr>
                                        <p:cTn id="147" dur="1" fill="hold">
                                          <p:stCondLst>
                                            <p:cond delay="0"/>
                                          </p:stCondLst>
                                        </p:cTn>
                                        <p:tgtEl>
                                          <p:spTgt spid="20"/>
                                        </p:tgtEl>
                                        <p:attrNameLst>
                                          <p:attrName>style.visibility</p:attrName>
                                        </p:attrNameLst>
                                      </p:cBhvr>
                                      <p:to>
                                        <p:strVal val="visible"/>
                                      </p:to>
                                    </p:set>
                                    <p:animEffect transition="in" filter="fade">
                                      <p:cBhvr>
                                        <p:cTn id="148" dur="400"/>
                                        <p:tgtEl>
                                          <p:spTgt spid="20"/>
                                        </p:tgtEl>
                                      </p:cBhvr>
                                    </p:animEffect>
                                  </p:childTnLst>
                                </p:cTn>
                              </p:par>
                              <p:par>
                                <p:cTn id="149" presetID="10" presetClass="entr" presetSubtype="0" fill="hold" grpId="0" nodeType="withEffect">
                                  <p:stCondLst>
                                    <p:cond delay="840"/>
                                  </p:stCondLst>
                                  <p:childTnLst>
                                    <p:set>
                                      <p:cBhvr>
                                        <p:cTn id="150" dur="1" fill="hold">
                                          <p:stCondLst>
                                            <p:cond delay="0"/>
                                          </p:stCondLst>
                                        </p:cTn>
                                        <p:tgtEl>
                                          <p:spTgt spid="22"/>
                                        </p:tgtEl>
                                        <p:attrNameLst>
                                          <p:attrName>style.visibility</p:attrName>
                                        </p:attrNameLst>
                                      </p:cBhvr>
                                      <p:to>
                                        <p:strVal val="visible"/>
                                      </p:to>
                                    </p:set>
                                    <p:animEffect transition="in" filter="fade">
                                      <p:cBhvr>
                                        <p:cTn id="151" dur="400"/>
                                        <p:tgtEl>
                                          <p:spTgt spid="22"/>
                                        </p:tgtEl>
                                      </p:cBhvr>
                                    </p:animEffect>
                                  </p:childTnLst>
                                </p:cTn>
                              </p:par>
                              <p:par>
                                <p:cTn id="152" presetID="10" presetClass="entr" presetSubtype="0" fill="hold" grpId="0" nodeType="withEffect">
                                  <p:stCondLst>
                                    <p:cond delay="840"/>
                                  </p:stCondLst>
                                  <p:childTnLst>
                                    <p:set>
                                      <p:cBhvr>
                                        <p:cTn id="153" dur="1" fill="hold">
                                          <p:stCondLst>
                                            <p:cond delay="0"/>
                                          </p:stCondLst>
                                        </p:cTn>
                                        <p:tgtEl>
                                          <p:spTgt spid="23"/>
                                        </p:tgtEl>
                                        <p:attrNameLst>
                                          <p:attrName>style.visibility</p:attrName>
                                        </p:attrNameLst>
                                      </p:cBhvr>
                                      <p:to>
                                        <p:strVal val="visible"/>
                                      </p:to>
                                    </p:set>
                                    <p:animEffect transition="in" filter="fade">
                                      <p:cBhvr>
                                        <p:cTn id="154" dur="400"/>
                                        <p:tgtEl>
                                          <p:spTgt spid="23"/>
                                        </p:tgtEl>
                                      </p:cBhvr>
                                    </p:animEffect>
                                  </p:childTnLst>
                                </p:cTn>
                              </p:par>
                              <p:par>
                                <p:cTn id="155" presetID="10" presetClass="entr" presetSubtype="0" fill="hold" grpId="0" nodeType="withEffect">
                                  <p:stCondLst>
                                    <p:cond delay="84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400"/>
                                        <p:tgtEl>
                                          <p:spTgt spid="24"/>
                                        </p:tgtEl>
                                      </p:cBhvr>
                                    </p:animEffect>
                                  </p:childTnLst>
                                </p:cTn>
                              </p:par>
                              <p:par>
                                <p:cTn id="158" presetID="10" presetClass="entr" presetSubtype="0" fill="hold" grpId="0" nodeType="withEffect">
                                  <p:stCondLst>
                                    <p:cond delay="840"/>
                                  </p:stCondLst>
                                  <p:childTnLst>
                                    <p:set>
                                      <p:cBhvr>
                                        <p:cTn id="159" dur="1" fill="hold">
                                          <p:stCondLst>
                                            <p:cond delay="0"/>
                                          </p:stCondLst>
                                        </p:cTn>
                                        <p:tgtEl>
                                          <p:spTgt spid="25"/>
                                        </p:tgtEl>
                                        <p:attrNameLst>
                                          <p:attrName>style.visibility</p:attrName>
                                        </p:attrNameLst>
                                      </p:cBhvr>
                                      <p:to>
                                        <p:strVal val="visible"/>
                                      </p:to>
                                    </p:set>
                                    <p:animEffect transition="in" filter="fade">
                                      <p:cBhvr>
                                        <p:cTn id="160" dur="400"/>
                                        <p:tgtEl>
                                          <p:spTgt spid="25"/>
                                        </p:tgtEl>
                                      </p:cBhvr>
                                    </p:animEffect>
                                  </p:childTnLst>
                                </p:cTn>
                              </p:par>
                              <p:par>
                                <p:cTn id="161" presetID="10" presetClass="entr" presetSubtype="0" fill="hold" grpId="0" nodeType="withEffect">
                                  <p:stCondLst>
                                    <p:cond delay="1120"/>
                                  </p:stCondLst>
                                  <p:childTnLst>
                                    <p:set>
                                      <p:cBhvr>
                                        <p:cTn id="162" dur="1" fill="hold">
                                          <p:stCondLst>
                                            <p:cond delay="0"/>
                                          </p:stCondLst>
                                        </p:cTn>
                                        <p:tgtEl>
                                          <p:spTgt spid="26"/>
                                        </p:tgtEl>
                                        <p:attrNameLst>
                                          <p:attrName>style.visibility</p:attrName>
                                        </p:attrNameLst>
                                      </p:cBhvr>
                                      <p:to>
                                        <p:strVal val="visible"/>
                                      </p:to>
                                    </p:set>
                                    <p:animEffect transition="in" filter="fade">
                                      <p:cBhvr>
                                        <p:cTn id="163"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03  ·  KIẾN TRÚC HỆ THỐNG</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Pipeline xử lý ảnh số 4 tầng</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04 / 20</a:t>
            </a:r>
            <a:endParaRPr lang="en-US" sz="800" dirty="0"/>
          </a:p>
        </p:txBody>
      </p:sp>
      <p:sp>
        <p:nvSpPr>
          <p:cNvPr id="6" name="Shape 4"/>
          <p:cNvSpPr/>
          <p:nvPr/>
        </p:nvSpPr>
        <p:spPr>
          <a:xfrm>
            <a:off x="502920" y="1243584"/>
            <a:ext cx="8138160" cy="749808"/>
          </a:xfrm>
          <a:prstGeom prst="roundRect">
            <a:avLst>
              <a:gd name="adj" fmla="val 7317"/>
            </a:avLst>
          </a:prstGeom>
          <a:solidFill>
            <a:srgbClr val="FFFFFF"/>
          </a:solidFill>
          <a:ln w="9525">
            <a:solidFill>
              <a:srgbClr val="D1E3E8"/>
            </a:solidFill>
            <a:prstDash val="solid"/>
          </a:ln>
          <a:effectLst>
            <a:outerShdw sx="100000" sy="100000" kx="0" ky="0" algn="bl" rotWithShape="0" blurRad="4.471758777120074e+53" dist="2.235879388560037e+53" dir="1.1754624614400003e+64">
              <a:srgbClr val="0B2B3C">
                <a:alpha val="9.999999999999999e+63"/>
              </a:srgbClr>
            </a:outerShdw>
          </a:effectLst>
        </p:spPr>
      </p:sp>
      <p:sp>
        <p:nvSpPr>
          <p:cNvPr id="7" name="Shape 5"/>
          <p:cNvSpPr/>
          <p:nvPr/>
        </p:nvSpPr>
        <p:spPr>
          <a:xfrm>
            <a:off x="630936" y="1389888"/>
            <a:ext cx="566928" cy="457200"/>
          </a:xfrm>
          <a:prstGeom prst="roundRect">
            <a:avLst>
              <a:gd name="adj" fmla="val 10000"/>
            </a:avLst>
          </a:prstGeom>
          <a:solidFill>
            <a:srgbClr val="065A82"/>
          </a:solidFill>
          <a:ln w="9525">
            <a:solidFill>
              <a:srgbClr val="065A82"/>
            </a:solidFill>
            <a:prstDash val="solid"/>
          </a:ln>
        </p:spPr>
      </p:sp>
      <p:sp>
        <p:nvSpPr>
          <p:cNvPr id="8" name="Text 6"/>
          <p:cNvSpPr/>
          <p:nvPr/>
        </p:nvSpPr>
        <p:spPr>
          <a:xfrm>
            <a:off x="630936" y="1389888"/>
            <a:ext cx="566928" cy="45720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T1</a:t>
            </a:r>
            <a:endParaRPr lang="en-US" sz="1200" dirty="0"/>
          </a:p>
        </p:txBody>
      </p:sp>
      <p:sp>
        <p:nvSpPr>
          <p:cNvPr id="9" name="Text 7"/>
          <p:cNvSpPr/>
          <p:nvPr/>
        </p:nvSpPr>
        <p:spPr>
          <a:xfrm>
            <a:off x="1344168" y="1353312"/>
            <a:ext cx="3017520" cy="237744"/>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Tiền xử lý</a:t>
            </a:r>
            <a:endParaRPr lang="en-US" sz="1150" dirty="0"/>
          </a:p>
        </p:txBody>
      </p:sp>
      <p:sp>
        <p:nvSpPr>
          <p:cNvPr id="10" name="Text 8"/>
          <p:cNvSpPr/>
          <p:nvPr/>
        </p:nvSpPr>
        <p:spPr>
          <a:xfrm>
            <a:off x="1344168" y="1609344"/>
            <a:ext cx="4206240" cy="292608"/>
          </a:xfrm>
          <a:prstGeom prst="rect">
            <a:avLst/>
          </a:prstGeom>
          <a:noFill/>
          <a:ln/>
        </p:spPr>
        <p:txBody>
          <a:bodyPr wrap="square" lIns="0" tIns="0" rIns="0" bIns="0" rtlCol="0" anchor="ctr"/>
          <a:lstStyle/>
          <a:p>
            <a:pPr indent="0" marL="0">
              <a:buNone/>
            </a:pPr>
            <a:r>
              <a:rPr lang="en-US" sz="900" dirty="0">
                <a:solidFill>
                  <a:srgbClr val="5F7186"/>
                </a:solidFill>
                <a:latin typeface="Segoe UI" pitchFamily="34" charset="0"/>
                <a:ea typeface="Segoe UI" pitchFamily="34" charset="-122"/>
                <a:cs typeface="Segoe UI" pitchFamily="34" charset="-120"/>
              </a:rPr>
              <a:t>Bilateral Filter khử nhiễu giữ cạnh + CLAHE cân bằng tương phản cục bộ</a:t>
            </a:r>
            <a:endParaRPr lang="en-US" sz="900" dirty="0"/>
          </a:p>
        </p:txBody>
      </p:sp>
      <p:sp>
        <p:nvSpPr>
          <p:cNvPr id="11" name="Shape 9"/>
          <p:cNvSpPr/>
          <p:nvPr/>
        </p:nvSpPr>
        <p:spPr>
          <a:xfrm>
            <a:off x="7072884" y="1481328"/>
            <a:ext cx="781812" cy="274320"/>
          </a:xfrm>
          <a:prstGeom prst="roundRect">
            <a:avLst>
              <a:gd name="adj" fmla="val 13333"/>
            </a:avLst>
          </a:prstGeom>
          <a:solidFill>
            <a:srgbClr val="E3F1F4"/>
          </a:solidFill>
          <a:ln w="9525">
            <a:solidFill>
              <a:srgbClr val="D1E3E8"/>
            </a:solidFill>
            <a:prstDash val="solid"/>
          </a:ln>
        </p:spPr>
      </p:sp>
      <p:sp>
        <p:nvSpPr>
          <p:cNvPr id="12" name="Text 10"/>
          <p:cNvSpPr/>
          <p:nvPr/>
        </p:nvSpPr>
        <p:spPr>
          <a:xfrm>
            <a:off x="7164324" y="1481328"/>
            <a:ext cx="598932"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Bilateral</a:t>
            </a:r>
            <a:endParaRPr lang="en-US" sz="800" dirty="0"/>
          </a:p>
        </p:txBody>
      </p:sp>
      <p:sp>
        <p:nvSpPr>
          <p:cNvPr id="13" name="Shape 11"/>
          <p:cNvSpPr/>
          <p:nvPr/>
        </p:nvSpPr>
        <p:spPr>
          <a:xfrm>
            <a:off x="7946136" y="1481328"/>
            <a:ext cx="548640" cy="274320"/>
          </a:xfrm>
          <a:prstGeom prst="roundRect">
            <a:avLst>
              <a:gd name="adj" fmla="val 13333"/>
            </a:avLst>
          </a:prstGeom>
          <a:solidFill>
            <a:srgbClr val="E3F1F4"/>
          </a:solidFill>
          <a:ln w="9525">
            <a:solidFill>
              <a:srgbClr val="D1E3E8"/>
            </a:solidFill>
            <a:prstDash val="solid"/>
          </a:ln>
        </p:spPr>
      </p:sp>
      <p:sp>
        <p:nvSpPr>
          <p:cNvPr id="14" name="Text 12"/>
          <p:cNvSpPr/>
          <p:nvPr/>
        </p:nvSpPr>
        <p:spPr>
          <a:xfrm>
            <a:off x="8037576" y="1481328"/>
            <a:ext cx="365760"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CLAHE</a:t>
            </a:r>
            <a:endParaRPr lang="en-US" sz="800" dirty="0"/>
          </a:p>
        </p:txBody>
      </p:sp>
      <p:sp>
        <p:nvSpPr>
          <p:cNvPr id="15" name="Shape 13"/>
          <p:cNvSpPr/>
          <p:nvPr/>
        </p:nvSpPr>
        <p:spPr>
          <a:xfrm>
            <a:off x="502920" y="2084832"/>
            <a:ext cx="8138160" cy="749808"/>
          </a:xfrm>
          <a:prstGeom prst="roundRect">
            <a:avLst>
              <a:gd name="adj" fmla="val 7317"/>
            </a:avLst>
          </a:prstGeom>
          <a:solidFill>
            <a:srgbClr val="FFFFFF"/>
          </a:solidFill>
          <a:ln w="9525">
            <a:solidFill>
              <a:srgbClr val="D1E3E8"/>
            </a:solidFill>
            <a:prstDash val="solid"/>
          </a:ln>
          <a:effectLst>
            <a:outerShdw sx="100000" sy="100000" kx="0" ky="0" algn="bl" rotWithShape="0" blurRad="5.679133646942494e+57" dist="2.839566823471247e+57" dir="7.052774768640002e+68">
              <a:srgbClr val="0B2B3C">
                <a:alpha val="9.999999999999999e+68"/>
              </a:srgbClr>
            </a:outerShdw>
          </a:effectLst>
        </p:spPr>
      </p:sp>
      <p:sp>
        <p:nvSpPr>
          <p:cNvPr id="16" name="Shape 14"/>
          <p:cNvSpPr/>
          <p:nvPr/>
        </p:nvSpPr>
        <p:spPr>
          <a:xfrm>
            <a:off x="630936" y="2231136"/>
            <a:ext cx="566928" cy="457200"/>
          </a:xfrm>
          <a:prstGeom prst="roundRect">
            <a:avLst>
              <a:gd name="adj" fmla="val 10000"/>
            </a:avLst>
          </a:prstGeom>
          <a:solidFill>
            <a:srgbClr val="028090"/>
          </a:solidFill>
          <a:ln w="9525">
            <a:solidFill>
              <a:srgbClr val="028090"/>
            </a:solidFill>
            <a:prstDash val="solid"/>
          </a:ln>
        </p:spPr>
      </p:sp>
      <p:sp>
        <p:nvSpPr>
          <p:cNvPr id="17" name="Text 15"/>
          <p:cNvSpPr/>
          <p:nvPr/>
        </p:nvSpPr>
        <p:spPr>
          <a:xfrm>
            <a:off x="630936" y="2231136"/>
            <a:ext cx="566928" cy="45720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T2</a:t>
            </a:r>
            <a:endParaRPr lang="en-US" sz="1200" dirty="0"/>
          </a:p>
        </p:txBody>
      </p:sp>
      <p:sp>
        <p:nvSpPr>
          <p:cNvPr id="18" name="Text 16"/>
          <p:cNvSpPr/>
          <p:nvPr/>
        </p:nvSpPr>
        <p:spPr>
          <a:xfrm>
            <a:off x="1344168" y="2194560"/>
            <a:ext cx="3017520" cy="237744"/>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Tách sọ não (Skull Stripping)</a:t>
            </a:r>
            <a:endParaRPr lang="en-US" sz="1150" dirty="0"/>
          </a:p>
        </p:txBody>
      </p:sp>
      <p:sp>
        <p:nvSpPr>
          <p:cNvPr id="19" name="Text 17"/>
          <p:cNvSpPr/>
          <p:nvPr/>
        </p:nvSpPr>
        <p:spPr>
          <a:xfrm>
            <a:off x="1344168" y="2450592"/>
            <a:ext cx="4206240" cy="292608"/>
          </a:xfrm>
          <a:prstGeom prst="rect">
            <a:avLst/>
          </a:prstGeom>
          <a:noFill/>
          <a:ln/>
        </p:spPr>
        <p:txBody>
          <a:bodyPr wrap="square" lIns="0" tIns="0" rIns="0" bIns="0" rtlCol="0" anchor="ctr"/>
          <a:lstStyle/>
          <a:p>
            <a:pPr indent="0" marL="0">
              <a:buNone/>
            </a:pPr>
            <a:r>
              <a:rPr lang="en-US" sz="900" dirty="0">
                <a:solidFill>
                  <a:srgbClr val="5F7186"/>
                </a:solidFill>
                <a:latin typeface="Segoe UI" pitchFamily="34" charset="0"/>
                <a:ea typeface="Segoe UI" pitchFamily="34" charset="-122"/>
                <a:cs typeface="Segoe UI" pitchFamily="34" charset="-120"/>
              </a:rPr>
              <a:t>Sáu bước hình thái học trích xuất Brain Mask sạch xương sọ và mô mềm</a:t>
            </a:r>
            <a:endParaRPr lang="en-US" sz="900" dirty="0"/>
          </a:p>
        </p:txBody>
      </p:sp>
      <p:sp>
        <p:nvSpPr>
          <p:cNvPr id="20" name="Shape 18"/>
          <p:cNvSpPr/>
          <p:nvPr/>
        </p:nvSpPr>
        <p:spPr>
          <a:xfrm>
            <a:off x="5628132" y="2322576"/>
            <a:ext cx="548640" cy="274320"/>
          </a:xfrm>
          <a:prstGeom prst="roundRect">
            <a:avLst>
              <a:gd name="adj" fmla="val 13333"/>
            </a:avLst>
          </a:prstGeom>
          <a:solidFill>
            <a:srgbClr val="E3F1F4"/>
          </a:solidFill>
          <a:ln w="9525">
            <a:solidFill>
              <a:srgbClr val="D1E3E8"/>
            </a:solidFill>
            <a:prstDash val="solid"/>
          </a:ln>
        </p:spPr>
      </p:sp>
      <p:sp>
        <p:nvSpPr>
          <p:cNvPr id="21" name="Text 19"/>
          <p:cNvSpPr/>
          <p:nvPr/>
        </p:nvSpPr>
        <p:spPr>
          <a:xfrm>
            <a:off x="5719572" y="2322576"/>
            <a:ext cx="365760"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Otsu</a:t>
            </a:r>
            <a:endParaRPr lang="en-US" sz="800" dirty="0"/>
          </a:p>
        </p:txBody>
      </p:sp>
      <p:sp>
        <p:nvSpPr>
          <p:cNvPr id="22" name="Shape 20"/>
          <p:cNvSpPr/>
          <p:nvPr/>
        </p:nvSpPr>
        <p:spPr>
          <a:xfrm>
            <a:off x="6268212" y="2322576"/>
            <a:ext cx="644652" cy="274320"/>
          </a:xfrm>
          <a:prstGeom prst="roundRect">
            <a:avLst>
              <a:gd name="adj" fmla="val 13333"/>
            </a:avLst>
          </a:prstGeom>
          <a:solidFill>
            <a:srgbClr val="E3F1F4"/>
          </a:solidFill>
          <a:ln w="9525">
            <a:solidFill>
              <a:srgbClr val="D1E3E8"/>
            </a:solidFill>
            <a:prstDash val="solid"/>
          </a:ln>
        </p:spPr>
      </p:sp>
      <p:sp>
        <p:nvSpPr>
          <p:cNvPr id="23" name="Text 21"/>
          <p:cNvSpPr/>
          <p:nvPr/>
        </p:nvSpPr>
        <p:spPr>
          <a:xfrm>
            <a:off x="6359652" y="2322576"/>
            <a:ext cx="461772"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Opening</a:t>
            </a:r>
            <a:endParaRPr lang="en-US" sz="800" dirty="0"/>
          </a:p>
        </p:txBody>
      </p:sp>
      <p:sp>
        <p:nvSpPr>
          <p:cNvPr id="24" name="Shape 22"/>
          <p:cNvSpPr/>
          <p:nvPr/>
        </p:nvSpPr>
        <p:spPr>
          <a:xfrm>
            <a:off x="7004304" y="2322576"/>
            <a:ext cx="548640" cy="274320"/>
          </a:xfrm>
          <a:prstGeom prst="roundRect">
            <a:avLst>
              <a:gd name="adj" fmla="val 13333"/>
            </a:avLst>
          </a:prstGeom>
          <a:solidFill>
            <a:srgbClr val="E3F1F4"/>
          </a:solidFill>
          <a:ln w="9525">
            <a:solidFill>
              <a:srgbClr val="D1E3E8"/>
            </a:solidFill>
            <a:prstDash val="solid"/>
          </a:ln>
        </p:spPr>
      </p:sp>
      <p:sp>
        <p:nvSpPr>
          <p:cNvPr id="25" name="Text 23"/>
          <p:cNvSpPr/>
          <p:nvPr/>
        </p:nvSpPr>
        <p:spPr>
          <a:xfrm>
            <a:off x="7095744" y="2322576"/>
            <a:ext cx="365760"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LCC</a:t>
            </a:r>
            <a:endParaRPr lang="en-US" sz="800" dirty="0"/>
          </a:p>
        </p:txBody>
      </p:sp>
      <p:sp>
        <p:nvSpPr>
          <p:cNvPr id="26" name="Shape 24"/>
          <p:cNvSpPr/>
          <p:nvPr/>
        </p:nvSpPr>
        <p:spPr>
          <a:xfrm>
            <a:off x="7644384" y="2322576"/>
            <a:ext cx="850392" cy="274320"/>
          </a:xfrm>
          <a:prstGeom prst="roundRect">
            <a:avLst>
              <a:gd name="adj" fmla="val 13333"/>
            </a:avLst>
          </a:prstGeom>
          <a:solidFill>
            <a:srgbClr val="E3F1F4"/>
          </a:solidFill>
          <a:ln w="9525">
            <a:solidFill>
              <a:srgbClr val="D1E3E8"/>
            </a:solidFill>
            <a:prstDash val="solid"/>
          </a:ln>
        </p:spPr>
      </p:sp>
      <p:sp>
        <p:nvSpPr>
          <p:cNvPr id="27" name="Text 25"/>
          <p:cNvSpPr/>
          <p:nvPr/>
        </p:nvSpPr>
        <p:spPr>
          <a:xfrm>
            <a:off x="7735824" y="2322576"/>
            <a:ext cx="667512"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Fill Holes</a:t>
            </a:r>
            <a:endParaRPr lang="en-US" sz="800" dirty="0"/>
          </a:p>
        </p:txBody>
      </p:sp>
      <p:sp>
        <p:nvSpPr>
          <p:cNvPr id="28" name="Shape 26"/>
          <p:cNvSpPr/>
          <p:nvPr/>
        </p:nvSpPr>
        <p:spPr>
          <a:xfrm>
            <a:off x="502920" y="2926080"/>
            <a:ext cx="8138160" cy="749808"/>
          </a:xfrm>
          <a:prstGeom prst="roundRect">
            <a:avLst>
              <a:gd name="adj" fmla="val 7317"/>
            </a:avLst>
          </a:prstGeom>
          <a:solidFill>
            <a:srgbClr val="FFFFFF"/>
          </a:solidFill>
          <a:ln w="9525">
            <a:solidFill>
              <a:srgbClr val="D1E3E8"/>
            </a:solidFill>
            <a:prstDash val="solid"/>
          </a:ln>
          <a:effectLst>
            <a:outerShdw sx="100000" sy="100000" kx="0" ky="0" algn="bl" rotWithShape="0" blurRad="7.212499731616968e+61" dist="3.606249865808484e+61" dir="4.2316648611840007e+73">
              <a:srgbClr val="0B2B3C">
                <a:alpha val="9.999999999999998e+73"/>
              </a:srgbClr>
            </a:outerShdw>
          </a:effectLst>
        </p:spPr>
      </p:sp>
      <p:sp>
        <p:nvSpPr>
          <p:cNvPr id="29" name="Shape 27"/>
          <p:cNvSpPr/>
          <p:nvPr/>
        </p:nvSpPr>
        <p:spPr>
          <a:xfrm>
            <a:off x="630936" y="3072384"/>
            <a:ext cx="566928" cy="457200"/>
          </a:xfrm>
          <a:prstGeom prst="roundRect">
            <a:avLst>
              <a:gd name="adj" fmla="val 10000"/>
            </a:avLst>
          </a:prstGeom>
          <a:solidFill>
            <a:srgbClr val="065A82"/>
          </a:solidFill>
          <a:ln w="9525">
            <a:solidFill>
              <a:srgbClr val="065A82"/>
            </a:solidFill>
            <a:prstDash val="solid"/>
          </a:ln>
        </p:spPr>
      </p:sp>
      <p:sp>
        <p:nvSpPr>
          <p:cNvPr id="30" name="Text 28"/>
          <p:cNvSpPr/>
          <p:nvPr/>
        </p:nvSpPr>
        <p:spPr>
          <a:xfrm>
            <a:off x="630936" y="3072384"/>
            <a:ext cx="566928" cy="45720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T3</a:t>
            </a:r>
            <a:endParaRPr lang="en-US" sz="1200" dirty="0"/>
          </a:p>
        </p:txBody>
      </p:sp>
      <p:sp>
        <p:nvSpPr>
          <p:cNvPr id="31" name="Text 29"/>
          <p:cNvSpPr/>
          <p:nvPr/>
        </p:nvSpPr>
        <p:spPr>
          <a:xfrm>
            <a:off x="1344168" y="3035808"/>
            <a:ext cx="3017520" cy="237744"/>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Phân đoạn khối u lõi</a:t>
            </a:r>
            <a:endParaRPr lang="en-US" sz="1150" dirty="0"/>
          </a:p>
        </p:txBody>
      </p:sp>
      <p:sp>
        <p:nvSpPr>
          <p:cNvPr id="32" name="Text 30"/>
          <p:cNvSpPr/>
          <p:nvPr/>
        </p:nvSpPr>
        <p:spPr>
          <a:xfrm>
            <a:off x="1344168" y="3291840"/>
            <a:ext cx="4206240" cy="292608"/>
          </a:xfrm>
          <a:prstGeom prst="rect">
            <a:avLst/>
          </a:prstGeom>
          <a:noFill/>
          <a:ln/>
        </p:spPr>
        <p:txBody>
          <a:bodyPr wrap="square" lIns="0" tIns="0" rIns="0" bIns="0" rtlCol="0" anchor="ctr"/>
          <a:lstStyle/>
          <a:p>
            <a:pPr indent="0" marL="0">
              <a:buNone/>
            </a:pPr>
            <a:r>
              <a:rPr lang="en-US" sz="900" dirty="0">
                <a:solidFill>
                  <a:srgbClr val="5F7186"/>
                </a:solidFill>
                <a:latin typeface="Segoe UI" pitchFamily="34" charset="0"/>
                <a:ea typeface="Segoe UI" pitchFamily="34" charset="-122"/>
                <a:cs typeface="Segoe UI" pitchFamily="34" charset="-120"/>
              </a:rPr>
              <a:t>Marker-controlled Watershed (baseline) và Seeded Region Growing (đối chứng)</a:t>
            </a:r>
            <a:endParaRPr lang="en-US" sz="900" dirty="0"/>
          </a:p>
        </p:txBody>
      </p:sp>
      <p:sp>
        <p:nvSpPr>
          <p:cNvPr id="33" name="Shape 31"/>
          <p:cNvSpPr/>
          <p:nvPr/>
        </p:nvSpPr>
        <p:spPr>
          <a:xfrm>
            <a:off x="6496812" y="3163824"/>
            <a:ext cx="781812" cy="274320"/>
          </a:xfrm>
          <a:prstGeom prst="roundRect">
            <a:avLst>
              <a:gd name="adj" fmla="val 13333"/>
            </a:avLst>
          </a:prstGeom>
          <a:solidFill>
            <a:srgbClr val="E3F1F4"/>
          </a:solidFill>
          <a:ln w="9525">
            <a:solidFill>
              <a:srgbClr val="D1E3E8"/>
            </a:solidFill>
            <a:prstDash val="solid"/>
          </a:ln>
        </p:spPr>
      </p:sp>
      <p:sp>
        <p:nvSpPr>
          <p:cNvPr id="34" name="Text 32"/>
          <p:cNvSpPr/>
          <p:nvPr/>
        </p:nvSpPr>
        <p:spPr>
          <a:xfrm>
            <a:off x="6588252" y="3163824"/>
            <a:ext cx="598932"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Watershed</a:t>
            </a:r>
            <a:endParaRPr lang="en-US" sz="800" dirty="0"/>
          </a:p>
        </p:txBody>
      </p:sp>
      <p:sp>
        <p:nvSpPr>
          <p:cNvPr id="35" name="Shape 33"/>
          <p:cNvSpPr/>
          <p:nvPr/>
        </p:nvSpPr>
        <p:spPr>
          <a:xfrm>
            <a:off x="7370064" y="3163824"/>
            <a:ext cx="1124712" cy="274320"/>
          </a:xfrm>
          <a:prstGeom prst="roundRect">
            <a:avLst>
              <a:gd name="adj" fmla="val 13333"/>
            </a:avLst>
          </a:prstGeom>
          <a:solidFill>
            <a:srgbClr val="E3F1F4"/>
          </a:solidFill>
          <a:ln w="9525">
            <a:solidFill>
              <a:srgbClr val="D1E3E8"/>
            </a:solidFill>
            <a:prstDash val="solid"/>
          </a:ln>
        </p:spPr>
      </p:sp>
      <p:sp>
        <p:nvSpPr>
          <p:cNvPr id="36" name="Text 34"/>
          <p:cNvSpPr/>
          <p:nvPr/>
        </p:nvSpPr>
        <p:spPr>
          <a:xfrm>
            <a:off x="7461504" y="3163824"/>
            <a:ext cx="941832"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Region Growing</a:t>
            </a:r>
            <a:endParaRPr lang="en-US" sz="800" dirty="0"/>
          </a:p>
        </p:txBody>
      </p:sp>
      <p:sp>
        <p:nvSpPr>
          <p:cNvPr id="37" name="Shape 35"/>
          <p:cNvSpPr/>
          <p:nvPr/>
        </p:nvSpPr>
        <p:spPr>
          <a:xfrm>
            <a:off x="502920" y="3767328"/>
            <a:ext cx="8138160" cy="749808"/>
          </a:xfrm>
          <a:prstGeom prst="roundRect">
            <a:avLst>
              <a:gd name="adj" fmla="val 7317"/>
            </a:avLst>
          </a:prstGeom>
          <a:solidFill>
            <a:srgbClr val="FFFFFF"/>
          </a:solidFill>
          <a:ln w="9525">
            <a:solidFill>
              <a:srgbClr val="D1E3E8"/>
            </a:solidFill>
            <a:prstDash val="solid"/>
          </a:ln>
          <a:effectLst>
            <a:outerShdw sx="100000" sy="100000" kx="0" ky="0" algn="bl" rotWithShape="0" blurRad="9.15987465915355e+65" dist="4.579937329576775e+65" dir="2.5389989167104004e+78">
              <a:srgbClr val="0B2B3C">
                <a:alpha val="9.999999999999998e+78"/>
              </a:srgbClr>
            </a:outerShdw>
          </a:effectLst>
        </p:spPr>
      </p:sp>
      <p:sp>
        <p:nvSpPr>
          <p:cNvPr id="38" name="Shape 36"/>
          <p:cNvSpPr/>
          <p:nvPr/>
        </p:nvSpPr>
        <p:spPr>
          <a:xfrm>
            <a:off x="630936" y="3913632"/>
            <a:ext cx="566928" cy="457200"/>
          </a:xfrm>
          <a:prstGeom prst="roundRect">
            <a:avLst>
              <a:gd name="adj" fmla="val 10000"/>
            </a:avLst>
          </a:prstGeom>
          <a:solidFill>
            <a:srgbClr val="028090"/>
          </a:solidFill>
          <a:ln w="9525">
            <a:solidFill>
              <a:srgbClr val="028090"/>
            </a:solidFill>
            <a:prstDash val="solid"/>
          </a:ln>
        </p:spPr>
      </p:sp>
      <p:sp>
        <p:nvSpPr>
          <p:cNvPr id="39" name="Text 37"/>
          <p:cNvSpPr/>
          <p:nvPr/>
        </p:nvSpPr>
        <p:spPr>
          <a:xfrm>
            <a:off x="630936" y="3913632"/>
            <a:ext cx="566928" cy="45720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T4</a:t>
            </a:r>
            <a:endParaRPr lang="en-US" sz="1200" dirty="0"/>
          </a:p>
        </p:txBody>
      </p:sp>
      <p:sp>
        <p:nvSpPr>
          <p:cNvPr id="40" name="Text 38"/>
          <p:cNvSpPr/>
          <p:nvPr/>
        </p:nvSpPr>
        <p:spPr>
          <a:xfrm>
            <a:off x="1344168" y="3877056"/>
            <a:ext cx="3017520" cy="237744"/>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Đặc trưng, đánh giá &amp; Demo</a:t>
            </a:r>
            <a:endParaRPr lang="en-US" sz="1150" dirty="0"/>
          </a:p>
        </p:txBody>
      </p:sp>
      <p:sp>
        <p:nvSpPr>
          <p:cNvPr id="41" name="Text 39"/>
          <p:cNvSpPr/>
          <p:nvPr/>
        </p:nvSpPr>
        <p:spPr>
          <a:xfrm>
            <a:off x="1344168" y="4133088"/>
            <a:ext cx="4206240" cy="292608"/>
          </a:xfrm>
          <a:prstGeom prst="rect">
            <a:avLst/>
          </a:prstGeom>
          <a:noFill/>
          <a:ln/>
        </p:spPr>
        <p:txBody>
          <a:bodyPr wrap="square" lIns="0" tIns="0" rIns="0" bIns="0" rtlCol="0" anchor="ctr"/>
          <a:lstStyle/>
          <a:p>
            <a:pPr indent="0" marL="0">
              <a:buNone/>
            </a:pPr>
            <a:r>
              <a:rPr lang="en-US" sz="900" dirty="0">
                <a:solidFill>
                  <a:srgbClr val="5F7186"/>
                </a:solidFill>
                <a:latin typeface="Segoe UI" pitchFamily="34" charset="0"/>
                <a:ea typeface="Segoe UI" pitchFamily="34" charset="-122"/>
                <a:cs typeface="Segoe UI" pitchFamily="34" charset="-120"/>
              </a:rPr>
              <a:t>Rút trích hình học, tính Dice/IoU trên 3.929 lát cắt, xuất giao diện bác sĩ</a:t>
            </a:r>
            <a:endParaRPr lang="en-US" sz="900" dirty="0"/>
          </a:p>
        </p:txBody>
      </p:sp>
      <p:sp>
        <p:nvSpPr>
          <p:cNvPr id="42" name="Shape 40"/>
          <p:cNvSpPr/>
          <p:nvPr/>
        </p:nvSpPr>
        <p:spPr>
          <a:xfrm>
            <a:off x="6172200" y="4005072"/>
            <a:ext cx="713232" cy="274320"/>
          </a:xfrm>
          <a:prstGeom prst="roundRect">
            <a:avLst>
              <a:gd name="adj" fmla="val 13333"/>
            </a:avLst>
          </a:prstGeom>
          <a:solidFill>
            <a:srgbClr val="E3F1F4"/>
          </a:solidFill>
          <a:ln w="9525">
            <a:solidFill>
              <a:srgbClr val="D1E3E8"/>
            </a:solidFill>
            <a:prstDash val="solid"/>
          </a:ln>
        </p:spPr>
      </p:sp>
      <p:sp>
        <p:nvSpPr>
          <p:cNvPr id="43" name="Text 41"/>
          <p:cNvSpPr/>
          <p:nvPr/>
        </p:nvSpPr>
        <p:spPr>
          <a:xfrm>
            <a:off x="6263640" y="4005072"/>
            <a:ext cx="530352"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Features</a:t>
            </a:r>
            <a:endParaRPr lang="en-US" sz="800" dirty="0"/>
          </a:p>
        </p:txBody>
      </p:sp>
      <p:sp>
        <p:nvSpPr>
          <p:cNvPr id="44" name="Shape 42"/>
          <p:cNvSpPr/>
          <p:nvPr/>
        </p:nvSpPr>
        <p:spPr>
          <a:xfrm>
            <a:off x="6976872" y="4005072"/>
            <a:ext cx="644652" cy="274320"/>
          </a:xfrm>
          <a:prstGeom prst="roundRect">
            <a:avLst>
              <a:gd name="adj" fmla="val 13333"/>
            </a:avLst>
          </a:prstGeom>
          <a:solidFill>
            <a:srgbClr val="E3F1F4"/>
          </a:solidFill>
          <a:ln w="9525">
            <a:solidFill>
              <a:srgbClr val="D1E3E8"/>
            </a:solidFill>
            <a:prstDash val="solid"/>
          </a:ln>
        </p:spPr>
      </p:sp>
      <p:sp>
        <p:nvSpPr>
          <p:cNvPr id="45" name="Text 43"/>
          <p:cNvSpPr/>
          <p:nvPr/>
        </p:nvSpPr>
        <p:spPr>
          <a:xfrm>
            <a:off x="7068312" y="4005072"/>
            <a:ext cx="461772"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Metrics</a:t>
            </a:r>
            <a:endParaRPr lang="en-US" sz="800" dirty="0"/>
          </a:p>
        </p:txBody>
      </p:sp>
      <p:sp>
        <p:nvSpPr>
          <p:cNvPr id="46" name="Shape 44"/>
          <p:cNvSpPr/>
          <p:nvPr/>
        </p:nvSpPr>
        <p:spPr>
          <a:xfrm>
            <a:off x="7712964" y="4005072"/>
            <a:ext cx="781812" cy="274320"/>
          </a:xfrm>
          <a:prstGeom prst="roundRect">
            <a:avLst>
              <a:gd name="adj" fmla="val 13333"/>
            </a:avLst>
          </a:prstGeom>
          <a:solidFill>
            <a:srgbClr val="E3F1F4"/>
          </a:solidFill>
          <a:ln w="9525">
            <a:solidFill>
              <a:srgbClr val="D1E3E8"/>
            </a:solidFill>
            <a:prstDash val="solid"/>
          </a:ln>
        </p:spPr>
      </p:sp>
      <p:sp>
        <p:nvSpPr>
          <p:cNvPr id="47" name="Text 45"/>
          <p:cNvSpPr/>
          <p:nvPr/>
        </p:nvSpPr>
        <p:spPr>
          <a:xfrm>
            <a:off x="7804404" y="4005072"/>
            <a:ext cx="598932" cy="274320"/>
          </a:xfrm>
          <a:prstGeom prst="rect">
            <a:avLst/>
          </a:prstGeom>
          <a:noFill/>
          <a:ln/>
        </p:spPr>
        <p:txBody>
          <a:bodyPr wrap="square" lIns="0" tIns="0" rIns="0" bIns="0" rtlCol="0" anchor="ctr"/>
          <a:lstStyle/>
          <a:p>
            <a:pPr algn="ctr" indent="0" marL="0">
              <a:buNone/>
            </a:pPr>
            <a:r>
              <a:rPr lang="en-US" sz="800" dirty="0">
                <a:solidFill>
                  <a:srgbClr val="065A82"/>
                </a:solidFill>
                <a:latin typeface="Segoe UI" pitchFamily="34" charset="0"/>
                <a:ea typeface="Segoe UI" pitchFamily="34" charset="-122"/>
                <a:cs typeface="Segoe UI" pitchFamily="34" charset="-120"/>
              </a:rPr>
              <a:t>Streamlit</a:t>
            </a:r>
            <a:endParaRPr lang="en-US" sz="8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400"/>
                                        <p:tgtEl>
                                          <p:spTgt spid="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fade">
                                      <p:cBhvr>
                                        <p:cTn id="115" dur="400"/>
                                        <p:tgtEl>
                                          <p:spTgt spid="1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2"/>
                                        </p:tgtEl>
                                        <p:attrNameLst>
                                          <p:attrName>style.visibility</p:attrName>
                                        </p:attrNameLst>
                                      </p:cBhvr>
                                      <p:to>
                                        <p:strVal val="visible"/>
                                      </p:to>
                                    </p:set>
                                    <p:animEffect transition="in" filter="fade">
                                      <p:cBhvr>
                                        <p:cTn id="118" dur="400"/>
                                        <p:tgtEl>
                                          <p:spTgt spid="1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3"/>
                                        </p:tgtEl>
                                        <p:attrNameLst>
                                          <p:attrName>style.visibility</p:attrName>
                                        </p:attrNameLst>
                                      </p:cBhvr>
                                      <p:to>
                                        <p:strVal val="visible"/>
                                      </p:to>
                                    </p:set>
                                    <p:animEffect transition="in" filter="fade">
                                      <p:cBhvr>
                                        <p:cTn id="121" dur="400"/>
                                        <p:tgtEl>
                                          <p:spTgt spid="1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4"/>
                                        </p:tgtEl>
                                        <p:attrNameLst>
                                          <p:attrName>style.visibility</p:attrName>
                                        </p:attrNameLst>
                                      </p:cBhvr>
                                      <p:to>
                                        <p:strVal val="visible"/>
                                      </p:to>
                                    </p:set>
                                    <p:animEffect transition="in" filter="fade">
                                      <p:cBhvr>
                                        <p:cTn id="124" dur="400"/>
                                        <p:tgtEl>
                                          <p:spTgt spid="14"/>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10"/>
                                        </p:tgtEl>
                                        <p:attrNameLst>
                                          <p:attrName>style.visibility</p:attrName>
                                        </p:attrNameLst>
                                      </p:cBhvr>
                                      <p:to>
                                        <p:strVal val="visible"/>
                                      </p:to>
                                    </p:set>
                                    <p:animEffect transition="in" filter="fade">
                                      <p:cBhvr>
                                        <p:cTn id="127" dur="400"/>
                                        <p:tgtEl>
                                          <p:spTgt spid="10"/>
                                        </p:tgtEl>
                                      </p:cBhvr>
                                    </p:animEffect>
                                  </p:childTnLst>
                                </p:cTn>
                              </p:par>
                              <p:par>
                                <p:cTn id="128" presetID="10" presetClass="entr" presetSubtype="0" fill="hold" grpId="0" nodeType="withEffect">
                                  <p:stCondLst>
                                    <p:cond delay="560"/>
                                  </p:stCondLst>
                                  <p:childTnLst>
                                    <p:set>
                                      <p:cBhvr>
                                        <p:cTn id="129" dur="1" fill="hold">
                                          <p:stCondLst>
                                            <p:cond delay="0"/>
                                          </p:stCondLst>
                                        </p:cTn>
                                        <p:tgtEl>
                                          <p:spTgt spid="15"/>
                                        </p:tgtEl>
                                        <p:attrNameLst>
                                          <p:attrName>style.visibility</p:attrName>
                                        </p:attrNameLst>
                                      </p:cBhvr>
                                      <p:to>
                                        <p:strVal val="visible"/>
                                      </p:to>
                                    </p:set>
                                    <p:animEffect transition="in" filter="fade">
                                      <p:cBhvr>
                                        <p:cTn id="130" dur="400"/>
                                        <p:tgtEl>
                                          <p:spTgt spid="15"/>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16"/>
                                        </p:tgtEl>
                                        <p:attrNameLst>
                                          <p:attrName>style.visibility</p:attrName>
                                        </p:attrNameLst>
                                      </p:cBhvr>
                                      <p:to>
                                        <p:strVal val="visible"/>
                                      </p:to>
                                    </p:set>
                                    <p:animEffect transition="in" filter="fade">
                                      <p:cBhvr>
                                        <p:cTn id="133" dur="400"/>
                                        <p:tgtEl>
                                          <p:spTgt spid="16"/>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17"/>
                                        </p:tgtEl>
                                        <p:attrNameLst>
                                          <p:attrName>style.visibility</p:attrName>
                                        </p:attrNameLst>
                                      </p:cBhvr>
                                      <p:to>
                                        <p:strVal val="visible"/>
                                      </p:to>
                                    </p:set>
                                    <p:animEffect transition="in" filter="fade">
                                      <p:cBhvr>
                                        <p:cTn id="136" dur="400"/>
                                        <p:tgtEl>
                                          <p:spTgt spid="17"/>
                                        </p:tgtEl>
                                      </p:cBhvr>
                                    </p:animEffect>
                                  </p:childTnLst>
                                </p:cTn>
                              </p:par>
                              <p:par>
                                <p:cTn id="137" presetID="10" presetClass="entr" presetSubtype="0" fill="hold" grpId="0" nodeType="withEffect">
                                  <p:stCondLst>
                                    <p:cond delay="560"/>
                                  </p:stCondLst>
                                  <p:childTnLst>
                                    <p:set>
                                      <p:cBhvr>
                                        <p:cTn id="138" dur="1" fill="hold">
                                          <p:stCondLst>
                                            <p:cond delay="0"/>
                                          </p:stCondLst>
                                        </p:cTn>
                                        <p:tgtEl>
                                          <p:spTgt spid="18"/>
                                        </p:tgtEl>
                                        <p:attrNameLst>
                                          <p:attrName>style.visibility</p:attrName>
                                        </p:attrNameLst>
                                      </p:cBhvr>
                                      <p:to>
                                        <p:strVal val="visible"/>
                                      </p:to>
                                    </p:set>
                                    <p:animEffect transition="in" filter="fade">
                                      <p:cBhvr>
                                        <p:cTn id="139" dur="400"/>
                                        <p:tgtEl>
                                          <p:spTgt spid="18"/>
                                        </p:tgtEl>
                                      </p:cBhvr>
                                    </p:animEffect>
                                  </p:childTnLst>
                                </p:cTn>
                              </p:par>
                              <p:par>
                                <p:cTn id="140" presetID="10" presetClass="entr" presetSubtype="0" fill="hold" grpId="0" nodeType="withEffect">
                                  <p:stCondLst>
                                    <p:cond delay="560"/>
                                  </p:stCondLst>
                                  <p:childTnLst>
                                    <p:set>
                                      <p:cBhvr>
                                        <p:cTn id="141" dur="1" fill="hold">
                                          <p:stCondLst>
                                            <p:cond delay="0"/>
                                          </p:stCondLst>
                                        </p:cTn>
                                        <p:tgtEl>
                                          <p:spTgt spid="19"/>
                                        </p:tgtEl>
                                        <p:attrNameLst>
                                          <p:attrName>style.visibility</p:attrName>
                                        </p:attrNameLst>
                                      </p:cBhvr>
                                      <p:to>
                                        <p:strVal val="visible"/>
                                      </p:to>
                                    </p:set>
                                    <p:animEffect transition="in" filter="fade">
                                      <p:cBhvr>
                                        <p:cTn id="142" dur="400"/>
                                        <p:tgtEl>
                                          <p:spTgt spid="19"/>
                                        </p:tgtEl>
                                      </p:cBhvr>
                                    </p:animEffect>
                                  </p:childTnLst>
                                </p:cTn>
                              </p:par>
                              <p:par>
                                <p:cTn id="143" presetID="10" presetClass="entr" presetSubtype="0" fill="hold" grpId="0" nodeType="withEffect">
                                  <p:stCondLst>
                                    <p:cond delay="56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400"/>
                                        <p:tgtEl>
                                          <p:spTgt spid="20"/>
                                        </p:tgtEl>
                                      </p:cBhvr>
                                    </p:animEffect>
                                  </p:childTnLst>
                                </p:cTn>
                              </p:par>
                              <p:par>
                                <p:cTn id="146" presetID="10" presetClass="entr" presetSubtype="0" fill="hold" grpId="0" nodeType="withEffect">
                                  <p:stCondLst>
                                    <p:cond delay="560"/>
                                  </p:stCondLst>
                                  <p:childTnLst>
                                    <p:set>
                                      <p:cBhvr>
                                        <p:cTn id="147" dur="1" fill="hold">
                                          <p:stCondLst>
                                            <p:cond delay="0"/>
                                          </p:stCondLst>
                                        </p:cTn>
                                        <p:tgtEl>
                                          <p:spTgt spid="21"/>
                                        </p:tgtEl>
                                        <p:attrNameLst>
                                          <p:attrName>style.visibility</p:attrName>
                                        </p:attrNameLst>
                                      </p:cBhvr>
                                      <p:to>
                                        <p:strVal val="visible"/>
                                      </p:to>
                                    </p:set>
                                    <p:animEffect transition="in" filter="fade">
                                      <p:cBhvr>
                                        <p:cTn id="148" dur="400"/>
                                        <p:tgtEl>
                                          <p:spTgt spid="21"/>
                                        </p:tgtEl>
                                      </p:cBhvr>
                                    </p:animEffect>
                                  </p:childTnLst>
                                </p:cTn>
                              </p:par>
                              <p:par>
                                <p:cTn id="149" presetID="10" presetClass="entr" presetSubtype="0" fill="hold" grpId="0" nodeType="withEffect">
                                  <p:stCondLst>
                                    <p:cond delay="560"/>
                                  </p:stCondLst>
                                  <p:childTnLst>
                                    <p:set>
                                      <p:cBhvr>
                                        <p:cTn id="150" dur="1" fill="hold">
                                          <p:stCondLst>
                                            <p:cond delay="0"/>
                                          </p:stCondLst>
                                        </p:cTn>
                                        <p:tgtEl>
                                          <p:spTgt spid="22"/>
                                        </p:tgtEl>
                                        <p:attrNameLst>
                                          <p:attrName>style.visibility</p:attrName>
                                        </p:attrNameLst>
                                      </p:cBhvr>
                                      <p:to>
                                        <p:strVal val="visible"/>
                                      </p:to>
                                    </p:set>
                                    <p:animEffect transition="in" filter="fade">
                                      <p:cBhvr>
                                        <p:cTn id="151" dur="400"/>
                                        <p:tgtEl>
                                          <p:spTgt spid="22"/>
                                        </p:tgtEl>
                                      </p:cBhvr>
                                    </p:animEffect>
                                  </p:childTnLst>
                                </p:cTn>
                              </p:par>
                              <p:par>
                                <p:cTn id="152" presetID="10" presetClass="entr" presetSubtype="0" fill="hold" grpId="0" nodeType="withEffect">
                                  <p:stCondLst>
                                    <p:cond delay="560"/>
                                  </p:stCondLst>
                                  <p:childTnLst>
                                    <p:set>
                                      <p:cBhvr>
                                        <p:cTn id="153" dur="1" fill="hold">
                                          <p:stCondLst>
                                            <p:cond delay="0"/>
                                          </p:stCondLst>
                                        </p:cTn>
                                        <p:tgtEl>
                                          <p:spTgt spid="23"/>
                                        </p:tgtEl>
                                        <p:attrNameLst>
                                          <p:attrName>style.visibility</p:attrName>
                                        </p:attrNameLst>
                                      </p:cBhvr>
                                      <p:to>
                                        <p:strVal val="visible"/>
                                      </p:to>
                                    </p:set>
                                    <p:animEffect transition="in" filter="fade">
                                      <p:cBhvr>
                                        <p:cTn id="154" dur="400"/>
                                        <p:tgtEl>
                                          <p:spTgt spid="23"/>
                                        </p:tgtEl>
                                      </p:cBhvr>
                                    </p:animEffect>
                                  </p:childTnLst>
                                </p:cTn>
                              </p:par>
                              <p:par>
                                <p:cTn id="155" presetID="10" presetClass="entr" presetSubtype="0" fill="hold" grpId="0" nodeType="withEffect">
                                  <p:stCondLst>
                                    <p:cond delay="56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400"/>
                                        <p:tgtEl>
                                          <p:spTgt spid="24"/>
                                        </p:tgtEl>
                                      </p:cBhvr>
                                    </p:animEffect>
                                  </p:childTnLst>
                                </p:cTn>
                              </p:par>
                              <p:par>
                                <p:cTn id="158" presetID="10" presetClass="entr" presetSubtype="0" fill="hold" grpId="0" nodeType="withEffect">
                                  <p:stCondLst>
                                    <p:cond delay="560"/>
                                  </p:stCondLst>
                                  <p:childTnLst>
                                    <p:set>
                                      <p:cBhvr>
                                        <p:cTn id="159" dur="1" fill="hold">
                                          <p:stCondLst>
                                            <p:cond delay="0"/>
                                          </p:stCondLst>
                                        </p:cTn>
                                        <p:tgtEl>
                                          <p:spTgt spid="25"/>
                                        </p:tgtEl>
                                        <p:attrNameLst>
                                          <p:attrName>style.visibility</p:attrName>
                                        </p:attrNameLst>
                                      </p:cBhvr>
                                      <p:to>
                                        <p:strVal val="visible"/>
                                      </p:to>
                                    </p:set>
                                    <p:animEffect transition="in" filter="fade">
                                      <p:cBhvr>
                                        <p:cTn id="160" dur="400"/>
                                        <p:tgtEl>
                                          <p:spTgt spid="25"/>
                                        </p:tgtEl>
                                      </p:cBhvr>
                                    </p:animEffect>
                                  </p:childTnLst>
                                </p:cTn>
                              </p:par>
                              <p:par>
                                <p:cTn id="161" presetID="10" presetClass="entr" presetSubtype="0" fill="hold" grpId="0" nodeType="withEffect">
                                  <p:stCondLst>
                                    <p:cond delay="560"/>
                                  </p:stCondLst>
                                  <p:childTnLst>
                                    <p:set>
                                      <p:cBhvr>
                                        <p:cTn id="162" dur="1" fill="hold">
                                          <p:stCondLst>
                                            <p:cond delay="0"/>
                                          </p:stCondLst>
                                        </p:cTn>
                                        <p:tgtEl>
                                          <p:spTgt spid="26"/>
                                        </p:tgtEl>
                                        <p:attrNameLst>
                                          <p:attrName>style.visibility</p:attrName>
                                        </p:attrNameLst>
                                      </p:cBhvr>
                                      <p:to>
                                        <p:strVal val="visible"/>
                                      </p:to>
                                    </p:set>
                                    <p:animEffect transition="in" filter="fade">
                                      <p:cBhvr>
                                        <p:cTn id="163" dur="400"/>
                                        <p:tgtEl>
                                          <p:spTgt spid="26"/>
                                        </p:tgtEl>
                                      </p:cBhvr>
                                    </p:animEffect>
                                  </p:childTnLst>
                                </p:cTn>
                              </p:par>
                              <p:par>
                                <p:cTn id="164" presetID="10" presetClass="entr" presetSubtype="0" fill="hold" grpId="0" nodeType="withEffect">
                                  <p:stCondLst>
                                    <p:cond delay="560"/>
                                  </p:stCondLst>
                                  <p:childTnLst>
                                    <p:set>
                                      <p:cBhvr>
                                        <p:cTn id="165" dur="1" fill="hold">
                                          <p:stCondLst>
                                            <p:cond delay="0"/>
                                          </p:stCondLst>
                                        </p:cTn>
                                        <p:tgtEl>
                                          <p:spTgt spid="27"/>
                                        </p:tgtEl>
                                        <p:attrNameLst>
                                          <p:attrName>style.visibility</p:attrName>
                                        </p:attrNameLst>
                                      </p:cBhvr>
                                      <p:to>
                                        <p:strVal val="visible"/>
                                      </p:to>
                                    </p:set>
                                    <p:animEffect transition="in" filter="fade">
                                      <p:cBhvr>
                                        <p:cTn id="166" dur="400"/>
                                        <p:tgtEl>
                                          <p:spTgt spid="27"/>
                                        </p:tgtEl>
                                      </p:cBhvr>
                                    </p:animEffect>
                                  </p:childTnLst>
                                </p:cTn>
                              </p:par>
                              <p:par>
                                <p:cTn id="167" presetID="10" presetClass="entr" presetSubtype="0" fill="hold" grpId="0" nodeType="withEffect">
                                  <p:stCondLst>
                                    <p:cond delay="840"/>
                                  </p:stCondLst>
                                  <p:childTnLst>
                                    <p:set>
                                      <p:cBhvr>
                                        <p:cTn id="168" dur="1" fill="hold">
                                          <p:stCondLst>
                                            <p:cond delay="0"/>
                                          </p:stCondLst>
                                        </p:cTn>
                                        <p:tgtEl>
                                          <p:spTgt spid="28"/>
                                        </p:tgtEl>
                                        <p:attrNameLst>
                                          <p:attrName>style.visibility</p:attrName>
                                        </p:attrNameLst>
                                      </p:cBhvr>
                                      <p:to>
                                        <p:strVal val="visible"/>
                                      </p:to>
                                    </p:set>
                                    <p:animEffect transition="in" filter="fade">
                                      <p:cBhvr>
                                        <p:cTn id="169" dur="400"/>
                                        <p:tgtEl>
                                          <p:spTgt spid="28"/>
                                        </p:tgtEl>
                                      </p:cBhvr>
                                    </p:animEffect>
                                  </p:childTnLst>
                                </p:cTn>
                              </p:par>
                              <p:par>
                                <p:cTn id="170" presetID="10" presetClass="entr" presetSubtype="0" fill="hold" grpId="0" nodeType="withEffect">
                                  <p:stCondLst>
                                    <p:cond delay="1120"/>
                                  </p:stCondLst>
                                  <p:childTnLst>
                                    <p:set>
                                      <p:cBhvr>
                                        <p:cTn id="171" dur="1" fill="hold">
                                          <p:stCondLst>
                                            <p:cond delay="0"/>
                                          </p:stCondLst>
                                        </p:cTn>
                                        <p:tgtEl>
                                          <p:spTgt spid="29"/>
                                        </p:tgtEl>
                                        <p:attrNameLst>
                                          <p:attrName>style.visibility</p:attrName>
                                        </p:attrNameLst>
                                      </p:cBhvr>
                                      <p:to>
                                        <p:strVal val="visible"/>
                                      </p:to>
                                    </p:set>
                                    <p:animEffect transition="in" filter="fade">
                                      <p:cBhvr>
                                        <p:cTn id="172" dur="400"/>
                                        <p:tgtEl>
                                          <p:spTgt spid="29"/>
                                        </p:tgtEl>
                                      </p:cBhvr>
                                    </p:animEffect>
                                  </p:childTnLst>
                                </p:cTn>
                              </p:par>
                              <p:par>
                                <p:cTn id="173" presetID="10" presetClass="entr" presetSubtype="0" fill="hold" grpId="0" nodeType="withEffect">
                                  <p:stCondLst>
                                    <p:cond delay="1120"/>
                                  </p:stCondLst>
                                  <p:childTnLst>
                                    <p:set>
                                      <p:cBhvr>
                                        <p:cTn id="174" dur="1" fill="hold">
                                          <p:stCondLst>
                                            <p:cond delay="0"/>
                                          </p:stCondLst>
                                        </p:cTn>
                                        <p:tgtEl>
                                          <p:spTgt spid="30"/>
                                        </p:tgtEl>
                                        <p:attrNameLst>
                                          <p:attrName>style.visibility</p:attrName>
                                        </p:attrNameLst>
                                      </p:cBhvr>
                                      <p:to>
                                        <p:strVal val="visible"/>
                                      </p:to>
                                    </p:set>
                                    <p:animEffect transition="in" filter="fade">
                                      <p:cBhvr>
                                        <p:cTn id="175" dur="400"/>
                                        <p:tgtEl>
                                          <p:spTgt spid="30"/>
                                        </p:tgtEl>
                                      </p:cBhvr>
                                    </p:animEffect>
                                  </p:childTnLst>
                                </p:cTn>
                              </p:par>
                              <p:par>
                                <p:cTn id="176" presetID="10" presetClass="entr" presetSubtype="0" fill="hold" grpId="0" nodeType="withEffect">
                                  <p:stCondLst>
                                    <p:cond delay="1120"/>
                                  </p:stCondLst>
                                  <p:childTnLst>
                                    <p:set>
                                      <p:cBhvr>
                                        <p:cTn id="177" dur="1" fill="hold">
                                          <p:stCondLst>
                                            <p:cond delay="0"/>
                                          </p:stCondLst>
                                        </p:cTn>
                                        <p:tgtEl>
                                          <p:spTgt spid="31"/>
                                        </p:tgtEl>
                                        <p:attrNameLst>
                                          <p:attrName>style.visibility</p:attrName>
                                        </p:attrNameLst>
                                      </p:cBhvr>
                                      <p:to>
                                        <p:strVal val="visible"/>
                                      </p:to>
                                    </p:set>
                                    <p:animEffect transition="in" filter="fade">
                                      <p:cBhvr>
                                        <p:cTn id="178" dur="400"/>
                                        <p:tgtEl>
                                          <p:spTgt spid="31"/>
                                        </p:tgtEl>
                                      </p:cBhvr>
                                    </p:animEffect>
                                  </p:childTnLst>
                                </p:cTn>
                              </p:par>
                              <p:par>
                                <p:cTn id="179" presetID="10" presetClass="entr" presetSubtype="0" fill="hold" grpId="0" nodeType="withEffect">
                                  <p:stCondLst>
                                    <p:cond delay="1120"/>
                                  </p:stCondLst>
                                  <p:childTnLst>
                                    <p:set>
                                      <p:cBhvr>
                                        <p:cTn id="180" dur="1" fill="hold">
                                          <p:stCondLst>
                                            <p:cond delay="0"/>
                                          </p:stCondLst>
                                        </p:cTn>
                                        <p:tgtEl>
                                          <p:spTgt spid="32"/>
                                        </p:tgtEl>
                                        <p:attrNameLst>
                                          <p:attrName>style.visibility</p:attrName>
                                        </p:attrNameLst>
                                      </p:cBhvr>
                                      <p:to>
                                        <p:strVal val="visible"/>
                                      </p:to>
                                    </p:set>
                                    <p:animEffect transition="in" filter="fade">
                                      <p:cBhvr>
                                        <p:cTn id="181" dur="400"/>
                                        <p:tgtEl>
                                          <p:spTgt spid="32"/>
                                        </p:tgtEl>
                                      </p:cBhvr>
                                    </p:animEffect>
                                  </p:childTnLst>
                                </p:cTn>
                              </p:par>
                              <p:par>
                                <p:cTn id="182" presetID="10" presetClass="entr" presetSubtype="0" fill="hold" grpId="0" nodeType="withEffect">
                                  <p:stCondLst>
                                    <p:cond delay="1120"/>
                                  </p:stCondLst>
                                  <p:childTnLst>
                                    <p:set>
                                      <p:cBhvr>
                                        <p:cTn id="183" dur="1" fill="hold">
                                          <p:stCondLst>
                                            <p:cond delay="0"/>
                                          </p:stCondLst>
                                        </p:cTn>
                                        <p:tgtEl>
                                          <p:spTgt spid="33"/>
                                        </p:tgtEl>
                                        <p:attrNameLst>
                                          <p:attrName>style.visibility</p:attrName>
                                        </p:attrNameLst>
                                      </p:cBhvr>
                                      <p:to>
                                        <p:strVal val="visible"/>
                                      </p:to>
                                    </p:set>
                                    <p:animEffect transition="in" filter="fade">
                                      <p:cBhvr>
                                        <p:cTn id="184" dur="400"/>
                                        <p:tgtEl>
                                          <p:spTgt spid="33"/>
                                        </p:tgtEl>
                                      </p:cBhvr>
                                    </p:animEffect>
                                  </p:childTnLst>
                                </p:cTn>
                              </p:par>
                              <p:par>
                                <p:cTn id="185" presetID="10" presetClass="entr" presetSubtype="0" fill="hold" grpId="0" nodeType="withEffect">
                                  <p:stCondLst>
                                    <p:cond delay="1120"/>
                                  </p:stCondLst>
                                  <p:childTnLst>
                                    <p:set>
                                      <p:cBhvr>
                                        <p:cTn id="186" dur="1" fill="hold">
                                          <p:stCondLst>
                                            <p:cond delay="0"/>
                                          </p:stCondLst>
                                        </p:cTn>
                                        <p:tgtEl>
                                          <p:spTgt spid="34"/>
                                        </p:tgtEl>
                                        <p:attrNameLst>
                                          <p:attrName>style.visibility</p:attrName>
                                        </p:attrNameLst>
                                      </p:cBhvr>
                                      <p:to>
                                        <p:strVal val="visible"/>
                                      </p:to>
                                    </p:set>
                                    <p:animEffect transition="in" filter="fade">
                                      <p:cBhvr>
                                        <p:cTn id="187" dur="400"/>
                                        <p:tgtEl>
                                          <p:spTgt spid="34"/>
                                        </p:tgtEl>
                                      </p:cBhvr>
                                    </p:animEffect>
                                  </p:childTnLst>
                                </p:cTn>
                              </p:par>
                              <p:par>
                                <p:cTn id="188" presetID="10" presetClass="entr" presetSubtype="0" fill="hold" grpId="0" nodeType="withEffect">
                                  <p:stCondLst>
                                    <p:cond delay="1120"/>
                                  </p:stCondLst>
                                  <p:childTnLst>
                                    <p:set>
                                      <p:cBhvr>
                                        <p:cTn id="189" dur="1" fill="hold">
                                          <p:stCondLst>
                                            <p:cond delay="0"/>
                                          </p:stCondLst>
                                        </p:cTn>
                                        <p:tgtEl>
                                          <p:spTgt spid="35"/>
                                        </p:tgtEl>
                                        <p:attrNameLst>
                                          <p:attrName>style.visibility</p:attrName>
                                        </p:attrNameLst>
                                      </p:cBhvr>
                                      <p:to>
                                        <p:strVal val="visible"/>
                                      </p:to>
                                    </p:set>
                                    <p:animEffect transition="in" filter="fade">
                                      <p:cBhvr>
                                        <p:cTn id="190" dur="400"/>
                                        <p:tgtEl>
                                          <p:spTgt spid="35"/>
                                        </p:tgtEl>
                                      </p:cBhvr>
                                    </p:animEffect>
                                  </p:childTnLst>
                                </p:cTn>
                              </p:par>
                              <p:par>
                                <p:cTn id="191" presetID="10" presetClass="entr" presetSubtype="0" fill="hold" grpId="0" nodeType="withEffect">
                                  <p:stCondLst>
                                    <p:cond delay="1120"/>
                                  </p:stCondLst>
                                  <p:childTnLst>
                                    <p:set>
                                      <p:cBhvr>
                                        <p:cTn id="192" dur="1" fill="hold">
                                          <p:stCondLst>
                                            <p:cond delay="0"/>
                                          </p:stCondLst>
                                        </p:cTn>
                                        <p:tgtEl>
                                          <p:spTgt spid="36"/>
                                        </p:tgtEl>
                                        <p:attrNameLst>
                                          <p:attrName>style.visibility</p:attrName>
                                        </p:attrNameLst>
                                      </p:cBhvr>
                                      <p:to>
                                        <p:strVal val="visible"/>
                                      </p:to>
                                    </p:set>
                                    <p:animEffect transition="in" filter="fade">
                                      <p:cBhvr>
                                        <p:cTn id="193" dur="400"/>
                                        <p:tgtEl>
                                          <p:spTgt spid="36"/>
                                        </p:tgtEl>
                                      </p:cBhvr>
                                    </p:animEffect>
                                  </p:childTnLst>
                                </p:cTn>
                              </p:par>
                              <p:par>
                                <p:cTn id="194" presetID="10" presetClass="entr" presetSubtype="0" fill="hold" grpId="0" nodeType="withEffect">
                                  <p:stCondLst>
                                    <p:cond delay="1400"/>
                                  </p:stCondLst>
                                  <p:childTnLst>
                                    <p:set>
                                      <p:cBhvr>
                                        <p:cTn id="195" dur="1" fill="hold">
                                          <p:stCondLst>
                                            <p:cond delay="0"/>
                                          </p:stCondLst>
                                        </p:cTn>
                                        <p:tgtEl>
                                          <p:spTgt spid="37"/>
                                        </p:tgtEl>
                                        <p:attrNameLst>
                                          <p:attrName>style.visibility</p:attrName>
                                        </p:attrNameLst>
                                      </p:cBhvr>
                                      <p:to>
                                        <p:strVal val="visible"/>
                                      </p:to>
                                    </p:set>
                                    <p:animEffect transition="in" filter="fade">
                                      <p:cBhvr>
                                        <p:cTn id="196" dur="400"/>
                                        <p:tgtEl>
                                          <p:spTgt spid="37"/>
                                        </p:tgtEl>
                                      </p:cBhvr>
                                    </p:animEffect>
                                  </p:childTnLst>
                                </p:cTn>
                              </p:par>
                              <p:par>
                                <p:cTn id="197" presetID="10" presetClass="entr" presetSubtype="0" fill="hold" grpId="0" nodeType="withEffect">
                                  <p:stCondLst>
                                    <p:cond delay="1400"/>
                                  </p:stCondLst>
                                  <p:childTnLst>
                                    <p:set>
                                      <p:cBhvr>
                                        <p:cTn id="198" dur="1" fill="hold">
                                          <p:stCondLst>
                                            <p:cond delay="0"/>
                                          </p:stCondLst>
                                        </p:cTn>
                                        <p:tgtEl>
                                          <p:spTgt spid="40"/>
                                        </p:tgtEl>
                                        <p:attrNameLst>
                                          <p:attrName>style.visibility</p:attrName>
                                        </p:attrNameLst>
                                      </p:cBhvr>
                                      <p:to>
                                        <p:strVal val="visible"/>
                                      </p:to>
                                    </p:set>
                                    <p:animEffect transition="in" filter="fade">
                                      <p:cBhvr>
                                        <p:cTn id="19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04  ·  TIỀN XỬ LÝ</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Tách sọ não (Skull Stripping) — 6 bước hình thái học</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05 / 20</a:t>
            </a:r>
            <a:endParaRPr lang="en-US" sz="800" dirty="0"/>
          </a:p>
        </p:txBody>
      </p:sp>
      <p:sp>
        <p:nvSpPr>
          <p:cNvPr id="6" name="Shape 4"/>
          <p:cNvSpPr/>
          <p:nvPr/>
        </p:nvSpPr>
        <p:spPr>
          <a:xfrm>
            <a:off x="502920" y="1298448"/>
            <a:ext cx="274320" cy="274320"/>
          </a:xfrm>
          <a:prstGeom prst="ellipse">
            <a:avLst/>
          </a:prstGeom>
          <a:solidFill>
            <a:srgbClr val="065A82"/>
          </a:solidFill>
          <a:ln w="9525">
            <a:solidFill>
              <a:srgbClr val="065A82"/>
            </a:solidFill>
            <a:prstDash val="solid"/>
          </a:ln>
        </p:spPr>
      </p:sp>
      <p:sp>
        <p:nvSpPr>
          <p:cNvPr id="7" name="Text 5"/>
          <p:cNvSpPr/>
          <p:nvPr/>
        </p:nvSpPr>
        <p:spPr>
          <a:xfrm>
            <a:off x="502920" y="1298448"/>
            <a:ext cx="274320" cy="274320"/>
          </a:xfrm>
          <a:prstGeom prst="rect">
            <a:avLst/>
          </a:prstGeom>
          <a:noFill/>
          <a:ln/>
        </p:spPr>
        <p:txBody>
          <a:bodyPr wrap="square" lIns="0" tIns="0" rIns="0" bIns="0" rtlCol="0" anchor="ctr"/>
          <a:lstStyle/>
          <a:p>
            <a:pPr algn="ctr" indent="0" marL="0">
              <a:buNone/>
            </a:pPr>
            <a:r>
              <a:rPr lang="en-US" sz="950" dirty="0">
                <a:solidFill>
                  <a:srgbClr val="FFFFFF"/>
                </a:solidFill>
                <a:latin typeface="Segoe UI Semibold" pitchFamily="34" charset="0"/>
                <a:ea typeface="Segoe UI Semibold" pitchFamily="34" charset="-122"/>
                <a:cs typeface="Segoe UI Semibold" pitchFamily="34" charset="-120"/>
              </a:rPr>
              <a:t>1</a:t>
            </a:r>
            <a:endParaRPr lang="en-US" sz="950" dirty="0"/>
          </a:p>
        </p:txBody>
      </p:sp>
      <p:sp>
        <p:nvSpPr>
          <p:cNvPr id="8" name="Text 6"/>
          <p:cNvSpPr/>
          <p:nvPr/>
        </p:nvSpPr>
        <p:spPr>
          <a:xfrm>
            <a:off x="886968" y="1243584"/>
            <a:ext cx="3291840" cy="201168"/>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Ảnh xám</a:t>
            </a:r>
            <a:endParaRPr lang="en-US" sz="1050" dirty="0"/>
          </a:p>
        </p:txBody>
      </p:sp>
      <p:sp>
        <p:nvSpPr>
          <p:cNvPr id="9" name="Text 7"/>
          <p:cNvSpPr/>
          <p:nvPr/>
        </p:nvSpPr>
        <p:spPr>
          <a:xfrm>
            <a:off x="886968" y="1444752"/>
            <a:ext cx="3383280" cy="201168"/>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Chuẩn hóa ảnh MRI về Grayscale uint8 [0, 255]</a:t>
            </a:r>
            <a:endParaRPr lang="en-US" sz="850" dirty="0"/>
          </a:p>
        </p:txBody>
      </p:sp>
      <p:sp>
        <p:nvSpPr>
          <p:cNvPr id="10" name="Shape 8"/>
          <p:cNvSpPr/>
          <p:nvPr/>
        </p:nvSpPr>
        <p:spPr>
          <a:xfrm>
            <a:off x="502920" y="1828800"/>
            <a:ext cx="274320" cy="274320"/>
          </a:xfrm>
          <a:prstGeom prst="ellipse">
            <a:avLst/>
          </a:prstGeom>
          <a:solidFill>
            <a:srgbClr val="065A82"/>
          </a:solidFill>
          <a:ln w="9525">
            <a:solidFill>
              <a:srgbClr val="065A82"/>
            </a:solidFill>
            <a:prstDash val="solid"/>
          </a:ln>
        </p:spPr>
      </p:sp>
      <p:sp>
        <p:nvSpPr>
          <p:cNvPr id="11" name="Text 9"/>
          <p:cNvSpPr/>
          <p:nvPr/>
        </p:nvSpPr>
        <p:spPr>
          <a:xfrm>
            <a:off x="502920" y="1828800"/>
            <a:ext cx="274320" cy="274320"/>
          </a:xfrm>
          <a:prstGeom prst="rect">
            <a:avLst/>
          </a:prstGeom>
          <a:noFill/>
          <a:ln/>
        </p:spPr>
        <p:txBody>
          <a:bodyPr wrap="square" lIns="0" tIns="0" rIns="0" bIns="0" rtlCol="0" anchor="ctr"/>
          <a:lstStyle/>
          <a:p>
            <a:pPr algn="ctr" indent="0" marL="0">
              <a:buNone/>
            </a:pPr>
            <a:r>
              <a:rPr lang="en-US" sz="950" dirty="0">
                <a:solidFill>
                  <a:srgbClr val="FFFFFF"/>
                </a:solidFill>
                <a:latin typeface="Segoe UI Semibold" pitchFamily="34" charset="0"/>
                <a:ea typeface="Segoe UI Semibold" pitchFamily="34" charset="-122"/>
                <a:cs typeface="Segoe UI Semibold" pitchFamily="34" charset="-120"/>
              </a:rPr>
              <a:t>2</a:t>
            </a:r>
            <a:endParaRPr lang="en-US" sz="950" dirty="0"/>
          </a:p>
        </p:txBody>
      </p:sp>
      <p:sp>
        <p:nvSpPr>
          <p:cNvPr id="12" name="Text 10"/>
          <p:cNvSpPr/>
          <p:nvPr/>
        </p:nvSpPr>
        <p:spPr>
          <a:xfrm>
            <a:off x="886968" y="1773936"/>
            <a:ext cx="3291840" cy="201168"/>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Ngưỡng Otsu</a:t>
            </a:r>
            <a:endParaRPr lang="en-US" sz="1050" dirty="0"/>
          </a:p>
        </p:txBody>
      </p:sp>
      <p:sp>
        <p:nvSpPr>
          <p:cNvPr id="13" name="Text 11"/>
          <p:cNvSpPr/>
          <p:nvPr/>
        </p:nvSpPr>
        <p:spPr>
          <a:xfrm>
            <a:off x="886968" y="1975104"/>
            <a:ext cx="3383280" cy="201168"/>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Nhị phân hóa tự động tách đầu khỏi nền đen</a:t>
            </a:r>
            <a:endParaRPr lang="en-US" sz="850" dirty="0"/>
          </a:p>
        </p:txBody>
      </p:sp>
      <p:sp>
        <p:nvSpPr>
          <p:cNvPr id="14" name="Shape 12"/>
          <p:cNvSpPr/>
          <p:nvPr/>
        </p:nvSpPr>
        <p:spPr>
          <a:xfrm>
            <a:off x="502920" y="2359152"/>
            <a:ext cx="274320" cy="274320"/>
          </a:xfrm>
          <a:prstGeom prst="ellipse">
            <a:avLst/>
          </a:prstGeom>
          <a:solidFill>
            <a:srgbClr val="065A82"/>
          </a:solidFill>
          <a:ln w="9525">
            <a:solidFill>
              <a:srgbClr val="065A82"/>
            </a:solidFill>
            <a:prstDash val="solid"/>
          </a:ln>
        </p:spPr>
      </p:sp>
      <p:sp>
        <p:nvSpPr>
          <p:cNvPr id="15" name="Text 13"/>
          <p:cNvSpPr/>
          <p:nvPr/>
        </p:nvSpPr>
        <p:spPr>
          <a:xfrm>
            <a:off x="502920" y="2359152"/>
            <a:ext cx="274320" cy="274320"/>
          </a:xfrm>
          <a:prstGeom prst="rect">
            <a:avLst/>
          </a:prstGeom>
          <a:noFill/>
          <a:ln/>
        </p:spPr>
        <p:txBody>
          <a:bodyPr wrap="square" lIns="0" tIns="0" rIns="0" bIns="0" rtlCol="0" anchor="ctr"/>
          <a:lstStyle/>
          <a:p>
            <a:pPr algn="ctr" indent="0" marL="0">
              <a:buNone/>
            </a:pPr>
            <a:r>
              <a:rPr lang="en-US" sz="950" dirty="0">
                <a:solidFill>
                  <a:srgbClr val="FFFFFF"/>
                </a:solidFill>
                <a:latin typeface="Segoe UI Semibold" pitchFamily="34" charset="0"/>
                <a:ea typeface="Segoe UI Semibold" pitchFamily="34" charset="-122"/>
                <a:cs typeface="Segoe UI Semibold" pitchFamily="34" charset="-120"/>
              </a:rPr>
              <a:t>3</a:t>
            </a:r>
            <a:endParaRPr lang="en-US" sz="950" dirty="0"/>
          </a:p>
        </p:txBody>
      </p:sp>
      <p:sp>
        <p:nvSpPr>
          <p:cNvPr id="16" name="Text 14"/>
          <p:cNvSpPr/>
          <p:nvPr/>
        </p:nvSpPr>
        <p:spPr>
          <a:xfrm>
            <a:off x="886968" y="2304288"/>
            <a:ext cx="3291840" cy="201168"/>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Opening</a:t>
            </a:r>
            <a:endParaRPr lang="en-US" sz="1050" dirty="0"/>
          </a:p>
        </p:txBody>
      </p:sp>
      <p:sp>
        <p:nvSpPr>
          <p:cNvPr id="17" name="Text 15"/>
          <p:cNvSpPr/>
          <p:nvPr/>
        </p:nvSpPr>
        <p:spPr>
          <a:xfrm>
            <a:off x="886968" y="2505456"/>
            <a:ext cx="3383280" cy="201168"/>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Cắt cầu nối mô giữa màng não và xương sọ</a:t>
            </a:r>
            <a:endParaRPr lang="en-US" sz="850" dirty="0"/>
          </a:p>
        </p:txBody>
      </p:sp>
      <p:sp>
        <p:nvSpPr>
          <p:cNvPr id="18" name="Shape 16"/>
          <p:cNvSpPr/>
          <p:nvPr/>
        </p:nvSpPr>
        <p:spPr>
          <a:xfrm>
            <a:off x="502920" y="2889504"/>
            <a:ext cx="274320" cy="274320"/>
          </a:xfrm>
          <a:prstGeom prst="ellipse">
            <a:avLst/>
          </a:prstGeom>
          <a:solidFill>
            <a:srgbClr val="065A82"/>
          </a:solidFill>
          <a:ln w="9525">
            <a:solidFill>
              <a:srgbClr val="065A82"/>
            </a:solidFill>
            <a:prstDash val="solid"/>
          </a:ln>
        </p:spPr>
      </p:sp>
      <p:sp>
        <p:nvSpPr>
          <p:cNvPr id="19" name="Text 17"/>
          <p:cNvSpPr/>
          <p:nvPr/>
        </p:nvSpPr>
        <p:spPr>
          <a:xfrm>
            <a:off x="502920" y="2889504"/>
            <a:ext cx="274320" cy="274320"/>
          </a:xfrm>
          <a:prstGeom prst="rect">
            <a:avLst/>
          </a:prstGeom>
          <a:noFill/>
          <a:ln/>
        </p:spPr>
        <p:txBody>
          <a:bodyPr wrap="square" lIns="0" tIns="0" rIns="0" bIns="0" rtlCol="0" anchor="ctr"/>
          <a:lstStyle/>
          <a:p>
            <a:pPr algn="ctr" indent="0" marL="0">
              <a:buNone/>
            </a:pPr>
            <a:r>
              <a:rPr lang="en-US" sz="950" dirty="0">
                <a:solidFill>
                  <a:srgbClr val="FFFFFF"/>
                </a:solidFill>
                <a:latin typeface="Segoe UI Semibold" pitchFamily="34" charset="0"/>
                <a:ea typeface="Segoe UI Semibold" pitchFamily="34" charset="-122"/>
                <a:cs typeface="Segoe UI Semibold" pitchFamily="34" charset="-120"/>
              </a:rPr>
              <a:t>4</a:t>
            </a:r>
            <a:endParaRPr lang="en-US" sz="950" dirty="0"/>
          </a:p>
        </p:txBody>
      </p:sp>
      <p:sp>
        <p:nvSpPr>
          <p:cNvPr id="20" name="Text 18"/>
          <p:cNvSpPr/>
          <p:nvPr/>
        </p:nvSpPr>
        <p:spPr>
          <a:xfrm>
            <a:off x="886968" y="2834640"/>
            <a:ext cx="3291840" cy="201168"/>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LCC</a:t>
            </a:r>
            <a:endParaRPr lang="en-US" sz="1050" dirty="0"/>
          </a:p>
        </p:txBody>
      </p:sp>
      <p:sp>
        <p:nvSpPr>
          <p:cNvPr id="21" name="Text 19"/>
          <p:cNvSpPr/>
          <p:nvPr/>
        </p:nvSpPr>
        <p:spPr>
          <a:xfrm>
            <a:off x="886968" y="3035808"/>
            <a:ext cx="3383280" cy="201168"/>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Giữ thành phần liên thông lớn nhất (nhu mô não)</a:t>
            </a:r>
            <a:endParaRPr lang="en-US" sz="850" dirty="0"/>
          </a:p>
        </p:txBody>
      </p:sp>
      <p:sp>
        <p:nvSpPr>
          <p:cNvPr id="22" name="Shape 20"/>
          <p:cNvSpPr/>
          <p:nvPr/>
        </p:nvSpPr>
        <p:spPr>
          <a:xfrm>
            <a:off x="502920" y="3419856"/>
            <a:ext cx="274320" cy="274320"/>
          </a:xfrm>
          <a:prstGeom prst="ellipse">
            <a:avLst/>
          </a:prstGeom>
          <a:solidFill>
            <a:srgbClr val="065A82"/>
          </a:solidFill>
          <a:ln w="9525">
            <a:solidFill>
              <a:srgbClr val="065A82"/>
            </a:solidFill>
            <a:prstDash val="solid"/>
          </a:ln>
        </p:spPr>
      </p:sp>
      <p:sp>
        <p:nvSpPr>
          <p:cNvPr id="23" name="Text 21"/>
          <p:cNvSpPr/>
          <p:nvPr/>
        </p:nvSpPr>
        <p:spPr>
          <a:xfrm>
            <a:off x="502920" y="3419856"/>
            <a:ext cx="274320" cy="274320"/>
          </a:xfrm>
          <a:prstGeom prst="rect">
            <a:avLst/>
          </a:prstGeom>
          <a:noFill/>
          <a:ln/>
        </p:spPr>
        <p:txBody>
          <a:bodyPr wrap="square" lIns="0" tIns="0" rIns="0" bIns="0" rtlCol="0" anchor="ctr"/>
          <a:lstStyle/>
          <a:p>
            <a:pPr algn="ctr" indent="0" marL="0">
              <a:buNone/>
            </a:pPr>
            <a:r>
              <a:rPr lang="en-US" sz="950" dirty="0">
                <a:solidFill>
                  <a:srgbClr val="FFFFFF"/>
                </a:solidFill>
                <a:latin typeface="Segoe UI Semibold" pitchFamily="34" charset="0"/>
                <a:ea typeface="Segoe UI Semibold" pitchFamily="34" charset="-122"/>
                <a:cs typeface="Segoe UI Semibold" pitchFamily="34" charset="-120"/>
              </a:rPr>
              <a:t>5</a:t>
            </a:r>
            <a:endParaRPr lang="en-US" sz="950" dirty="0"/>
          </a:p>
        </p:txBody>
      </p:sp>
      <p:sp>
        <p:nvSpPr>
          <p:cNvPr id="24" name="Text 22"/>
          <p:cNvSpPr/>
          <p:nvPr/>
        </p:nvSpPr>
        <p:spPr>
          <a:xfrm>
            <a:off x="886968" y="3364992"/>
            <a:ext cx="3291840" cy="201168"/>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Fill Holes</a:t>
            </a:r>
            <a:endParaRPr lang="en-US" sz="1050" dirty="0"/>
          </a:p>
        </p:txBody>
      </p:sp>
      <p:sp>
        <p:nvSpPr>
          <p:cNvPr id="25" name="Text 23"/>
          <p:cNvSpPr/>
          <p:nvPr/>
        </p:nvSpPr>
        <p:spPr>
          <a:xfrm>
            <a:off x="886968" y="3566160"/>
            <a:ext cx="3383280" cy="201168"/>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Lấp lỗ hổng não thất bằng bù nhị phân</a:t>
            </a:r>
            <a:endParaRPr lang="en-US" sz="850" dirty="0"/>
          </a:p>
        </p:txBody>
      </p:sp>
      <p:sp>
        <p:nvSpPr>
          <p:cNvPr id="26" name="Shape 24"/>
          <p:cNvSpPr/>
          <p:nvPr/>
        </p:nvSpPr>
        <p:spPr>
          <a:xfrm>
            <a:off x="502920" y="3950208"/>
            <a:ext cx="274320" cy="274320"/>
          </a:xfrm>
          <a:prstGeom prst="ellipse">
            <a:avLst/>
          </a:prstGeom>
          <a:solidFill>
            <a:srgbClr val="00A896"/>
          </a:solidFill>
          <a:ln w="9525">
            <a:solidFill>
              <a:srgbClr val="00A896"/>
            </a:solidFill>
            <a:prstDash val="solid"/>
          </a:ln>
        </p:spPr>
      </p:sp>
      <p:sp>
        <p:nvSpPr>
          <p:cNvPr id="27" name="Text 25"/>
          <p:cNvSpPr/>
          <p:nvPr/>
        </p:nvSpPr>
        <p:spPr>
          <a:xfrm>
            <a:off x="502920" y="3950208"/>
            <a:ext cx="274320" cy="274320"/>
          </a:xfrm>
          <a:prstGeom prst="rect">
            <a:avLst/>
          </a:prstGeom>
          <a:noFill/>
          <a:ln/>
        </p:spPr>
        <p:txBody>
          <a:bodyPr wrap="square" lIns="0" tIns="0" rIns="0" bIns="0" rtlCol="0" anchor="ctr"/>
          <a:lstStyle/>
          <a:p>
            <a:pPr algn="ctr" indent="0" marL="0">
              <a:buNone/>
            </a:pPr>
            <a:r>
              <a:rPr lang="en-US" sz="950" dirty="0">
                <a:solidFill>
                  <a:srgbClr val="FFFFFF"/>
                </a:solidFill>
                <a:latin typeface="Segoe UI Semibold" pitchFamily="34" charset="0"/>
                <a:ea typeface="Segoe UI Semibold" pitchFamily="34" charset="-122"/>
                <a:cs typeface="Segoe UI Semibold" pitchFamily="34" charset="-120"/>
              </a:rPr>
              <a:t>6</a:t>
            </a:r>
            <a:endParaRPr lang="en-US" sz="950" dirty="0"/>
          </a:p>
        </p:txBody>
      </p:sp>
      <p:sp>
        <p:nvSpPr>
          <p:cNvPr id="28" name="Text 26"/>
          <p:cNvSpPr/>
          <p:nvPr/>
        </p:nvSpPr>
        <p:spPr>
          <a:xfrm>
            <a:off x="886968" y="3895344"/>
            <a:ext cx="3291840" cy="201168"/>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Bitwise-AND</a:t>
            </a:r>
            <a:endParaRPr lang="en-US" sz="1050" dirty="0"/>
          </a:p>
        </p:txBody>
      </p:sp>
      <p:sp>
        <p:nvSpPr>
          <p:cNvPr id="29" name="Text 27"/>
          <p:cNvSpPr/>
          <p:nvPr/>
        </p:nvSpPr>
        <p:spPr>
          <a:xfrm>
            <a:off x="886968" y="4096512"/>
            <a:ext cx="3383280" cy="201168"/>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Nhân mặt nạ não với ảnh gốc</a:t>
            </a:r>
            <a:endParaRPr lang="en-US" sz="850" dirty="0"/>
          </a:p>
        </p:txBody>
      </p:sp>
      <p:sp>
        <p:nvSpPr>
          <p:cNvPr id="30" name="Shape 28"/>
          <p:cNvSpPr/>
          <p:nvPr/>
        </p:nvSpPr>
        <p:spPr>
          <a:xfrm>
            <a:off x="502920" y="4407408"/>
            <a:ext cx="3749040" cy="274320"/>
          </a:xfrm>
          <a:prstGeom prst="roundRect">
            <a:avLst>
              <a:gd name="adj" fmla="val 20000"/>
            </a:avLst>
          </a:prstGeom>
          <a:solidFill>
            <a:srgbClr val="E3F1F4"/>
          </a:solidFill>
          <a:ln w="9525">
            <a:solidFill>
              <a:srgbClr val="D1E3E8"/>
            </a:solidFill>
            <a:prstDash val="solid"/>
          </a:ln>
        </p:spPr>
      </p:sp>
      <p:sp>
        <p:nvSpPr>
          <p:cNvPr id="31" name="Text 29"/>
          <p:cNvSpPr/>
          <p:nvPr/>
        </p:nvSpPr>
        <p:spPr>
          <a:xfrm>
            <a:off x="630936" y="4407408"/>
            <a:ext cx="3520440" cy="274320"/>
          </a:xfrm>
          <a:prstGeom prst="rect">
            <a:avLst/>
          </a:prstGeom>
          <a:noFill/>
          <a:ln/>
        </p:spPr>
        <p:txBody>
          <a:bodyPr wrap="square" lIns="0" tIns="0" rIns="0" bIns="0" rtlCol="0" anchor="ctr"/>
          <a:lstStyle/>
          <a:p>
            <a:pPr indent="0" marL="0">
              <a:buNone/>
            </a:pPr>
            <a:r>
              <a:rPr lang="en-US" sz="850" dirty="0">
                <a:solidFill>
                  <a:srgbClr val="065A82"/>
                </a:solidFill>
                <a:latin typeface="Segoe UI Semibold" pitchFamily="34" charset="0"/>
                <a:ea typeface="Segoe UI Semibold" pitchFamily="34" charset="-122"/>
                <a:cs typeface="Segoe UI Semibold" pitchFamily="34" charset="-120"/>
              </a:rPr>
              <a:t>Kết quả: Brain Mask khép kín, không còn xương sọ và mô mềm</a:t>
            </a:r>
            <a:endParaRPr lang="en-US" sz="850" dirty="0"/>
          </a:p>
        </p:txBody>
      </p:sp>
      <p:pic>
        <p:nvPicPr>
          <p:cNvPr id="32" name="Image 0" descr="C:\Users\xpaga\Documents\xlas\reports\figures\skull_stripping_steps.png">    </p:cNvPr>
          <p:cNvPicPr>
            <a:picLocks noChangeAspect="1"/>
          </p:cNvPicPr>
          <p:nvPr/>
        </p:nvPicPr>
        <p:blipFill>
          <a:blip r:embed="rId1"/>
          <a:stretch>
            <a:fillRect/>
          </a:stretch>
        </p:blipFill>
        <p:spPr>
          <a:xfrm>
            <a:off x="4645152" y="1225296"/>
            <a:ext cx="3995928" cy="2599823"/>
          </a:xfrm>
          <a:prstGeom prst="rect">
            <a:avLst/>
          </a:prstGeom>
        </p:spPr>
      </p:pic>
      <p:sp>
        <p:nvSpPr>
          <p:cNvPr id="33" name="Shape 30"/>
          <p:cNvSpPr/>
          <p:nvPr/>
        </p:nvSpPr>
        <p:spPr>
          <a:xfrm>
            <a:off x="4645152" y="1225296"/>
            <a:ext cx="3995928" cy="2599823"/>
          </a:xfrm>
          <a:prstGeom prst="rect">
            <a:avLst/>
          </a:prstGeom>
          <a:solidFill>
            <a:srgbClr val="FFFFFF">
              <a:alpha val="0"/>
            </a:srgbClr>
          </a:solidFill>
          <a:ln w="9525">
            <a:solidFill>
              <a:srgbClr val="D1E3E8"/>
            </a:solidFill>
            <a:prstDash val="solid"/>
          </a:ln>
        </p:spPr>
      </p:sp>
      <p:sp>
        <p:nvSpPr>
          <p:cNvPr id="34" name="Text 31"/>
          <p:cNvSpPr/>
          <p:nvPr/>
        </p:nvSpPr>
        <p:spPr>
          <a:xfrm>
            <a:off x="4645152" y="3858768"/>
            <a:ext cx="3995928" cy="201168"/>
          </a:xfrm>
          <a:prstGeom prst="rect">
            <a:avLst/>
          </a:prstGeom>
          <a:noFill/>
          <a:ln/>
        </p:spPr>
        <p:txBody>
          <a:bodyPr wrap="square" lIns="0" tIns="0" rIns="0" bIns="0" rtlCol="0" anchor="ctr"/>
          <a:lstStyle/>
          <a:p>
            <a:pPr algn="ctr" indent="0" marL="0">
              <a:buNone/>
            </a:pPr>
            <a:r>
              <a:rPr lang="en-US" sz="800" i="1" dirty="0">
                <a:solidFill>
                  <a:srgbClr val="5F7186"/>
                </a:solidFill>
                <a:latin typeface="Segoe UI" pitchFamily="34" charset="0"/>
                <a:ea typeface="Segoe UI" pitchFamily="34" charset="-122"/>
                <a:cs typeface="Segoe UI" pitchFamily="34" charset="-120"/>
              </a:rPr>
              <a:t>Hình 4.1: Sáu giai đoạn tách sọ não trên ca mẫu TCGA-LGG</a:t>
            </a:r>
            <a:endParaRPr lang="en-US" sz="800" dirty="0"/>
          </a:p>
        </p:txBody>
      </p:sp>
    </p:spTree>
  </p:cSld>
  <p:clrMapOvr>
    <a:masterClrMapping/>
  </p:clrMapOvr>
  <p:transition spd="med">
    <p:whee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400"/>
                                        <p:tgtEl>
                                          <p:spTgt spid="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400"/>
                                        <p:tgtEl>
                                          <p:spTgt spid="3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Effect transition="in" filter="fade">
                                      <p:cBhvr>
                                        <p:cTn id="118" dur="400"/>
                                        <p:tgtEl>
                                          <p:spTgt spid="33"/>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00"/>
                                        <p:tgtEl>
                                          <p:spTgt spid="10"/>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00"/>
                                        <p:tgtEl>
                                          <p:spTgt spid="11"/>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00"/>
                                        <p:tgtEl>
                                          <p:spTgt spid="12"/>
                                        </p:tgtEl>
                                      </p:cBhvr>
                                    </p:animEffect>
                                  </p:childTnLst>
                                </p:cTn>
                              </p:par>
                              <p:par>
                                <p:cTn id="128" presetID="10" presetClass="entr" presetSubtype="0" fill="hold" grpId="0" nodeType="withEffect">
                                  <p:stCondLst>
                                    <p:cond delay="28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00"/>
                                        <p:tgtEl>
                                          <p:spTgt spid="13"/>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00"/>
                                        <p:tgtEl>
                                          <p:spTgt spid="14"/>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00"/>
                                        <p:tgtEl>
                                          <p:spTgt spid="15"/>
                                        </p:tgtEl>
                                      </p:cBhvr>
                                    </p:animEffect>
                                  </p:childTnLst>
                                </p:cTn>
                              </p:par>
                              <p:par>
                                <p:cTn id="137" presetID="10" presetClass="entr" presetSubtype="0" fill="hold" grpId="0" nodeType="withEffect">
                                  <p:stCondLst>
                                    <p:cond delay="56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00"/>
                                        <p:tgtEl>
                                          <p:spTgt spid="16"/>
                                        </p:tgtEl>
                                      </p:cBhvr>
                                    </p:animEffect>
                                  </p:childTnLst>
                                </p:cTn>
                              </p:par>
                              <p:par>
                                <p:cTn id="140" presetID="10" presetClass="entr" presetSubtype="0" fill="hold" grpId="0" nodeType="withEffect">
                                  <p:stCondLst>
                                    <p:cond delay="560"/>
                                  </p:stCondLst>
                                  <p:childTnLst>
                                    <p:set>
                                      <p:cBhvr>
                                        <p:cTn id="141" dur="1" fill="hold">
                                          <p:stCondLst>
                                            <p:cond delay="0"/>
                                          </p:stCondLst>
                                        </p:cTn>
                                        <p:tgtEl>
                                          <p:spTgt spid="17"/>
                                        </p:tgtEl>
                                        <p:attrNameLst>
                                          <p:attrName>style.visibility</p:attrName>
                                        </p:attrNameLst>
                                      </p:cBhvr>
                                      <p:to>
                                        <p:strVal val="visible"/>
                                      </p:to>
                                    </p:set>
                                    <p:animEffect transition="in" filter="fade">
                                      <p:cBhvr>
                                        <p:cTn id="142" dur="400"/>
                                        <p:tgtEl>
                                          <p:spTgt spid="17"/>
                                        </p:tgtEl>
                                      </p:cBhvr>
                                    </p:animEffect>
                                  </p:childTnLst>
                                </p:cTn>
                              </p:par>
                              <p:par>
                                <p:cTn id="143" presetID="10" presetClass="entr" presetSubtype="0" fill="hold" grpId="0" nodeType="withEffect">
                                  <p:stCondLst>
                                    <p:cond delay="84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400"/>
                                        <p:tgtEl>
                                          <p:spTgt spid="18"/>
                                        </p:tgtEl>
                                      </p:cBhvr>
                                    </p:animEffect>
                                  </p:childTnLst>
                                </p:cTn>
                              </p:par>
                              <p:par>
                                <p:cTn id="146" presetID="10" presetClass="entr" presetSubtype="0" fill="hold" grpId="0" nodeType="withEffect">
                                  <p:stCondLst>
                                    <p:cond delay="840"/>
                                  </p:stCondLst>
                                  <p:childTnLst>
                                    <p:set>
                                      <p:cBhvr>
                                        <p:cTn id="147" dur="1" fill="hold">
                                          <p:stCondLst>
                                            <p:cond delay="0"/>
                                          </p:stCondLst>
                                        </p:cTn>
                                        <p:tgtEl>
                                          <p:spTgt spid="19"/>
                                        </p:tgtEl>
                                        <p:attrNameLst>
                                          <p:attrName>style.visibility</p:attrName>
                                        </p:attrNameLst>
                                      </p:cBhvr>
                                      <p:to>
                                        <p:strVal val="visible"/>
                                      </p:to>
                                    </p:set>
                                    <p:animEffect transition="in" filter="fade">
                                      <p:cBhvr>
                                        <p:cTn id="148" dur="400"/>
                                        <p:tgtEl>
                                          <p:spTgt spid="19"/>
                                        </p:tgtEl>
                                      </p:cBhvr>
                                    </p:animEffect>
                                  </p:childTnLst>
                                </p:cTn>
                              </p:par>
                              <p:par>
                                <p:cTn id="149" presetID="10" presetClass="entr" presetSubtype="0" fill="hold" grpId="0" nodeType="withEffect">
                                  <p:stCondLst>
                                    <p:cond delay="840"/>
                                  </p:stCondLst>
                                  <p:childTnLst>
                                    <p:set>
                                      <p:cBhvr>
                                        <p:cTn id="150" dur="1" fill="hold">
                                          <p:stCondLst>
                                            <p:cond delay="0"/>
                                          </p:stCondLst>
                                        </p:cTn>
                                        <p:tgtEl>
                                          <p:spTgt spid="20"/>
                                        </p:tgtEl>
                                        <p:attrNameLst>
                                          <p:attrName>style.visibility</p:attrName>
                                        </p:attrNameLst>
                                      </p:cBhvr>
                                      <p:to>
                                        <p:strVal val="visible"/>
                                      </p:to>
                                    </p:set>
                                    <p:animEffect transition="in" filter="fade">
                                      <p:cBhvr>
                                        <p:cTn id="151" dur="400"/>
                                        <p:tgtEl>
                                          <p:spTgt spid="20"/>
                                        </p:tgtEl>
                                      </p:cBhvr>
                                    </p:animEffect>
                                  </p:childTnLst>
                                </p:cTn>
                              </p:par>
                              <p:par>
                                <p:cTn id="152" presetID="10" presetClass="entr" presetSubtype="0" fill="hold" grpId="0" nodeType="withEffect">
                                  <p:stCondLst>
                                    <p:cond delay="1120"/>
                                  </p:stCondLst>
                                  <p:childTnLst>
                                    <p:set>
                                      <p:cBhvr>
                                        <p:cTn id="153" dur="1" fill="hold">
                                          <p:stCondLst>
                                            <p:cond delay="0"/>
                                          </p:stCondLst>
                                        </p:cTn>
                                        <p:tgtEl>
                                          <p:spTgt spid="22"/>
                                        </p:tgtEl>
                                        <p:attrNameLst>
                                          <p:attrName>style.visibility</p:attrName>
                                        </p:attrNameLst>
                                      </p:cBhvr>
                                      <p:to>
                                        <p:strVal val="visible"/>
                                      </p:to>
                                    </p:set>
                                    <p:animEffect transition="in" filter="fade">
                                      <p:cBhvr>
                                        <p:cTn id="154" dur="400"/>
                                        <p:tgtEl>
                                          <p:spTgt spid="22"/>
                                        </p:tgtEl>
                                      </p:cBhvr>
                                    </p:animEffect>
                                  </p:childTnLst>
                                </p:cTn>
                              </p:par>
                              <p:par>
                                <p:cTn id="155" presetID="10" presetClass="entr" presetSubtype="0" fill="hold" grpId="0" nodeType="withEffect">
                                  <p:stCondLst>
                                    <p:cond delay="1120"/>
                                  </p:stCondLst>
                                  <p:childTnLst>
                                    <p:set>
                                      <p:cBhvr>
                                        <p:cTn id="156" dur="1" fill="hold">
                                          <p:stCondLst>
                                            <p:cond delay="0"/>
                                          </p:stCondLst>
                                        </p:cTn>
                                        <p:tgtEl>
                                          <p:spTgt spid="23"/>
                                        </p:tgtEl>
                                        <p:attrNameLst>
                                          <p:attrName>style.visibility</p:attrName>
                                        </p:attrNameLst>
                                      </p:cBhvr>
                                      <p:to>
                                        <p:strVal val="visible"/>
                                      </p:to>
                                    </p:set>
                                    <p:animEffect transition="in" filter="fade">
                                      <p:cBhvr>
                                        <p:cTn id="157" dur="400"/>
                                        <p:tgtEl>
                                          <p:spTgt spid="23"/>
                                        </p:tgtEl>
                                      </p:cBhvr>
                                    </p:animEffect>
                                  </p:childTnLst>
                                </p:cTn>
                              </p:par>
                              <p:par>
                                <p:cTn id="158" presetID="10" presetClass="entr" presetSubtype="0" fill="hold" grpId="0" nodeType="withEffect">
                                  <p:stCondLst>
                                    <p:cond delay="1120"/>
                                  </p:stCondLst>
                                  <p:childTnLst>
                                    <p:set>
                                      <p:cBhvr>
                                        <p:cTn id="159" dur="1" fill="hold">
                                          <p:stCondLst>
                                            <p:cond delay="0"/>
                                          </p:stCondLst>
                                        </p:cTn>
                                        <p:tgtEl>
                                          <p:spTgt spid="21"/>
                                        </p:tgtEl>
                                        <p:attrNameLst>
                                          <p:attrName>style.visibility</p:attrName>
                                        </p:attrNameLst>
                                      </p:cBhvr>
                                      <p:to>
                                        <p:strVal val="visible"/>
                                      </p:to>
                                    </p:set>
                                    <p:animEffect transition="in" filter="fade">
                                      <p:cBhvr>
                                        <p:cTn id="160" dur="400"/>
                                        <p:tgtEl>
                                          <p:spTgt spid="21"/>
                                        </p:tgtEl>
                                      </p:cBhvr>
                                    </p:animEffect>
                                  </p:childTnLst>
                                </p:cTn>
                              </p:par>
                              <p:par>
                                <p:cTn id="161" presetID="10" presetClass="entr" presetSubtype="0" fill="hold" grpId="0" nodeType="withEffect">
                                  <p:stCondLst>
                                    <p:cond delay="1120"/>
                                  </p:stCondLst>
                                  <p:childTnLst>
                                    <p:set>
                                      <p:cBhvr>
                                        <p:cTn id="162" dur="1" fill="hold">
                                          <p:stCondLst>
                                            <p:cond delay="0"/>
                                          </p:stCondLst>
                                        </p:cTn>
                                        <p:tgtEl>
                                          <p:spTgt spid="24"/>
                                        </p:tgtEl>
                                        <p:attrNameLst>
                                          <p:attrName>style.visibility</p:attrName>
                                        </p:attrNameLst>
                                      </p:cBhvr>
                                      <p:to>
                                        <p:strVal val="visible"/>
                                      </p:to>
                                    </p:set>
                                    <p:animEffect transition="in" filter="fade">
                                      <p:cBhvr>
                                        <p:cTn id="163" dur="400"/>
                                        <p:tgtEl>
                                          <p:spTgt spid="24"/>
                                        </p:tgtEl>
                                      </p:cBhvr>
                                    </p:animEffect>
                                  </p:childTnLst>
                                </p:cTn>
                              </p:par>
                              <p:par>
                                <p:cTn id="164" presetID="10" presetClass="entr" presetSubtype="0" fill="hold" grpId="0" nodeType="withEffect">
                                  <p:stCondLst>
                                    <p:cond delay="1400"/>
                                  </p:stCondLst>
                                  <p:childTnLst>
                                    <p:set>
                                      <p:cBhvr>
                                        <p:cTn id="165" dur="1" fill="hold">
                                          <p:stCondLst>
                                            <p:cond delay="0"/>
                                          </p:stCondLst>
                                        </p:cTn>
                                        <p:tgtEl>
                                          <p:spTgt spid="25"/>
                                        </p:tgtEl>
                                        <p:attrNameLst>
                                          <p:attrName>style.visibility</p:attrName>
                                        </p:attrNameLst>
                                      </p:cBhvr>
                                      <p:to>
                                        <p:strVal val="visible"/>
                                      </p:to>
                                    </p:set>
                                    <p:animEffect transition="in" filter="fade">
                                      <p:cBhvr>
                                        <p:cTn id="166" dur="400"/>
                                        <p:tgtEl>
                                          <p:spTgt spid="25"/>
                                        </p:tgtEl>
                                      </p:cBhvr>
                                    </p:animEffect>
                                  </p:childTnLst>
                                </p:cTn>
                              </p:par>
                              <p:par>
                                <p:cTn id="167" presetID="10" presetClass="entr" presetSubtype="0" fill="hold" grpId="0" nodeType="withEffect">
                                  <p:stCondLst>
                                    <p:cond delay="1400"/>
                                  </p:stCondLst>
                                  <p:childTnLst>
                                    <p:set>
                                      <p:cBhvr>
                                        <p:cTn id="168" dur="1" fill="hold">
                                          <p:stCondLst>
                                            <p:cond delay="0"/>
                                          </p:stCondLst>
                                        </p:cTn>
                                        <p:tgtEl>
                                          <p:spTgt spid="34"/>
                                        </p:tgtEl>
                                        <p:attrNameLst>
                                          <p:attrName>style.visibility</p:attrName>
                                        </p:attrNameLst>
                                      </p:cBhvr>
                                      <p:to>
                                        <p:strVal val="visible"/>
                                      </p:to>
                                    </p:set>
                                    <p:animEffect transition="in" filter="fade">
                                      <p:cBhvr>
                                        <p:cTn id="169"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05  ·  PHƯƠNG PHÁP A</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Marker-controlled Watershed — Baseline chính</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06 / 20</a:t>
            </a:r>
            <a:endParaRPr lang="en-US" sz="800" dirty="0"/>
          </a:p>
        </p:txBody>
      </p:sp>
      <p:sp>
        <p:nvSpPr>
          <p:cNvPr id="6" name="Shape 4"/>
          <p:cNvSpPr/>
          <p:nvPr/>
        </p:nvSpPr>
        <p:spPr>
          <a:xfrm>
            <a:off x="502920" y="1243584"/>
            <a:ext cx="4343400" cy="329184"/>
          </a:xfrm>
          <a:prstGeom prst="roundRect">
            <a:avLst>
              <a:gd name="adj" fmla="val 16667"/>
            </a:avLst>
          </a:prstGeom>
          <a:solidFill>
            <a:srgbClr val="FFFFFF"/>
          </a:solidFill>
          <a:ln w="9525">
            <a:solidFill>
              <a:srgbClr val="D1E3E8"/>
            </a:solidFill>
            <a:prstDash val="solid"/>
          </a:ln>
        </p:spPr>
      </p:sp>
      <p:sp>
        <p:nvSpPr>
          <p:cNvPr id="7" name="Shape 5"/>
          <p:cNvSpPr/>
          <p:nvPr/>
        </p:nvSpPr>
        <p:spPr>
          <a:xfrm>
            <a:off x="612648" y="1325880"/>
            <a:ext cx="164592" cy="164592"/>
          </a:xfrm>
          <a:prstGeom prst="ellipse">
            <a:avLst/>
          </a:prstGeom>
          <a:solidFill>
            <a:srgbClr val="065A82"/>
          </a:solidFill>
          <a:ln w="6350">
            <a:solidFill>
              <a:srgbClr val="065A82"/>
            </a:solidFill>
            <a:prstDash val="solid"/>
          </a:ln>
        </p:spPr>
      </p:sp>
      <p:sp>
        <p:nvSpPr>
          <p:cNvPr id="8" name="Text 6"/>
          <p:cNvSpPr/>
          <p:nvPr/>
        </p:nvSpPr>
        <p:spPr>
          <a:xfrm>
            <a:off x="868680" y="1243584"/>
            <a:ext cx="3840480" cy="329184"/>
          </a:xfrm>
          <a:prstGeom prst="rect">
            <a:avLst/>
          </a:prstGeom>
          <a:noFill/>
          <a:ln/>
        </p:spPr>
        <p:txBody>
          <a:bodyPr wrap="square" lIns="0" tIns="0" rIns="0" bIns="0" rtlCol="0" anchor="ctr"/>
          <a:lstStyle/>
          <a:p>
            <a:pPr indent="0" marL="0">
              <a:buNone/>
            </a:pPr>
            <a:r>
              <a:rPr lang="en-US" sz="950" dirty="0">
                <a:solidFill>
                  <a:srgbClr val="1E293B"/>
                </a:solidFill>
                <a:latin typeface="Segoe UI" pitchFamily="34" charset="0"/>
                <a:ea typeface="Segoe UI" pitchFamily="34" charset="-122"/>
                <a:cs typeface="Segoe UI" pitchFamily="34" charset="-120"/>
              </a:rPr>
              <a:t>Lọc vùng não đã tách sọ, chuẩn hóa cường độ</a:t>
            </a:r>
            <a:endParaRPr lang="en-US" sz="950" dirty="0"/>
          </a:p>
        </p:txBody>
      </p:sp>
      <p:sp>
        <p:nvSpPr>
          <p:cNvPr id="9" name="Shape 7"/>
          <p:cNvSpPr/>
          <p:nvPr/>
        </p:nvSpPr>
        <p:spPr>
          <a:xfrm>
            <a:off x="502920" y="1627632"/>
            <a:ext cx="4343400" cy="329184"/>
          </a:xfrm>
          <a:prstGeom prst="roundRect">
            <a:avLst>
              <a:gd name="adj" fmla="val 16667"/>
            </a:avLst>
          </a:prstGeom>
          <a:solidFill>
            <a:srgbClr val="FFFFFF"/>
          </a:solidFill>
          <a:ln w="9525">
            <a:solidFill>
              <a:srgbClr val="D1E3E8"/>
            </a:solidFill>
            <a:prstDash val="solid"/>
          </a:ln>
        </p:spPr>
      </p:sp>
      <p:sp>
        <p:nvSpPr>
          <p:cNvPr id="10" name="Shape 8"/>
          <p:cNvSpPr/>
          <p:nvPr/>
        </p:nvSpPr>
        <p:spPr>
          <a:xfrm>
            <a:off x="612648" y="1709928"/>
            <a:ext cx="164592" cy="164592"/>
          </a:xfrm>
          <a:prstGeom prst="ellipse">
            <a:avLst/>
          </a:prstGeom>
          <a:solidFill>
            <a:srgbClr val="065A82"/>
          </a:solidFill>
          <a:ln w="6350">
            <a:solidFill>
              <a:srgbClr val="065A82"/>
            </a:solidFill>
            <a:prstDash val="solid"/>
          </a:ln>
        </p:spPr>
      </p:sp>
      <p:sp>
        <p:nvSpPr>
          <p:cNvPr id="11" name="Text 9"/>
          <p:cNvSpPr/>
          <p:nvPr/>
        </p:nvSpPr>
        <p:spPr>
          <a:xfrm>
            <a:off x="868680" y="1627632"/>
            <a:ext cx="3840480" cy="329184"/>
          </a:xfrm>
          <a:prstGeom prst="rect">
            <a:avLst/>
          </a:prstGeom>
          <a:noFill/>
          <a:ln/>
        </p:spPr>
        <p:txBody>
          <a:bodyPr wrap="square" lIns="0" tIns="0" rIns="0" bIns="0" rtlCol="0" anchor="ctr"/>
          <a:lstStyle/>
          <a:p>
            <a:pPr indent="0" marL="0">
              <a:buNone/>
            </a:pPr>
            <a:r>
              <a:rPr lang="en-US" sz="950" dirty="0">
                <a:solidFill>
                  <a:srgbClr val="1E293B"/>
                </a:solidFill>
                <a:latin typeface="Segoe UI" pitchFamily="34" charset="0"/>
                <a:ea typeface="Segoe UI" pitchFamily="34" charset="-122"/>
                <a:cs typeface="Segoe UI" pitchFamily="34" charset="-120"/>
              </a:rPr>
              <a:t>Ngưỡng hóa phân vị 85 tạo mặt nạ ứng viên u</a:t>
            </a:r>
            <a:endParaRPr lang="en-US" sz="950" dirty="0"/>
          </a:p>
        </p:txBody>
      </p:sp>
      <p:sp>
        <p:nvSpPr>
          <p:cNvPr id="12" name="Shape 10"/>
          <p:cNvSpPr/>
          <p:nvPr/>
        </p:nvSpPr>
        <p:spPr>
          <a:xfrm>
            <a:off x="502920" y="2011680"/>
            <a:ext cx="4343400" cy="329184"/>
          </a:xfrm>
          <a:prstGeom prst="roundRect">
            <a:avLst>
              <a:gd name="adj" fmla="val 16667"/>
            </a:avLst>
          </a:prstGeom>
          <a:solidFill>
            <a:srgbClr val="FFFFFF"/>
          </a:solidFill>
          <a:ln w="9525">
            <a:solidFill>
              <a:srgbClr val="D1E3E8"/>
            </a:solidFill>
            <a:prstDash val="solid"/>
          </a:ln>
        </p:spPr>
      </p:sp>
      <p:sp>
        <p:nvSpPr>
          <p:cNvPr id="13" name="Shape 11"/>
          <p:cNvSpPr/>
          <p:nvPr/>
        </p:nvSpPr>
        <p:spPr>
          <a:xfrm>
            <a:off x="612648" y="2093976"/>
            <a:ext cx="164592" cy="164592"/>
          </a:xfrm>
          <a:prstGeom prst="ellipse">
            <a:avLst/>
          </a:prstGeom>
          <a:solidFill>
            <a:srgbClr val="065A82"/>
          </a:solidFill>
          <a:ln w="6350">
            <a:solidFill>
              <a:srgbClr val="065A82"/>
            </a:solidFill>
            <a:prstDash val="solid"/>
          </a:ln>
        </p:spPr>
      </p:sp>
      <p:sp>
        <p:nvSpPr>
          <p:cNvPr id="14" name="Text 12"/>
          <p:cNvSpPr/>
          <p:nvPr/>
        </p:nvSpPr>
        <p:spPr>
          <a:xfrm>
            <a:off x="868680" y="2011680"/>
            <a:ext cx="3840480" cy="329184"/>
          </a:xfrm>
          <a:prstGeom prst="rect">
            <a:avLst/>
          </a:prstGeom>
          <a:noFill/>
          <a:ln/>
        </p:spPr>
        <p:txBody>
          <a:bodyPr wrap="square" lIns="0" tIns="0" rIns="0" bIns="0" rtlCol="0" anchor="ctr"/>
          <a:lstStyle/>
          <a:p>
            <a:pPr indent="0" marL="0">
              <a:buNone/>
            </a:pPr>
            <a:r>
              <a:rPr lang="en-US" sz="950" dirty="0">
                <a:solidFill>
                  <a:srgbClr val="1E293B"/>
                </a:solidFill>
                <a:latin typeface="Segoe UI" pitchFamily="34" charset="0"/>
                <a:ea typeface="Segoe UI" pitchFamily="34" charset="-122"/>
                <a:cs typeface="Segoe UI" pitchFamily="34" charset="-120"/>
              </a:rPr>
              <a:t>Phép mở hình thái học loại đảo nhiễu nhỏ</a:t>
            </a:r>
            <a:endParaRPr lang="en-US" sz="950" dirty="0"/>
          </a:p>
        </p:txBody>
      </p:sp>
      <p:sp>
        <p:nvSpPr>
          <p:cNvPr id="15" name="Shape 13"/>
          <p:cNvSpPr/>
          <p:nvPr/>
        </p:nvSpPr>
        <p:spPr>
          <a:xfrm>
            <a:off x="502920" y="2395728"/>
            <a:ext cx="4343400" cy="329184"/>
          </a:xfrm>
          <a:prstGeom prst="roundRect">
            <a:avLst>
              <a:gd name="adj" fmla="val 16667"/>
            </a:avLst>
          </a:prstGeom>
          <a:solidFill>
            <a:srgbClr val="FFFFFF"/>
          </a:solidFill>
          <a:ln w="9525">
            <a:solidFill>
              <a:srgbClr val="D1E3E8"/>
            </a:solidFill>
            <a:prstDash val="solid"/>
          </a:ln>
        </p:spPr>
      </p:sp>
      <p:sp>
        <p:nvSpPr>
          <p:cNvPr id="16" name="Shape 14"/>
          <p:cNvSpPr/>
          <p:nvPr/>
        </p:nvSpPr>
        <p:spPr>
          <a:xfrm>
            <a:off x="612648" y="2478024"/>
            <a:ext cx="164592" cy="164592"/>
          </a:xfrm>
          <a:prstGeom prst="ellipse">
            <a:avLst/>
          </a:prstGeom>
          <a:solidFill>
            <a:srgbClr val="065A82"/>
          </a:solidFill>
          <a:ln w="6350">
            <a:solidFill>
              <a:srgbClr val="065A82"/>
            </a:solidFill>
            <a:prstDash val="solid"/>
          </a:ln>
        </p:spPr>
      </p:sp>
      <p:sp>
        <p:nvSpPr>
          <p:cNvPr id="17" name="Text 15"/>
          <p:cNvSpPr/>
          <p:nvPr/>
        </p:nvSpPr>
        <p:spPr>
          <a:xfrm>
            <a:off x="868680" y="2395728"/>
            <a:ext cx="3840480" cy="329184"/>
          </a:xfrm>
          <a:prstGeom prst="rect">
            <a:avLst/>
          </a:prstGeom>
          <a:noFill/>
          <a:ln/>
        </p:spPr>
        <p:txBody>
          <a:bodyPr wrap="square" lIns="0" tIns="0" rIns="0" bIns="0" rtlCol="0" anchor="ctr"/>
          <a:lstStyle/>
          <a:p>
            <a:pPr indent="0" marL="0">
              <a:buNone/>
            </a:pPr>
            <a:r>
              <a:rPr lang="en-US" sz="950" dirty="0">
                <a:solidFill>
                  <a:srgbClr val="1E293B"/>
                </a:solidFill>
                <a:latin typeface="Segoe UI" pitchFamily="34" charset="0"/>
                <a:ea typeface="Segoe UI" pitchFamily="34" charset="-122"/>
                <a:cs typeface="Segoe UI" pitchFamily="34" charset="-120"/>
              </a:rPr>
              <a:t>Biến đổi khoảng cách Euclidean EDT (chuẩn L2)</a:t>
            </a:r>
            <a:endParaRPr lang="en-US" sz="950" dirty="0"/>
          </a:p>
        </p:txBody>
      </p:sp>
      <p:sp>
        <p:nvSpPr>
          <p:cNvPr id="18" name="Shape 16"/>
          <p:cNvSpPr/>
          <p:nvPr/>
        </p:nvSpPr>
        <p:spPr>
          <a:xfrm>
            <a:off x="502920" y="2779776"/>
            <a:ext cx="4343400" cy="329184"/>
          </a:xfrm>
          <a:prstGeom prst="roundRect">
            <a:avLst>
              <a:gd name="adj" fmla="val 16667"/>
            </a:avLst>
          </a:prstGeom>
          <a:solidFill>
            <a:srgbClr val="FFFFFF"/>
          </a:solidFill>
          <a:ln w="9525">
            <a:solidFill>
              <a:srgbClr val="D1E3E8"/>
            </a:solidFill>
            <a:prstDash val="solid"/>
          </a:ln>
        </p:spPr>
      </p:sp>
      <p:sp>
        <p:nvSpPr>
          <p:cNvPr id="19" name="Shape 17"/>
          <p:cNvSpPr/>
          <p:nvPr/>
        </p:nvSpPr>
        <p:spPr>
          <a:xfrm>
            <a:off x="612648" y="2862072"/>
            <a:ext cx="164592" cy="164592"/>
          </a:xfrm>
          <a:prstGeom prst="ellipse">
            <a:avLst/>
          </a:prstGeom>
          <a:solidFill>
            <a:srgbClr val="065A82"/>
          </a:solidFill>
          <a:ln w="6350">
            <a:solidFill>
              <a:srgbClr val="065A82"/>
            </a:solidFill>
            <a:prstDash val="solid"/>
          </a:ln>
        </p:spPr>
      </p:sp>
      <p:sp>
        <p:nvSpPr>
          <p:cNvPr id="20" name="Text 18"/>
          <p:cNvSpPr/>
          <p:nvPr/>
        </p:nvSpPr>
        <p:spPr>
          <a:xfrm>
            <a:off x="868680" y="2779776"/>
            <a:ext cx="3840480" cy="329184"/>
          </a:xfrm>
          <a:prstGeom prst="rect">
            <a:avLst/>
          </a:prstGeom>
          <a:noFill/>
          <a:ln/>
        </p:spPr>
        <p:txBody>
          <a:bodyPr wrap="square" lIns="0" tIns="0" rIns="0" bIns="0" rtlCol="0" anchor="ctr"/>
          <a:lstStyle/>
          <a:p>
            <a:pPr indent="0" marL="0">
              <a:buNone/>
            </a:pPr>
            <a:r>
              <a:rPr lang="en-US" sz="950" dirty="0">
                <a:solidFill>
                  <a:srgbClr val="1E293B"/>
                </a:solidFill>
                <a:latin typeface="Segoe UI" pitchFamily="34" charset="0"/>
                <a:ea typeface="Segoe UI" pitchFamily="34" charset="-122"/>
                <a:cs typeface="Segoe UI" pitchFamily="34" charset="-120"/>
              </a:rPr>
              <a:t>Xác định Sure Foreground &amp; Sure Background</a:t>
            </a:r>
            <a:endParaRPr lang="en-US" sz="950" dirty="0"/>
          </a:p>
        </p:txBody>
      </p:sp>
      <p:sp>
        <p:nvSpPr>
          <p:cNvPr id="21" name="Shape 19"/>
          <p:cNvSpPr/>
          <p:nvPr/>
        </p:nvSpPr>
        <p:spPr>
          <a:xfrm>
            <a:off x="502920" y="3163824"/>
            <a:ext cx="4343400" cy="329184"/>
          </a:xfrm>
          <a:prstGeom prst="roundRect">
            <a:avLst>
              <a:gd name="adj" fmla="val 16667"/>
            </a:avLst>
          </a:prstGeom>
          <a:solidFill>
            <a:srgbClr val="FFFFFF"/>
          </a:solidFill>
          <a:ln w="9525">
            <a:solidFill>
              <a:srgbClr val="D1E3E8"/>
            </a:solidFill>
            <a:prstDash val="solid"/>
          </a:ln>
        </p:spPr>
      </p:sp>
      <p:sp>
        <p:nvSpPr>
          <p:cNvPr id="22" name="Shape 20"/>
          <p:cNvSpPr/>
          <p:nvPr/>
        </p:nvSpPr>
        <p:spPr>
          <a:xfrm>
            <a:off x="612648" y="3246120"/>
            <a:ext cx="164592" cy="164592"/>
          </a:xfrm>
          <a:prstGeom prst="ellipse">
            <a:avLst/>
          </a:prstGeom>
          <a:solidFill>
            <a:srgbClr val="065A82"/>
          </a:solidFill>
          <a:ln w="6350">
            <a:solidFill>
              <a:srgbClr val="065A82"/>
            </a:solidFill>
            <a:prstDash val="solid"/>
          </a:ln>
        </p:spPr>
      </p:sp>
      <p:sp>
        <p:nvSpPr>
          <p:cNvPr id="23" name="Text 21"/>
          <p:cNvSpPr/>
          <p:nvPr/>
        </p:nvSpPr>
        <p:spPr>
          <a:xfrm>
            <a:off x="868680" y="3163824"/>
            <a:ext cx="3840480" cy="329184"/>
          </a:xfrm>
          <a:prstGeom prst="rect">
            <a:avLst/>
          </a:prstGeom>
          <a:noFill/>
          <a:ln/>
        </p:spPr>
        <p:txBody>
          <a:bodyPr wrap="square" lIns="0" tIns="0" rIns="0" bIns="0" rtlCol="0" anchor="ctr"/>
          <a:lstStyle/>
          <a:p>
            <a:pPr indent="0" marL="0">
              <a:buNone/>
            </a:pPr>
            <a:r>
              <a:rPr lang="en-US" sz="950" dirty="0">
                <a:solidFill>
                  <a:srgbClr val="1E293B"/>
                </a:solidFill>
                <a:latin typeface="Segoe UI" pitchFamily="34" charset="0"/>
                <a:ea typeface="Segoe UI" pitchFamily="34" charset="-122"/>
                <a:cs typeface="Segoe UI" pitchFamily="34" charset="-120"/>
              </a:rPr>
              <a:t>Ngập lụt Watershed có ràng buộc marker, chặn tràn cạnh</a:t>
            </a:r>
            <a:endParaRPr lang="en-US" sz="950" dirty="0"/>
          </a:p>
        </p:txBody>
      </p:sp>
      <p:sp>
        <p:nvSpPr>
          <p:cNvPr id="24" name="Shape 22"/>
          <p:cNvSpPr/>
          <p:nvPr/>
        </p:nvSpPr>
        <p:spPr>
          <a:xfrm>
            <a:off x="502920" y="3547872"/>
            <a:ext cx="4343400" cy="329184"/>
          </a:xfrm>
          <a:prstGeom prst="roundRect">
            <a:avLst>
              <a:gd name="adj" fmla="val 16667"/>
            </a:avLst>
          </a:prstGeom>
          <a:solidFill>
            <a:srgbClr val="FFFFFF"/>
          </a:solidFill>
          <a:ln w="9525">
            <a:solidFill>
              <a:srgbClr val="D1E3E8"/>
            </a:solidFill>
            <a:prstDash val="solid"/>
          </a:ln>
        </p:spPr>
      </p:sp>
      <p:sp>
        <p:nvSpPr>
          <p:cNvPr id="25" name="Shape 23"/>
          <p:cNvSpPr/>
          <p:nvPr/>
        </p:nvSpPr>
        <p:spPr>
          <a:xfrm>
            <a:off x="612648" y="3630168"/>
            <a:ext cx="164592" cy="164592"/>
          </a:xfrm>
          <a:prstGeom prst="ellipse">
            <a:avLst/>
          </a:prstGeom>
          <a:solidFill>
            <a:srgbClr val="065A82"/>
          </a:solidFill>
          <a:ln w="6350">
            <a:solidFill>
              <a:srgbClr val="065A82"/>
            </a:solidFill>
            <a:prstDash val="solid"/>
          </a:ln>
        </p:spPr>
      </p:sp>
      <p:sp>
        <p:nvSpPr>
          <p:cNvPr id="26" name="Text 24"/>
          <p:cNvSpPr/>
          <p:nvPr/>
        </p:nvSpPr>
        <p:spPr>
          <a:xfrm>
            <a:off x="868680" y="3547872"/>
            <a:ext cx="3840480" cy="329184"/>
          </a:xfrm>
          <a:prstGeom prst="rect">
            <a:avLst/>
          </a:prstGeom>
          <a:noFill/>
          <a:ln/>
        </p:spPr>
        <p:txBody>
          <a:bodyPr wrap="square" lIns="0" tIns="0" rIns="0" bIns="0" rtlCol="0" anchor="ctr"/>
          <a:lstStyle/>
          <a:p>
            <a:pPr indent="0" marL="0">
              <a:buNone/>
            </a:pPr>
            <a:r>
              <a:rPr lang="en-US" sz="950" dirty="0">
                <a:solidFill>
                  <a:srgbClr val="1E293B"/>
                </a:solidFill>
                <a:latin typeface="Segoe UI" pitchFamily="34" charset="0"/>
                <a:ea typeface="Segoe UI" pitchFamily="34" charset="-122"/>
                <a:cs typeface="Segoe UI" pitchFamily="34" charset="-120"/>
              </a:rPr>
              <a:t>Lọc đảo nhỏ theo ngưỡng min_tumor_area</a:t>
            </a:r>
            <a:endParaRPr lang="en-US" sz="950" dirty="0"/>
          </a:p>
        </p:txBody>
      </p:sp>
      <p:sp>
        <p:nvSpPr>
          <p:cNvPr id="27" name="Shape 25"/>
          <p:cNvSpPr/>
          <p:nvPr/>
        </p:nvSpPr>
        <p:spPr>
          <a:xfrm>
            <a:off x="5074920" y="1243584"/>
            <a:ext cx="3566160" cy="1225296"/>
          </a:xfrm>
          <a:prstGeom prst="roundRect">
            <a:avLst>
              <a:gd name="adj" fmla="val 4478"/>
            </a:avLst>
          </a:prstGeom>
          <a:solidFill>
            <a:srgbClr val="FFFFFF"/>
          </a:solidFill>
          <a:ln w="9525">
            <a:solidFill>
              <a:srgbClr val="D1E3E8"/>
            </a:solidFill>
            <a:prstDash val="solid"/>
          </a:ln>
          <a:effectLst>
            <a:outerShdw sx="100000" sy="100000" kx="0" ky="0" algn="bl" rotWithShape="0" blurRad="1.1633040817125008e+70" dist="5.816520408562504e+69" dir="1.5233993500262402e+83">
              <a:srgbClr val="0B2B3C">
                <a:alpha val="9.999999999999998e+83"/>
              </a:srgbClr>
            </a:outerShdw>
          </a:effectLst>
        </p:spPr>
      </p:sp>
      <p:sp>
        <p:nvSpPr>
          <p:cNvPr id="28" name="Text 26"/>
          <p:cNvSpPr/>
          <p:nvPr/>
        </p:nvSpPr>
        <p:spPr>
          <a:xfrm>
            <a:off x="5276088" y="1389888"/>
            <a:ext cx="3163824" cy="219456"/>
          </a:xfrm>
          <a:prstGeom prst="rect">
            <a:avLst/>
          </a:prstGeom>
          <a:noFill/>
          <a:ln/>
        </p:spPr>
        <p:txBody>
          <a:bodyPr wrap="square" lIns="0" tIns="0" rIns="0" bIns="0" rtlCol="0" anchor="ctr"/>
          <a:lstStyle/>
          <a:p>
            <a:pPr indent="0" marL="0">
              <a:buNone/>
            </a:pPr>
            <a:r>
              <a:rPr lang="en-US" sz="900" spc="110" kern="0" dirty="0">
                <a:solidFill>
                  <a:srgbClr val="028090"/>
                </a:solidFill>
                <a:latin typeface="Segoe UI Semibold" pitchFamily="34" charset="0"/>
                <a:ea typeface="Segoe UI Semibold" pitchFamily="34" charset="-122"/>
                <a:cs typeface="Segoe UI Semibold" pitchFamily="34" charset="-120"/>
              </a:rPr>
              <a:t>BIẾN ĐỔI KHOẢNG CÁCH</a:t>
            </a:r>
            <a:endParaRPr lang="en-US" sz="900" dirty="0"/>
          </a:p>
        </p:txBody>
      </p:sp>
      <p:sp>
        <p:nvSpPr>
          <p:cNvPr id="29" name="Text 27"/>
          <p:cNvSpPr/>
          <p:nvPr/>
        </p:nvSpPr>
        <p:spPr>
          <a:xfrm>
            <a:off x="5276088" y="1664208"/>
            <a:ext cx="3163824" cy="457200"/>
          </a:xfrm>
          <a:prstGeom prst="rect">
            <a:avLst/>
          </a:prstGeom>
          <a:noFill/>
          <a:ln/>
        </p:spPr>
        <p:txBody>
          <a:bodyPr wrap="square" lIns="0" tIns="0" rIns="0" bIns="0" rtlCol="0" anchor="ctr"/>
          <a:lstStyle/>
          <a:p>
            <a:pPr algn="ctr" indent="0" marL="0">
              <a:buNone/>
            </a:pPr>
            <a:r>
              <a:rPr lang="en-US" sz="1400" i="1" dirty="0">
                <a:solidFill>
                  <a:srgbClr val="21295C"/>
                </a:solidFill>
                <a:latin typeface="Segoe UI" pitchFamily="34" charset="0"/>
                <a:ea typeface="Segoe UI" pitchFamily="34" charset="-122"/>
                <a:cs typeface="Segoe UI" pitchFamily="34" charset="-120"/>
              </a:rPr>
              <a:t>D(x, y) = min ‖ (x, y) − b ‖₂</a:t>
            </a:r>
            <a:endParaRPr lang="en-US" sz="1400" dirty="0"/>
          </a:p>
        </p:txBody>
      </p:sp>
      <p:sp>
        <p:nvSpPr>
          <p:cNvPr id="30" name="Text 28"/>
          <p:cNvSpPr/>
          <p:nvPr/>
        </p:nvSpPr>
        <p:spPr>
          <a:xfrm>
            <a:off x="5276088" y="2103120"/>
            <a:ext cx="3163824" cy="329184"/>
          </a:xfrm>
          <a:prstGeom prst="rect">
            <a:avLst/>
          </a:prstGeom>
          <a:noFill/>
          <a:ln/>
        </p:spPr>
        <p:txBody>
          <a:bodyPr wrap="square" lIns="0" tIns="0" rIns="0" bIns="0" rtlCol="0" anchor="t"/>
          <a:lstStyle/>
          <a:p>
            <a:pPr indent="0" marL="0">
              <a:lnSpc>
                <a:spcPct val="110000"/>
              </a:lnSpc>
              <a:buNone/>
            </a:pPr>
            <a:r>
              <a:rPr lang="en-US" sz="850" dirty="0">
                <a:solidFill>
                  <a:srgbClr val="5F7186"/>
                </a:solidFill>
                <a:latin typeface="Segoe UI" pitchFamily="34" charset="0"/>
                <a:ea typeface="Segoe UI" pitchFamily="34" charset="-122"/>
                <a:cs typeface="Segoe UI" pitchFamily="34" charset="-120"/>
              </a:rPr>
              <a:t>b là pixel nền gần nhất; đỉnh cực đại của D chính là tâm khối u.</a:t>
            </a:r>
            <a:endParaRPr lang="en-US" sz="850" dirty="0"/>
          </a:p>
        </p:txBody>
      </p:sp>
      <p:sp>
        <p:nvSpPr>
          <p:cNvPr id="31" name="Shape 29"/>
          <p:cNvSpPr/>
          <p:nvPr/>
        </p:nvSpPr>
        <p:spPr>
          <a:xfrm>
            <a:off x="5074920" y="2560320"/>
            <a:ext cx="3566160" cy="1225296"/>
          </a:xfrm>
          <a:prstGeom prst="roundRect">
            <a:avLst>
              <a:gd name="adj" fmla="val 4478"/>
            </a:avLst>
          </a:prstGeom>
          <a:solidFill>
            <a:srgbClr val="FFFFFF"/>
          </a:solidFill>
          <a:ln w="9525">
            <a:solidFill>
              <a:srgbClr val="D1E3E8"/>
            </a:solidFill>
            <a:prstDash val="solid"/>
          </a:ln>
          <a:effectLst>
            <a:outerShdw sx="100000" sy="100000" kx="0" ky="0" algn="bl" rotWithShape="0" blurRad="1.477396183774876e+74" dist="7.38698091887438e+73" dir="9.14039610015744e+87">
              <a:srgbClr val="0B2B3C">
                <a:alpha val="9.999999999999999e+88"/>
              </a:srgbClr>
            </a:outerShdw>
          </a:effectLst>
        </p:spPr>
      </p:sp>
      <p:sp>
        <p:nvSpPr>
          <p:cNvPr id="32" name="Text 30"/>
          <p:cNvSpPr/>
          <p:nvPr/>
        </p:nvSpPr>
        <p:spPr>
          <a:xfrm>
            <a:off x="5276088" y="2706624"/>
            <a:ext cx="3163824" cy="219456"/>
          </a:xfrm>
          <a:prstGeom prst="rect">
            <a:avLst/>
          </a:prstGeom>
          <a:noFill/>
          <a:ln/>
        </p:spPr>
        <p:txBody>
          <a:bodyPr wrap="square" lIns="0" tIns="0" rIns="0" bIns="0" rtlCol="0" anchor="ctr"/>
          <a:lstStyle/>
          <a:p>
            <a:pPr indent="0" marL="0">
              <a:buNone/>
            </a:pPr>
            <a:r>
              <a:rPr lang="en-US" sz="900" spc="110" kern="0" dirty="0">
                <a:solidFill>
                  <a:srgbClr val="028090"/>
                </a:solidFill>
                <a:latin typeface="Segoe UI Semibold" pitchFamily="34" charset="0"/>
                <a:ea typeface="Segoe UI Semibold" pitchFamily="34" charset="-122"/>
                <a:cs typeface="Segoe UI Semibold" pitchFamily="34" charset="-120"/>
              </a:rPr>
              <a:t>NGƯỠNG HẠT GIỐNG</a:t>
            </a:r>
            <a:endParaRPr lang="en-US" sz="900" dirty="0"/>
          </a:p>
        </p:txBody>
      </p:sp>
      <p:sp>
        <p:nvSpPr>
          <p:cNvPr id="33" name="Text 31"/>
          <p:cNvSpPr/>
          <p:nvPr/>
        </p:nvSpPr>
        <p:spPr>
          <a:xfrm>
            <a:off x="5276088" y="2980944"/>
            <a:ext cx="3163824" cy="457200"/>
          </a:xfrm>
          <a:prstGeom prst="rect">
            <a:avLst/>
          </a:prstGeom>
          <a:noFill/>
          <a:ln/>
        </p:spPr>
        <p:txBody>
          <a:bodyPr wrap="square" lIns="0" tIns="0" rIns="0" bIns="0" rtlCol="0" anchor="ctr"/>
          <a:lstStyle/>
          <a:p>
            <a:pPr algn="ctr" indent="0" marL="0">
              <a:buNone/>
            </a:pPr>
            <a:r>
              <a:rPr lang="en-US" sz="1400" i="1" dirty="0">
                <a:solidFill>
                  <a:srgbClr val="21295C"/>
                </a:solidFill>
                <a:latin typeface="Segoe UI" pitchFamily="34" charset="0"/>
                <a:ea typeface="Segoe UI" pitchFamily="34" charset="-122"/>
                <a:cs typeface="Segoe UI" pitchFamily="34" charset="-120"/>
              </a:rPr>
              <a:t>M = { p | D(p) &gt; 0.4 · max D }</a:t>
            </a:r>
            <a:endParaRPr lang="en-US" sz="1400" dirty="0"/>
          </a:p>
        </p:txBody>
      </p:sp>
      <p:sp>
        <p:nvSpPr>
          <p:cNvPr id="34" name="Text 32"/>
          <p:cNvSpPr/>
          <p:nvPr/>
        </p:nvSpPr>
        <p:spPr>
          <a:xfrm>
            <a:off x="5276088" y="3419856"/>
            <a:ext cx="3163824" cy="329184"/>
          </a:xfrm>
          <a:prstGeom prst="rect">
            <a:avLst/>
          </a:prstGeom>
          <a:noFill/>
          <a:ln/>
        </p:spPr>
        <p:txBody>
          <a:bodyPr wrap="square" lIns="0" tIns="0" rIns="0" bIns="0" rtlCol="0" anchor="t"/>
          <a:lstStyle/>
          <a:p>
            <a:pPr indent="0" marL="0">
              <a:lnSpc>
                <a:spcPct val="110000"/>
              </a:lnSpc>
              <a:buNone/>
            </a:pPr>
            <a:r>
              <a:rPr lang="en-US" sz="850" dirty="0">
                <a:solidFill>
                  <a:srgbClr val="5F7186"/>
                </a:solidFill>
                <a:latin typeface="Segoe UI" pitchFamily="34" charset="0"/>
                <a:ea typeface="Segoe UI" pitchFamily="34" charset="-122"/>
                <a:cs typeface="Segoe UI" pitchFamily="34" charset="-120"/>
              </a:rPr>
              <a:t>Marker = Sure Foreground; vùng nền chắc chắn làm biên chặn ngập lụt.</a:t>
            </a:r>
            <a:endParaRPr lang="en-US" sz="850" dirty="0"/>
          </a:p>
        </p:txBody>
      </p:sp>
      <p:sp>
        <p:nvSpPr>
          <p:cNvPr id="35" name="Shape 33"/>
          <p:cNvSpPr/>
          <p:nvPr/>
        </p:nvSpPr>
        <p:spPr>
          <a:xfrm>
            <a:off x="5074920" y="3877056"/>
            <a:ext cx="3566160" cy="804672"/>
          </a:xfrm>
          <a:prstGeom prst="roundRect">
            <a:avLst>
              <a:gd name="adj" fmla="val 6818"/>
            </a:avLst>
          </a:prstGeom>
          <a:solidFill>
            <a:srgbClr val="065A82"/>
          </a:solidFill>
          <a:ln w="9525">
            <a:solidFill>
              <a:srgbClr val="065A82"/>
            </a:solidFill>
            <a:prstDash val="solid"/>
          </a:ln>
          <a:effectLst>
            <a:outerShdw sx="100000" sy="100000" kx="0" ky="0" algn="bl" rotWithShape="0" blurRad="1.8762931533940924e+78" dist="9.381465766970462e+77" dir="5.484237660094465e+92">
              <a:srgbClr val="0B2B3C">
                <a:alpha val="9.999999999999998e+93"/>
              </a:srgbClr>
            </a:outerShdw>
          </a:effectLst>
        </p:spPr>
      </p:sp>
      <p:sp>
        <p:nvSpPr>
          <p:cNvPr id="36" name="Text 34"/>
          <p:cNvSpPr/>
          <p:nvPr/>
        </p:nvSpPr>
        <p:spPr>
          <a:xfrm>
            <a:off x="5257800" y="3950208"/>
            <a:ext cx="3200400" cy="182880"/>
          </a:xfrm>
          <a:prstGeom prst="rect">
            <a:avLst/>
          </a:prstGeom>
          <a:noFill/>
          <a:ln/>
        </p:spPr>
        <p:txBody>
          <a:bodyPr wrap="square" lIns="0" tIns="0" rIns="0" bIns="0" rtlCol="0" anchor="ctr"/>
          <a:lstStyle/>
          <a:p>
            <a:pPr indent="0" marL="0">
              <a:buNone/>
            </a:pPr>
            <a:r>
              <a:rPr lang="en-US" sz="900" spc="120" kern="0" dirty="0">
                <a:solidFill>
                  <a:srgbClr val="9FE8DC"/>
                </a:solidFill>
                <a:latin typeface="Segoe UI Semibold" pitchFamily="34" charset="0"/>
                <a:ea typeface="Segoe UI Semibold" pitchFamily="34" charset="-122"/>
                <a:cs typeface="Segoe UI Semibold" pitchFamily="34" charset="-120"/>
              </a:rPr>
              <a:t>Ưu điểm</a:t>
            </a:r>
            <a:endParaRPr lang="en-US" sz="900" dirty="0"/>
          </a:p>
        </p:txBody>
      </p:sp>
      <p:sp>
        <p:nvSpPr>
          <p:cNvPr id="37" name="Text 35"/>
          <p:cNvSpPr/>
          <p:nvPr/>
        </p:nvSpPr>
        <p:spPr>
          <a:xfrm>
            <a:off x="5257800" y="4151376"/>
            <a:ext cx="3200400" cy="475488"/>
          </a:xfrm>
          <a:prstGeom prst="rect">
            <a:avLst/>
          </a:prstGeom>
          <a:noFill/>
          <a:ln/>
        </p:spPr>
        <p:txBody>
          <a:bodyPr wrap="square" lIns="0" tIns="0" rIns="0" bIns="0" rtlCol="0" anchor="t"/>
          <a:lstStyle/>
          <a:p>
            <a:pPr indent="0" marL="0">
              <a:lnSpc>
                <a:spcPct val="115000"/>
              </a:lnSpc>
              <a:buNone/>
            </a:pPr>
            <a:r>
              <a:rPr lang="en-US" sz="900" dirty="0">
                <a:solidFill>
                  <a:srgbClr val="FFFFFF"/>
                </a:solidFill>
                <a:latin typeface="Segoe UI" pitchFamily="34" charset="0"/>
                <a:ea typeface="Segoe UI" pitchFamily="34" charset="-122"/>
                <a:cs typeface="Segoe UI" pitchFamily="34" charset="-120"/>
              </a:rPr>
              <a:t>Tách xuất sắc khối u nhiều tâm hoặc cụm u tiếp giáp nhờ neo hạt giống tại đỉnh EDT.</a:t>
            </a:r>
            <a:endParaRPr lang="en-US" sz="900" dirty="0"/>
          </a:p>
        </p:txBody>
      </p:sp>
    </p:spTree>
  </p:cSld>
  <p:clrMapOvr>
    <a:masterClrMapping/>
  </p:clrMapOvr>
  <p:transition spd="med">
    <p:comb/>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400"/>
                                        <p:tgtEl>
                                          <p:spTgt spid="2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400"/>
                                        <p:tgtEl>
                                          <p:spTgt spid="28"/>
                                        </p:tgtEl>
                                      </p:cBhvr>
                                    </p:animEffect>
                                  </p:childTnLst>
                                </p:cTn>
                              </p:par>
                              <p:par>
                                <p:cTn id="116" presetID="10" presetClass="entr" presetSubtype="0" fill="hold" grpId="0" nodeType="withEffect">
                                  <p:stCondLst>
                                    <p:cond delay="28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00"/>
                                        <p:tgtEl>
                                          <p:spTgt spid="9"/>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2"/>
                                        </p:tgtEl>
                                        <p:attrNameLst>
                                          <p:attrName>style.visibility</p:attrName>
                                        </p:attrNameLst>
                                      </p:cBhvr>
                                      <p:to>
                                        <p:strVal val="visible"/>
                                      </p:to>
                                    </p:set>
                                    <p:animEffect transition="in" filter="fade">
                                      <p:cBhvr>
                                        <p:cTn id="121" dur="400"/>
                                        <p:tgtEl>
                                          <p:spTgt spid="12"/>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10"/>
                                        </p:tgtEl>
                                        <p:attrNameLst>
                                          <p:attrName>style.visibility</p:attrName>
                                        </p:attrNameLst>
                                      </p:cBhvr>
                                      <p:to>
                                        <p:strVal val="visible"/>
                                      </p:to>
                                    </p:set>
                                    <p:animEffect transition="in" filter="fade">
                                      <p:cBhvr>
                                        <p:cTn id="124" dur="400"/>
                                        <p:tgtEl>
                                          <p:spTgt spid="10"/>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11"/>
                                        </p:tgtEl>
                                        <p:attrNameLst>
                                          <p:attrName>style.visibility</p:attrName>
                                        </p:attrNameLst>
                                      </p:cBhvr>
                                      <p:to>
                                        <p:strVal val="visible"/>
                                      </p:to>
                                    </p:set>
                                    <p:animEffect transition="in" filter="fade">
                                      <p:cBhvr>
                                        <p:cTn id="127" dur="400"/>
                                        <p:tgtEl>
                                          <p:spTgt spid="11"/>
                                        </p:tgtEl>
                                      </p:cBhvr>
                                    </p:animEffect>
                                  </p:childTnLst>
                                </p:cTn>
                              </p:par>
                              <p:par>
                                <p:cTn id="128" presetID="10" presetClass="entr" presetSubtype="0" fill="hold" grpId="0" nodeType="withEffect">
                                  <p:stCondLst>
                                    <p:cond delay="280"/>
                                  </p:stCondLst>
                                  <p:childTnLst>
                                    <p:set>
                                      <p:cBhvr>
                                        <p:cTn id="129" dur="1" fill="hold">
                                          <p:stCondLst>
                                            <p:cond delay="0"/>
                                          </p:stCondLst>
                                        </p:cTn>
                                        <p:tgtEl>
                                          <p:spTgt spid="14"/>
                                        </p:tgtEl>
                                        <p:attrNameLst>
                                          <p:attrName>style.visibility</p:attrName>
                                        </p:attrNameLst>
                                      </p:cBhvr>
                                      <p:to>
                                        <p:strVal val="visible"/>
                                      </p:to>
                                    </p:set>
                                    <p:animEffect transition="in" filter="fade">
                                      <p:cBhvr>
                                        <p:cTn id="130" dur="400"/>
                                        <p:tgtEl>
                                          <p:spTgt spid="14"/>
                                        </p:tgtEl>
                                      </p:cBhvr>
                                    </p:animEffect>
                                  </p:childTnLst>
                                </p:cTn>
                              </p:par>
                              <p:par>
                                <p:cTn id="131" presetID="10" presetClass="entr" presetSubtype="0" fill="hold" grpId="0" nodeType="withEffect">
                                  <p:stCondLst>
                                    <p:cond delay="28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400"/>
                                        <p:tgtEl>
                                          <p:spTgt spid="29"/>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00"/>
                                        <p:tgtEl>
                                          <p:spTgt spid="15"/>
                                        </p:tgtEl>
                                      </p:cBhvr>
                                    </p:animEffect>
                                  </p:childTnLst>
                                </p:cTn>
                              </p:par>
                              <p:par>
                                <p:cTn id="137" presetID="10" presetClass="entr" presetSubtype="0" fill="hold" grpId="0" nodeType="withEffect">
                                  <p:stCondLst>
                                    <p:cond delay="560"/>
                                  </p:stCondLst>
                                  <p:childTnLst>
                                    <p:set>
                                      <p:cBhvr>
                                        <p:cTn id="138" dur="1" fill="hold">
                                          <p:stCondLst>
                                            <p:cond delay="0"/>
                                          </p:stCondLst>
                                        </p:cTn>
                                        <p:tgtEl>
                                          <p:spTgt spid="13"/>
                                        </p:tgtEl>
                                        <p:attrNameLst>
                                          <p:attrName>style.visibility</p:attrName>
                                        </p:attrNameLst>
                                      </p:cBhvr>
                                      <p:to>
                                        <p:strVal val="visible"/>
                                      </p:to>
                                    </p:set>
                                    <p:animEffect transition="in" filter="fade">
                                      <p:cBhvr>
                                        <p:cTn id="139" dur="400"/>
                                        <p:tgtEl>
                                          <p:spTgt spid="13"/>
                                        </p:tgtEl>
                                      </p:cBhvr>
                                    </p:animEffect>
                                  </p:childTnLst>
                                </p:cTn>
                              </p:par>
                              <p:par>
                                <p:cTn id="140" presetID="10" presetClass="entr" presetSubtype="0" fill="hold" grpId="0" nodeType="withEffect">
                                  <p:stCondLst>
                                    <p:cond delay="560"/>
                                  </p:stCondLst>
                                  <p:childTnLst>
                                    <p:set>
                                      <p:cBhvr>
                                        <p:cTn id="141" dur="1" fill="hold">
                                          <p:stCondLst>
                                            <p:cond delay="0"/>
                                          </p:stCondLst>
                                        </p:cTn>
                                        <p:tgtEl>
                                          <p:spTgt spid="16"/>
                                        </p:tgtEl>
                                        <p:attrNameLst>
                                          <p:attrName>style.visibility</p:attrName>
                                        </p:attrNameLst>
                                      </p:cBhvr>
                                      <p:to>
                                        <p:strVal val="visible"/>
                                      </p:to>
                                    </p:set>
                                    <p:animEffect transition="in" filter="fade">
                                      <p:cBhvr>
                                        <p:cTn id="142" dur="400"/>
                                        <p:tgtEl>
                                          <p:spTgt spid="16"/>
                                        </p:tgtEl>
                                      </p:cBhvr>
                                    </p:animEffect>
                                  </p:childTnLst>
                                </p:cTn>
                              </p:par>
                              <p:par>
                                <p:cTn id="143" presetID="10" presetClass="entr" presetSubtype="0" fill="hold" grpId="0" nodeType="withEffect">
                                  <p:stCondLst>
                                    <p:cond delay="560"/>
                                  </p:stCondLst>
                                  <p:childTnLst>
                                    <p:set>
                                      <p:cBhvr>
                                        <p:cTn id="144" dur="1" fill="hold">
                                          <p:stCondLst>
                                            <p:cond delay="0"/>
                                          </p:stCondLst>
                                        </p:cTn>
                                        <p:tgtEl>
                                          <p:spTgt spid="17"/>
                                        </p:tgtEl>
                                        <p:attrNameLst>
                                          <p:attrName>style.visibility</p:attrName>
                                        </p:attrNameLst>
                                      </p:cBhvr>
                                      <p:to>
                                        <p:strVal val="visible"/>
                                      </p:to>
                                    </p:set>
                                    <p:animEffect transition="in" filter="fade">
                                      <p:cBhvr>
                                        <p:cTn id="145" dur="400"/>
                                        <p:tgtEl>
                                          <p:spTgt spid="17"/>
                                        </p:tgtEl>
                                      </p:cBhvr>
                                    </p:animEffect>
                                  </p:childTnLst>
                                </p:cTn>
                              </p:par>
                              <p:par>
                                <p:cTn id="146" presetID="10" presetClass="entr" presetSubtype="0" fill="hold" grpId="0" nodeType="withEffect">
                                  <p:stCondLst>
                                    <p:cond delay="560"/>
                                  </p:stCondLst>
                                  <p:childTnLst>
                                    <p:set>
                                      <p:cBhvr>
                                        <p:cTn id="147" dur="1" fill="hold">
                                          <p:stCondLst>
                                            <p:cond delay="0"/>
                                          </p:stCondLst>
                                        </p:cTn>
                                        <p:tgtEl>
                                          <p:spTgt spid="30"/>
                                        </p:tgtEl>
                                        <p:attrNameLst>
                                          <p:attrName>style.visibility</p:attrName>
                                        </p:attrNameLst>
                                      </p:cBhvr>
                                      <p:to>
                                        <p:strVal val="visible"/>
                                      </p:to>
                                    </p:set>
                                    <p:animEffect transition="in" filter="fade">
                                      <p:cBhvr>
                                        <p:cTn id="148" dur="400"/>
                                        <p:tgtEl>
                                          <p:spTgt spid="30"/>
                                        </p:tgtEl>
                                      </p:cBhvr>
                                    </p:animEffect>
                                  </p:childTnLst>
                                </p:cTn>
                              </p:par>
                              <p:par>
                                <p:cTn id="149" presetID="10" presetClass="entr" presetSubtype="0" fill="hold" grpId="0" nodeType="withEffect">
                                  <p:stCondLst>
                                    <p:cond delay="840"/>
                                  </p:stCondLst>
                                  <p:childTnLst>
                                    <p:set>
                                      <p:cBhvr>
                                        <p:cTn id="150" dur="1" fill="hold">
                                          <p:stCondLst>
                                            <p:cond delay="0"/>
                                          </p:stCondLst>
                                        </p:cTn>
                                        <p:tgtEl>
                                          <p:spTgt spid="18"/>
                                        </p:tgtEl>
                                        <p:attrNameLst>
                                          <p:attrName>style.visibility</p:attrName>
                                        </p:attrNameLst>
                                      </p:cBhvr>
                                      <p:to>
                                        <p:strVal val="visible"/>
                                      </p:to>
                                    </p:set>
                                    <p:animEffect transition="in" filter="fade">
                                      <p:cBhvr>
                                        <p:cTn id="151" dur="400"/>
                                        <p:tgtEl>
                                          <p:spTgt spid="18"/>
                                        </p:tgtEl>
                                      </p:cBhvr>
                                    </p:animEffect>
                                  </p:childTnLst>
                                </p:cTn>
                              </p:par>
                              <p:par>
                                <p:cTn id="152" presetID="10" presetClass="entr" presetSubtype="0" fill="hold" grpId="0" nodeType="withEffect">
                                  <p:stCondLst>
                                    <p:cond delay="840"/>
                                  </p:stCondLst>
                                  <p:childTnLst>
                                    <p:set>
                                      <p:cBhvr>
                                        <p:cTn id="153" dur="1" fill="hold">
                                          <p:stCondLst>
                                            <p:cond delay="0"/>
                                          </p:stCondLst>
                                        </p:cTn>
                                        <p:tgtEl>
                                          <p:spTgt spid="19"/>
                                        </p:tgtEl>
                                        <p:attrNameLst>
                                          <p:attrName>style.visibility</p:attrName>
                                        </p:attrNameLst>
                                      </p:cBhvr>
                                      <p:to>
                                        <p:strVal val="visible"/>
                                      </p:to>
                                    </p:set>
                                    <p:animEffect transition="in" filter="fade">
                                      <p:cBhvr>
                                        <p:cTn id="154" dur="400"/>
                                        <p:tgtEl>
                                          <p:spTgt spid="19"/>
                                        </p:tgtEl>
                                      </p:cBhvr>
                                    </p:animEffect>
                                  </p:childTnLst>
                                </p:cTn>
                              </p:par>
                              <p:par>
                                <p:cTn id="155" presetID="10" presetClass="entr" presetSubtype="0" fill="hold" grpId="0" nodeType="withEffect">
                                  <p:stCondLst>
                                    <p:cond delay="840"/>
                                  </p:stCondLst>
                                  <p:childTnLst>
                                    <p:set>
                                      <p:cBhvr>
                                        <p:cTn id="156" dur="1" fill="hold">
                                          <p:stCondLst>
                                            <p:cond delay="0"/>
                                          </p:stCondLst>
                                        </p:cTn>
                                        <p:tgtEl>
                                          <p:spTgt spid="20"/>
                                        </p:tgtEl>
                                        <p:attrNameLst>
                                          <p:attrName>style.visibility</p:attrName>
                                        </p:attrNameLst>
                                      </p:cBhvr>
                                      <p:to>
                                        <p:strVal val="visible"/>
                                      </p:to>
                                    </p:set>
                                    <p:animEffect transition="in" filter="fade">
                                      <p:cBhvr>
                                        <p:cTn id="157" dur="400"/>
                                        <p:tgtEl>
                                          <p:spTgt spid="20"/>
                                        </p:tgtEl>
                                      </p:cBhvr>
                                    </p:animEffect>
                                  </p:childTnLst>
                                </p:cTn>
                              </p:par>
                              <p:par>
                                <p:cTn id="158" presetID="10" presetClass="entr" presetSubtype="0" fill="hold" grpId="0" nodeType="withEffect">
                                  <p:stCondLst>
                                    <p:cond delay="840"/>
                                  </p:stCondLst>
                                  <p:childTnLst>
                                    <p:set>
                                      <p:cBhvr>
                                        <p:cTn id="159" dur="1" fill="hold">
                                          <p:stCondLst>
                                            <p:cond delay="0"/>
                                          </p:stCondLst>
                                        </p:cTn>
                                        <p:tgtEl>
                                          <p:spTgt spid="31"/>
                                        </p:tgtEl>
                                        <p:attrNameLst>
                                          <p:attrName>style.visibility</p:attrName>
                                        </p:attrNameLst>
                                      </p:cBhvr>
                                      <p:to>
                                        <p:strVal val="visible"/>
                                      </p:to>
                                    </p:set>
                                    <p:animEffect transition="in" filter="fade">
                                      <p:cBhvr>
                                        <p:cTn id="160" dur="400"/>
                                        <p:tgtEl>
                                          <p:spTgt spid="31"/>
                                        </p:tgtEl>
                                      </p:cBhvr>
                                    </p:animEffect>
                                  </p:childTnLst>
                                </p:cTn>
                              </p:par>
                              <p:par>
                                <p:cTn id="161" presetID="10" presetClass="entr" presetSubtype="0" fill="hold" grpId="0" nodeType="withEffect">
                                  <p:stCondLst>
                                    <p:cond delay="840"/>
                                  </p:stCondLst>
                                  <p:childTnLst>
                                    <p:set>
                                      <p:cBhvr>
                                        <p:cTn id="162" dur="1" fill="hold">
                                          <p:stCondLst>
                                            <p:cond delay="0"/>
                                          </p:stCondLst>
                                        </p:cTn>
                                        <p:tgtEl>
                                          <p:spTgt spid="32"/>
                                        </p:tgtEl>
                                        <p:attrNameLst>
                                          <p:attrName>style.visibility</p:attrName>
                                        </p:attrNameLst>
                                      </p:cBhvr>
                                      <p:to>
                                        <p:strVal val="visible"/>
                                      </p:to>
                                    </p:set>
                                    <p:animEffect transition="in" filter="fade">
                                      <p:cBhvr>
                                        <p:cTn id="163" dur="400"/>
                                        <p:tgtEl>
                                          <p:spTgt spid="32"/>
                                        </p:tgtEl>
                                      </p:cBhvr>
                                    </p:animEffect>
                                  </p:childTnLst>
                                </p:cTn>
                              </p:par>
                              <p:par>
                                <p:cTn id="164" presetID="10" presetClass="entr" presetSubtype="0" fill="hold" grpId="0" nodeType="withEffect">
                                  <p:stCondLst>
                                    <p:cond delay="1120"/>
                                  </p:stCondLst>
                                  <p:childTnLst>
                                    <p:set>
                                      <p:cBhvr>
                                        <p:cTn id="165" dur="1" fill="hold">
                                          <p:stCondLst>
                                            <p:cond delay="0"/>
                                          </p:stCondLst>
                                        </p:cTn>
                                        <p:tgtEl>
                                          <p:spTgt spid="21"/>
                                        </p:tgtEl>
                                        <p:attrNameLst>
                                          <p:attrName>style.visibility</p:attrName>
                                        </p:attrNameLst>
                                      </p:cBhvr>
                                      <p:to>
                                        <p:strVal val="visible"/>
                                      </p:to>
                                    </p:set>
                                    <p:animEffect transition="in" filter="fade">
                                      <p:cBhvr>
                                        <p:cTn id="166" dur="400"/>
                                        <p:tgtEl>
                                          <p:spTgt spid="21"/>
                                        </p:tgtEl>
                                      </p:cBhvr>
                                    </p:animEffect>
                                  </p:childTnLst>
                                </p:cTn>
                              </p:par>
                              <p:par>
                                <p:cTn id="167" presetID="10" presetClass="entr" presetSubtype="0" fill="hold" grpId="0" nodeType="withEffect">
                                  <p:stCondLst>
                                    <p:cond delay="1120"/>
                                  </p:stCondLst>
                                  <p:childTnLst>
                                    <p:set>
                                      <p:cBhvr>
                                        <p:cTn id="168" dur="1" fill="hold">
                                          <p:stCondLst>
                                            <p:cond delay="0"/>
                                          </p:stCondLst>
                                        </p:cTn>
                                        <p:tgtEl>
                                          <p:spTgt spid="22"/>
                                        </p:tgtEl>
                                        <p:attrNameLst>
                                          <p:attrName>style.visibility</p:attrName>
                                        </p:attrNameLst>
                                      </p:cBhvr>
                                      <p:to>
                                        <p:strVal val="visible"/>
                                      </p:to>
                                    </p:set>
                                    <p:animEffect transition="in" filter="fade">
                                      <p:cBhvr>
                                        <p:cTn id="169" dur="400"/>
                                        <p:tgtEl>
                                          <p:spTgt spid="22"/>
                                        </p:tgtEl>
                                      </p:cBhvr>
                                    </p:animEffect>
                                  </p:childTnLst>
                                </p:cTn>
                              </p:par>
                              <p:par>
                                <p:cTn id="170" presetID="10" presetClass="entr" presetSubtype="0" fill="hold" grpId="0" nodeType="withEffect">
                                  <p:stCondLst>
                                    <p:cond delay="1120"/>
                                  </p:stCondLst>
                                  <p:childTnLst>
                                    <p:set>
                                      <p:cBhvr>
                                        <p:cTn id="171" dur="1" fill="hold">
                                          <p:stCondLst>
                                            <p:cond delay="0"/>
                                          </p:stCondLst>
                                        </p:cTn>
                                        <p:tgtEl>
                                          <p:spTgt spid="23"/>
                                        </p:tgtEl>
                                        <p:attrNameLst>
                                          <p:attrName>style.visibility</p:attrName>
                                        </p:attrNameLst>
                                      </p:cBhvr>
                                      <p:to>
                                        <p:strVal val="visible"/>
                                      </p:to>
                                    </p:set>
                                    <p:animEffect transition="in" filter="fade">
                                      <p:cBhvr>
                                        <p:cTn id="172" dur="400"/>
                                        <p:tgtEl>
                                          <p:spTgt spid="23"/>
                                        </p:tgtEl>
                                      </p:cBhvr>
                                    </p:animEffect>
                                  </p:childTnLst>
                                </p:cTn>
                              </p:par>
                              <p:par>
                                <p:cTn id="173" presetID="10" presetClass="entr" presetSubtype="0" fill="hold" grpId="0" nodeType="withEffect">
                                  <p:stCondLst>
                                    <p:cond delay="112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400"/>
                                        <p:tgtEl>
                                          <p:spTgt spid="33"/>
                                        </p:tgtEl>
                                      </p:cBhvr>
                                    </p:animEffect>
                                  </p:childTnLst>
                                </p:cTn>
                              </p:par>
                              <p:par>
                                <p:cTn id="176" presetID="10" presetClass="entr" presetSubtype="0" fill="hold" grpId="0" nodeType="withEffect">
                                  <p:stCondLst>
                                    <p:cond delay="1120"/>
                                  </p:stCondLst>
                                  <p:childTnLst>
                                    <p:set>
                                      <p:cBhvr>
                                        <p:cTn id="177" dur="1" fill="hold">
                                          <p:stCondLst>
                                            <p:cond delay="0"/>
                                          </p:stCondLst>
                                        </p:cTn>
                                        <p:tgtEl>
                                          <p:spTgt spid="34"/>
                                        </p:tgtEl>
                                        <p:attrNameLst>
                                          <p:attrName>style.visibility</p:attrName>
                                        </p:attrNameLst>
                                      </p:cBhvr>
                                      <p:to>
                                        <p:strVal val="visible"/>
                                      </p:to>
                                    </p:set>
                                    <p:animEffect transition="in" filter="fade">
                                      <p:cBhvr>
                                        <p:cTn id="178" dur="400"/>
                                        <p:tgtEl>
                                          <p:spTgt spid="34"/>
                                        </p:tgtEl>
                                      </p:cBhvr>
                                    </p:animEffect>
                                  </p:childTnLst>
                                </p:cTn>
                              </p:par>
                              <p:par>
                                <p:cTn id="179" presetID="10" presetClass="entr" presetSubtype="0" fill="hold" grpId="0" nodeType="withEffect">
                                  <p:stCondLst>
                                    <p:cond delay="1400"/>
                                  </p:stCondLst>
                                  <p:childTnLst>
                                    <p:set>
                                      <p:cBhvr>
                                        <p:cTn id="180" dur="1" fill="hold">
                                          <p:stCondLst>
                                            <p:cond delay="0"/>
                                          </p:stCondLst>
                                        </p:cTn>
                                        <p:tgtEl>
                                          <p:spTgt spid="24"/>
                                        </p:tgtEl>
                                        <p:attrNameLst>
                                          <p:attrName>style.visibility</p:attrName>
                                        </p:attrNameLst>
                                      </p:cBhvr>
                                      <p:to>
                                        <p:strVal val="visible"/>
                                      </p:to>
                                    </p:set>
                                    <p:animEffect transition="in" filter="fade">
                                      <p:cBhvr>
                                        <p:cTn id="181" dur="400"/>
                                        <p:tgtEl>
                                          <p:spTgt spid="24"/>
                                        </p:tgtEl>
                                      </p:cBhvr>
                                    </p:animEffect>
                                  </p:childTnLst>
                                </p:cTn>
                              </p:par>
                              <p:par>
                                <p:cTn id="182" presetID="10" presetClass="entr" presetSubtype="0" fill="hold" grpId="0" nodeType="withEffect">
                                  <p:stCondLst>
                                    <p:cond delay="1400"/>
                                  </p:stCondLst>
                                  <p:childTnLst>
                                    <p:set>
                                      <p:cBhvr>
                                        <p:cTn id="183" dur="1" fill="hold">
                                          <p:stCondLst>
                                            <p:cond delay="0"/>
                                          </p:stCondLst>
                                        </p:cTn>
                                        <p:tgtEl>
                                          <p:spTgt spid="25"/>
                                        </p:tgtEl>
                                        <p:attrNameLst>
                                          <p:attrName>style.visibility</p:attrName>
                                        </p:attrNameLst>
                                      </p:cBhvr>
                                      <p:to>
                                        <p:strVal val="visible"/>
                                      </p:to>
                                    </p:set>
                                    <p:animEffect transition="in" filter="fade">
                                      <p:cBhvr>
                                        <p:cTn id="184" dur="400"/>
                                        <p:tgtEl>
                                          <p:spTgt spid="25"/>
                                        </p:tgtEl>
                                      </p:cBhvr>
                                    </p:animEffect>
                                  </p:childTnLst>
                                </p:cTn>
                              </p:par>
                              <p:par>
                                <p:cTn id="185" presetID="10" presetClass="entr" presetSubtype="0" fill="hold" grpId="0" nodeType="withEffect">
                                  <p:stCondLst>
                                    <p:cond delay="1400"/>
                                  </p:stCondLst>
                                  <p:childTnLst>
                                    <p:set>
                                      <p:cBhvr>
                                        <p:cTn id="186" dur="1" fill="hold">
                                          <p:stCondLst>
                                            <p:cond delay="0"/>
                                          </p:stCondLst>
                                        </p:cTn>
                                        <p:tgtEl>
                                          <p:spTgt spid="26"/>
                                        </p:tgtEl>
                                        <p:attrNameLst>
                                          <p:attrName>style.visibility</p:attrName>
                                        </p:attrNameLst>
                                      </p:cBhvr>
                                      <p:to>
                                        <p:strVal val="visible"/>
                                      </p:to>
                                    </p:set>
                                    <p:animEffect transition="in" filter="fade">
                                      <p:cBhvr>
                                        <p:cTn id="187" dur="400"/>
                                        <p:tgtEl>
                                          <p:spTgt spid="26"/>
                                        </p:tgtEl>
                                      </p:cBhvr>
                                    </p:animEffect>
                                  </p:childTnLst>
                                </p:cTn>
                              </p:par>
                              <p:par>
                                <p:cTn id="188" presetID="10" presetClass="entr" presetSubtype="0" fill="hold" grpId="0" nodeType="withEffect">
                                  <p:stCondLst>
                                    <p:cond delay="1400"/>
                                  </p:stCondLst>
                                  <p:childTnLst>
                                    <p:set>
                                      <p:cBhvr>
                                        <p:cTn id="189" dur="1" fill="hold">
                                          <p:stCondLst>
                                            <p:cond delay="0"/>
                                          </p:stCondLst>
                                        </p:cTn>
                                        <p:tgtEl>
                                          <p:spTgt spid="35"/>
                                        </p:tgtEl>
                                        <p:attrNameLst>
                                          <p:attrName>style.visibility</p:attrName>
                                        </p:attrNameLst>
                                      </p:cBhvr>
                                      <p:to>
                                        <p:strVal val="visible"/>
                                      </p:to>
                                    </p:set>
                                    <p:animEffect transition="in" filter="fade">
                                      <p:cBhvr>
                                        <p:cTn id="19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06  ·  PHƯƠNG PHÁP B</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Seeded Region Growing 8 láng giềng (BFS) — Đối chứng</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07 / 20</a:t>
            </a:r>
            <a:endParaRPr lang="en-US" sz="800" dirty="0"/>
          </a:p>
        </p:txBody>
      </p:sp>
      <p:sp>
        <p:nvSpPr>
          <p:cNvPr id="6" name="Shape 4"/>
          <p:cNvSpPr/>
          <p:nvPr/>
        </p:nvSpPr>
        <p:spPr>
          <a:xfrm>
            <a:off x="502920" y="1243584"/>
            <a:ext cx="3566160" cy="1225296"/>
          </a:xfrm>
          <a:prstGeom prst="roundRect">
            <a:avLst>
              <a:gd name="adj" fmla="val 4478"/>
            </a:avLst>
          </a:prstGeom>
          <a:solidFill>
            <a:srgbClr val="FFFFFF"/>
          </a:solidFill>
          <a:ln w="9525">
            <a:solidFill>
              <a:srgbClr val="D1E3E8"/>
            </a:solidFill>
            <a:prstDash val="solid"/>
          </a:ln>
          <a:effectLst>
            <a:outerShdw sx="100000" sy="100000" kx="0" ky="0" algn="bl" rotWithShape="0" blurRad="2.3828923048104974e+82" dist="1.1914461524052487e+82" dir="3.2905425960566786e+97">
              <a:srgbClr val="0B2B3C">
                <a:alpha val="9.999999999999998e+98"/>
              </a:srgbClr>
            </a:outerShdw>
          </a:effectLst>
        </p:spPr>
      </p:sp>
      <p:sp>
        <p:nvSpPr>
          <p:cNvPr id="7" name="Text 5"/>
          <p:cNvSpPr/>
          <p:nvPr/>
        </p:nvSpPr>
        <p:spPr>
          <a:xfrm>
            <a:off x="704088" y="1389888"/>
            <a:ext cx="3163824" cy="219456"/>
          </a:xfrm>
          <a:prstGeom prst="rect">
            <a:avLst/>
          </a:prstGeom>
          <a:noFill/>
          <a:ln/>
        </p:spPr>
        <p:txBody>
          <a:bodyPr wrap="square" lIns="0" tIns="0" rIns="0" bIns="0" rtlCol="0" anchor="ctr"/>
          <a:lstStyle/>
          <a:p>
            <a:pPr indent="0" marL="0">
              <a:buNone/>
            </a:pPr>
            <a:r>
              <a:rPr lang="en-US" sz="900" spc="110" kern="0" dirty="0">
                <a:solidFill>
                  <a:srgbClr val="028090"/>
                </a:solidFill>
                <a:latin typeface="Segoe UI Semibold" pitchFamily="34" charset="0"/>
                <a:ea typeface="Segoe UI Semibold" pitchFamily="34" charset="-122"/>
                <a:cs typeface="Segoe UI Semibold" pitchFamily="34" charset="-120"/>
              </a:rPr>
              <a:t>HẠT GIỐNG TỰ ĐỘNG</a:t>
            </a:r>
            <a:endParaRPr lang="en-US" sz="900" dirty="0"/>
          </a:p>
        </p:txBody>
      </p:sp>
      <p:sp>
        <p:nvSpPr>
          <p:cNvPr id="8" name="Text 6"/>
          <p:cNvSpPr/>
          <p:nvPr/>
        </p:nvSpPr>
        <p:spPr>
          <a:xfrm>
            <a:off x="704088" y="1664208"/>
            <a:ext cx="3163824" cy="457200"/>
          </a:xfrm>
          <a:prstGeom prst="rect">
            <a:avLst/>
          </a:prstGeom>
          <a:noFill/>
          <a:ln/>
        </p:spPr>
        <p:txBody>
          <a:bodyPr wrap="square" lIns="0" tIns="0" rIns="0" bIns="0" rtlCol="0" anchor="ctr"/>
          <a:lstStyle/>
          <a:p>
            <a:pPr algn="ctr" indent="0" marL="0">
              <a:buNone/>
            </a:pPr>
            <a:r>
              <a:rPr lang="en-US" sz="1400" i="1" dirty="0">
                <a:solidFill>
                  <a:srgbClr val="21295C"/>
                </a:solidFill>
                <a:latin typeface="Segoe UI" pitchFamily="34" charset="0"/>
                <a:ea typeface="Segoe UI" pitchFamily="34" charset="-122"/>
                <a:cs typeface="Segoe UI" pitchFamily="34" charset="-120"/>
              </a:rPr>
              <a:t>s = argmax I(p),  p ∈ Brain</a:t>
            </a:r>
            <a:endParaRPr lang="en-US" sz="1400" dirty="0"/>
          </a:p>
        </p:txBody>
      </p:sp>
      <p:sp>
        <p:nvSpPr>
          <p:cNvPr id="9" name="Text 7"/>
          <p:cNvSpPr/>
          <p:nvPr/>
        </p:nvSpPr>
        <p:spPr>
          <a:xfrm>
            <a:off x="704088" y="2103120"/>
            <a:ext cx="3163824" cy="329184"/>
          </a:xfrm>
          <a:prstGeom prst="rect">
            <a:avLst/>
          </a:prstGeom>
          <a:noFill/>
          <a:ln/>
        </p:spPr>
        <p:txBody>
          <a:bodyPr wrap="square" lIns="0" tIns="0" rIns="0" bIns="0" rtlCol="0" anchor="t"/>
          <a:lstStyle/>
          <a:p>
            <a:pPr indent="0" marL="0">
              <a:lnSpc>
                <a:spcPct val="110000"/>
              </a:lnSpc>
              <a:buNone/>
            </a:pPr>
            <a:r>
              <a:rPr lang="en-US" sz="850" dirty="0">
                <a:solidFill>
                  <a:srgbClr val="5F7186"/>
                </a:solidFill>
                <a:latin typeface="Segoe UI" pitchFamily="34" charset="0"/>
                <a:ea typeface="Segoe UI" pitchFamily="34" charset="-122"/>
                <a:cs typeface="Segoe UI" pitchFamily="34" charset="-120"/>
              </a:rPr>
              <a:t>Chọn pixel sáng nhất trong nhu mô não đã tách sọ làm điểm hạt giống.</a:t>
            </a:r>
            <a:endParaRPr lang="en-US" sz="850" dirty="0"/>
          </a:p>
        </p:txBody>
      </p:sp>
      <p:sp>
        <p:nvSpPr>
          <p:cNvPr id="10" name="Shape 8"/>
          <p:cNvSpPr/>
          <p:nvPr/>
        </p:nvSpPr>
        <p:spPr>
          <a:xfrm>
            <a:off x="502920" y="2560320"/>
            <a:ext cx="3566160" cy="1225296"/>
          </a:xfrm>
          <a:prstGeom prst="roundRect">
            <a:avLst>
              <a:gd name="adj" fmla="val 4478"/>
            </a:avLst>
          </a:prstGeom>
          <a:solidFill>
            <a:srgbClr val="FFFFFF"/>
          </a:solidFill>
          <a:ln w="9525">
            <a:solidFill>
              <a:srgbClr val="D1E3E8"/>
            </a:solidFill>
            <a:prstDash val="solid"/>
          </a:ln>
          <a:effectLst>
            <a:outerShdw sx="100000" sy="100000" kx="0" ky="0" algn="bl" rotWithShape="0" blurRad="3.0262732271093317e+86" dist="1.5131366135546659e+86" dir="1.9743255576340073e+102">
              <a:srgbClr val="0B2B3C">
                <a:alpha val="9.999999999999998e+103"/>
              </a:srgbClr>
            </a:outerShdw>
          </a:effectLst>
        </p:spPr>
      </p:sp>
      <p:sp>
        <p:nvSpPr>
          <p:cNvPr id="11" name="Text 9"/>
          <p:cNvSpPr/>
          <p:nvPr/>
        </p:nvSpPr>
        <p:spPr>
          <a:xfrm>
            <a:off x="704088" y="2706624"/>
            <a:ext cx="3163824" cy="219456"/>
          </a:xfrm>
          <a:prstGeom prst="rect">
            <a:avLst/>
          </a:prstGeom>
          <a:noFill/>
          <a:ln/>
        </p:spPr>
        <p:txBody>
          <a:bodyPr wrap="square" lIns="0" tIns="0" rIns="0" bIns="0" rtlCol="0" anchor="ctr"/>
          <a:lstStyle/>
          <a:p>
            <a:pPr indent="0" marL="0">
              <a:buNone/>
            </a:pPr>
            <a:r>
              <a:rPr lang="en-US" sz="900" spc="110" kern="0" dirty="0">
                <a:solidFill>
                  <a:srgbClr val="028090"/>
                </a:solidFill>
                <a:latin typeface="Segoe UI Semibold" pitchFamily="34" charset="0"/>
                <a:ea typeface="Segoe UI Semibold" pitchFamily="34" charset="-122"/>
                <a:cs typeface="Segoe UI Semibold" pitchFamily="34" charset="-120"/>
              </a:rPr>
              <a:t>ĐIỀU KIỆN LAN TRUYỀN</a:t>
            </a:r>
            <a:endParaRPr lang="en-US" sz="900" dirty="0"/>
          </a:p>
        </p:txBody>
      </p:sp>
      <p:sp>
        <p:nvSpPr>
          <p:cNvPr id="12" name="Text 10"/>
          <p:cNvSpPr/>
          <p:nvPr/>
        </p:nvSpPr>
        <p:spPr>
          <a:xfrm>
            <a:off x="704088" y="2980944"/>
            <a:ext cx="3163824" cy="457200"/>
          </a:xfrm>
          <a:prstGeom prst="rect">
            <a:avLst/>
          </a:prstGeom>
          <a:noFill/>
          <a:ln/>
        </p:spPr>
        <p:txBody>
          <a:bodyPr wrap="square" lIns="0" tIns="0" rIns="0" bIns="0" rtlCol="0" anchor="ctr"/>
          <a:lstStyle/>
          <a:p>
            <a:pPr algn="ctr" indent="0" marL="0">
              <a:buNone/>
            </a:pPr>
            <a:r>
              <a:rPr lang="en-US" sz="1400" i="1" dirty="0">
                <a:solidFill>
                  <a:srgbClr val="21295C"/>
                </a:solidFill>
                <a:latin typeface="Segoe UI" pitchFamily="34" charset="0"/>
                <a:ea typeface="Segoe UI" pitchFamily="34" charset="-122"/>
                <a:cs typeface="Segoe UI" pitchFamily="34" charset="-120"/>
              </a:rPr>
              <a:t>| I(p) − I(s) | ≤ τ,  τ = 15</a:t>
            </a:r>
            <a:endParaRPr lang="en-US" sz="1400" dirty="0"/>
          </a:p>
        </p:txBody>
      </p:sp>
      <p:sp>
        <p:nvSpPr>
          <p:cNvPr id="13" name="Text 11"/>
          <p:cNvSpPr/>
          <p:nvPr/>
        </p:nvSpPr>
        <p:spPr>
          <a:xfrm>
            <a:off x="704088" y="3419856"/>
            <a:ext cx="3163824" cy="329184"/>
          </a:xfrm>
          <a:prstGeom prst="rect">
            <a:avLst/>
          </a:prstGeom>
          <a:noFill/>
          <a:ln/>
        </p:spPr>
        <p:txBody>
          <a:bodyPr wrap="square" lIns="0" tIns="0" rIns="0" bIns="0" rtlCol="0" anchor="t"/>
          <a:lstStyle/>
          <a:p>
            <a:pPr indent="0" marL="0">
              <a:lnSpc>
                <a:spcPct val="110000"/>
              </a:lnSpc>
              <a:buNone/>
            </a:pPr>
            <a:r>
              <a:rPr lang="en-US" sz="850" dirty="0">
                <a:solidFill>
                  <a:srgbClr val="5F7186"/>
                </a:solidFill>
                <a:latin typeface="Segoe UI" pitchFamily="34" charset="0"/>
                <a:ea typeface="Segoe UI" pitchFamily="34" charset="-122"/>
                <a:cs typeface="Segoe UI" pitchFamily="34" charset="-120"/>
              </a:rPr>
              <a:t>Duyệt hàng đợi BFS 8 hướng, kết nạp láng giềng thỏa ngưỡng dung sai cường độ.</a:t>
            </a:r>
            <a:endParaRPr lang="en-US" sz="850" dirty="0"/>
          </a:p>
        </p:txBody>
      </p:sp>
      <p:sp>
        <p:nvSpPr>
          <p:cNvPr id="14" name="Shape 12"/>
          <p:cNvSpPr/>
          <p:nvPr/>
        </p:nvSpPr>
        <p:spPr>
          <a:xfrm>
            <a:off x="502920" y="3895344"/>
            <a:ext cx="3566160" cy="658368"/>
          </a:xfrm>
          <a:prstGeom prst="roundRect">
            <a:avLst>
              <a:gd name="adj" fmla="val 8333"/>
            </a:avLst>
          </a:prstGeom>
          <a:solidFill>
            <a:srgbClr val="EBF4F6"/>
          </a:solidFill>
          <a:ln w="9525">
            <a:solidFill>
              <a:srgbClr val="D1E3E8"/>
            </a:solidFill>
            <a:prstDash val="solid"/>
          </a:ln>
        </p:spPr>
      </p:sp>
      <p:sp>
        <p:nvSpPr>
          <p:cNvPr id="15" name="Text 13"/>
          <p:cNvSpPr/>
          <p:nvPr/>
        </p:nvSpPr>
        <p:spPr>
          <a:xfrm>
            <a:off x="649224" y="3895344"/>
            <a:ext cx="3291840" cy="658368"/>
          </a:xfrm>
          <a:prstGeom prst="rect">
            <a:avLst/>
          </a:prstGeom>
          <a:noFill/>
          <a:ln/>
        </p:spPr>
        <p:txBody>
          <a:bodyPr wrap="square" lIns="0" tIns="0" rIns="0" bIns="0" rtlCol="0" anchor="ctr"/>
          <a:lstStyle/>
          <a:p>
            <a:pPr indent="0" marL="0">
              <a:lnSpc>
                <a:spcPct val="115000"/>
              </a:lnSpc>
              <a:buNone/>
            </a:pPr>
            <a:r>
              <a:rPr lang="en-US" sz="850" dirty="0">
                <a:solidFill>
                  <a:srgbClr val="1E293B"/>
                </a:solidFill>
                <a:latin typeface="Segoe UI" pitchFamily="34" charset="0"/>
                <a:ea typeface="Segoe UI" pitchFamily="34" charset="-122"/>
                <a:cs typeface="Segoe UI" pitchFamily="34" charset="-120"/>
              </a:rPr>
              <a:t>Hậu xử lý: lấp lỗ hổng + lọc đảo u ngoài khoảng [50, 25.000] pixel</a:t>
            </a:r>
            <a:endParaRPr lang="en-US" sz="850" dirty="0"/>
          </a:p>
        </p:txBody>
      </p:sp>
      <p:sp>
        <p:nvSpPr>
          <p:cNvPr id="16" name="Shape 14"/>
          <p:cNvSpPr/>
          <p:nvPr/>
        </p:nvSpPr>
        <p:spPr>
          <a:xfrm>
            <a:off x="4206240" y="1243584"/>
            <a:ext cx="4434840" cy="438912"/>
          </a:xfrm>
          <a:prstGeom prst="roundRect">
            <a:avLst>
              <a:gd name="adj" fmla="val 12500"/>
            </a:avLst>
          </a:prstGeom>
          <a:solidFill>
            <a:srgbClr val="FFFFFF"/>
          </a:solidFill>
          <a:ln w="9525">
            <a:solidFill>
              <a:srgbClr val="D1E3E8"/>
            </a:solidFill>
            <a:prstDash val="solid"/>
          </a:ln>
        </p:spPr>
      </p:sp>
      <p:sp>
        <p:nvSpPr>
          <p:cNvPr id="17" name="Text 15"/>
          <p:cNvSpPr/>
          <p:nvPr/>
        </p:nvSpPr>
        <p:spPr>
          <a:xfrm>
            <a:off x="4334256" y="1298448"/>
            <a:ext cx="1920240" cy="164592"/>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1. Tìm hạt giống</a:t>
            </a:r>
            <a:endParaRPr lang="en-US" sz="950" dirty="0"/>
          </a:p>
        </p:txBody>
      </p:sp>
      <p:sp>
        <p:nvSpPr>
          <p:cNvPr id="18" name="Text 16"/>
          <p:cNvSpPr/>
          <p:nvPr/>
        </p:nvSpPr>
        <p:spPr>
          <a:xfrm>
            <a:off x="4334256" y="1463040"/>
            <a:ext cx="4160520" cy="164592"/>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Cực đại cường độ trong vùng não</a:t>
            </a:r>
            <a:endParaRPr lang="en-US" sz="850" dirty="0"/>
          </a:p>
        </p:txBody>
      </p:sp>
      <p:sp>
        <p:nvSpPr>
          <p:cNvPr id="19" name="Shape 17"/>
          <p:cNvSpPr/>
          <p:nvPr/>
        </p:nvSpPr>
        <p:spPr>
          <a:xfrm>
            <a:off x="4206240" y="1755648"/>
            <a:ext cx="4434840" cy="438912"/>
          </a:xfrm>
          <a:prstGeom prst="roundRect">
            <a:avLst>
              <a:gd name="adj" fmla="val 12500"/>
            </a:avLst>
          </a:prstGeom>
          <a:solidFill>
            <a:srgbClr val="FFFFFF"/>
          </a:solidFill>
          <a:ln w="9525">
            <a:solidFill>
              <a:srgbClr val="D1E3E8"/>
            </a:solidFill>
            <a:prstDash val="solid"/>
          </a:ln>
        </p:spPr>
      </p:sp>
      <p:sp>
        <p:nvSpPr>
          <p:cNvPr id="20" name="Text 18"/>
          <p:cNvSpPr/>
          <p:nvPr/>
        </p:nvSpPr>
        <p:spPr>
          <a:xfrm>
            <a:off x="4334256" y="1810512"/>
            <a:ext cx="1920240" cy="164592"/>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2. Lan truyền BFS</a:t>
            </a:r>
            <a:endParaRPr lang="en-US" sz="950" dirty="0"/>
          </a:p>
        </p:txBody>
      </p:sp>
      <p:sp>
        <p:nvSpPr>
          <p:cNvPr id="21" name="Text 19"/>
          <p:cNvSpPr/>
          <p:nvPr/>
        </p:nvSpPr>
        <p:spPr>
          <a:xfrm>
            <a:off x="4334256" y="1975104"/>
            <a:ext cx="4160520" cy="164592"/>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Hàng đợi FIFO, 8 láng giềng liên thông</a:t>
            </a:r>
            <a:endParaRPr lang="en-US" sz="850" dirty="0"/>
          </a:p>
        </p:txBody>
      </p:sp>
      <p:sp>
        <p:nvSpPr>
          <p:cNvPr id="22" name="Shape 20"/>
          <p:cNvSpPr/>
          <p:nvPr/>
        </p:nvSpPr>
        <p:spPr>
          <a:xfrm>
            <a:off x="4206240" y="2267712"/>
            <a:ext cx="4434840" cy="438912"/>
          </a:xfrm>
          <a:prstGeom prst="roundRect">
            <a:avLst>
              <a:gd name="adj" fmla="val 12500"/>
            </a:avLst>
          </a:prstGeom>
          <a:solidFill>
            <a:srgbClr val="FFFFFF"/>
          </a:solidFill>
          <a:ln w="9525">
            <a:solidFill>
              <a:srgbClr val="D1E3E8"/>
            </a:solidFill>
            <a:prstDash val="solid"/>
          </a:ln>
        </p:spPr>
      </p:sp>
      <p:sp>
        <p:nvSpPr>
          <p:cNvPr id="23" name="Text 21"/>
          <p:cNvSpPr/>
          <p:nvPr/>
        </p:nvSpPr>
        <p:spPr>
          <a:xfrm>
            <a:off x="4334256" y="2322576"/>
            <a:ext cx="1920240" cy="164592"/>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3. Kiểm tra dung sai</a:t>
            </a:r>
            <a:endParaRPr lang="en-US" sz="950" dirty="0"/>
          </a:p>
        </p:txBody>
      </p:sp>
      <p:sp>
        <p:nvSpPr>
          <p:cNvPr id="24" name="Text 22"/>
          <p:cNvSpPr/>
          <p:nvPr/>
        </p:nvSpPr>
        <p:spPr>
          <a:xfrm>
            <a:off x="4334256" y="2487168"/>
            <a:ext cx="4160520" cy="164592"/>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Chênh lệch cường độ so với hạt giống</a:t>
            </a:r>
            <a:endParaRPr lang="en-US" sz="850" dirty="0"/>
          </a:p>
        </p:txBody>
      </p:sp>
      <p:sp>
        <p:nvSpPr>
          <p:cNvPr id="25" name="Shape 23"/>
          <p:cNvSpPr/>
          <p:nvPr/>
        </p:nvSpPr>
        <p:spPr>
          <a:xfrm>
            <a:off x="4206240" y="2779776"/>
            <a:ext cx="4434840" cy="438912"/>
          </a:xfrm>
          <a:prstGeom prst="roundRect">
            <a:avLst>
              <a:gd name="adj" fmla="val 12500"/>
            </a:avLst>
          </a:prstGeom>
          <a:solidFill>
            <a:srgbClr val="FFFFFF"/>
          </a:solidFill>
          <a:ln w="9525">
            <a:solidFill>
              <a:srgbClr val="D1E3E8"/>
            </a:solidFill>
            <a:prstDash val="solid"/>
          </a:ln>
        </p:spPr>
      </p:sp>
      <p:sp>
        <p:nvSpPr>
          <p:cNvPr id="26" name="Text 24"/>
          <p:cNvSpPr/>
          <p:nvPr/>
        </p:nvSpPr>
        <p:spPr>
          <a:xfrm>
            <a:off x="4334256" y="2834640"/>
            <a:ext cx="1920240" cy="164592"/>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4. Kết nạp pixel</a:t>
            </a:r>
            <a:endParaRPr lang="en-US" sz="950" dirty="0"/>
          </a:p>
        </p:txBody>
      </p:sp>
      <p:sp>
        <p:nvSpPr>
          <p:cNvPr id="27" name="Text 25"/>
          <p:cNvSpPr/>
          <p:nvPr/>
        </p:nvSpPr>
        <p:spPr>
          <a:xfrm>
            <a:off x="4334256" y="2999232"/>
            <a:ext cx="4160520" cy="164592"/>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Đánh dấu thuộc vùng u, đẩy vào hàng đợi</a:t>
            </a:r>
            <a:endParaRPr lang="en-US" sz="850" dirty="0"/>
          </a:p>
        </p:txBody>
      </p:sp>
      <p:sp>
        <p:nvSpPr>
          <p:cNvPr id="28" name="Shape 26"/>
          <p:cNvSpPr/>
          <p:nvPr/>
        </p:nvSpPr>
        <p:spPr>
          <a:xfrm>
            <a:off x="4206240" y="3291840"/>
            <a:ext cx="4434840" cy="438912"/>
          </a:xfrm>
          <a:prstGeom prst="roundRect">
            <a:avLst>
              <a:gd name="adj" fmla="val 12500"/>
            </a:avLst>
          </a:prstGeom>
          <a:solidFill>
            <a:srgbClr val="FFFFFF"/>
          </a:solidFill>
          <a:ln w="9525">
            <a:solidFill>
              <a:srgbClr val="D1E3E8"/>
            </a:solidFill>
            <a:prstDash val="solid"/>
          </a:ln>
        </p:spPr>
      </p:sp>
      <p:sp>
        <p:nvSpPr>
          <p:cNvPr id="29" name="Text 27"/>
          <p:cNvSpPr/>
          <p:nvPr/>
        </p:nvSpPr>
        <p:spPr>
          <a:xfrm>
            <a:off x="4334256" y="3346704"/>
            <a:ext cx="1920240" cy="164592"/>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5. Lặp đến khi rỗng</a:t>
            </a:r>
            <a:endParaRPr lang="en-US" sz="950" dirty="0"/>
          </a:p>
        </p:txBody>
      </p:sp>
      <p:sp>
        <p:nvSpPr>
          <p:cNvPr id="30" name="Text 28"/>
          <p:cNvSpPr/>
          <p:nvPr/>
        </p:nvSpPr>
        <p:spPr>
          <a:xfrm>
            <a:off x="4334256" y="3511296"/>
            <a:ext cx="4160520" cy="164592"/>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Vùng u khép kín, không vỡ vụn</a:t>
            </a:r>
            <a:endParaRPr lang="en-US" sz="850" dirty="0"/>
          </a:p>
        </p:txBody>
      </p:sp>
      <p:sp>
        <p:nvSpPr>
          <p:cNvPr id="31" name="Shape 29"/>
          <p:cNvSpPr/>
          <p:nvPr/>
        </p:nvSpPr>
        <p:spPr>
          <a:xfrm>
            <a:off x="4206240" y="3803904"/>
            <a:ext cx="4434840" cy="438912"/>
          </a:xfrm>
          <a:prstGeom prst="roundRect">
            <a:avLst>
              <a:gd name="adj" fmla="val 12500"/>
            </a:avLst>
          </a:prstGeom>
          <a:solidFill>
            <a:srgbClr val="FFFFFF"/>
          </a:solidFill>
          <a:ln w="9525">
            <a:solidFill>
              <a:srgbClr val="D1E3E8"/>
            </a:solidFill>
            <a:prstDash val="solid"/>
          </a:ln>
        </p:spPr>
      </p:sp>
      <p:sp>
        <p:nvSpPr>
          <p:cNvPr id="32" name="Text 30"/>
          <p:cNvSpPr/>
          <p:nvPr/>
        </p:nvSpPr>
        <p:spPr>
          <a:xfrm>
            <a:off x="4334256" y="3858768"/>
            <a:ext cx="1920240" cy="164592"/>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6. Hậu xử lý</a:t>
            </a:r>
            <a:endParaRPr lang="en-US" sz="950" dirty="0"/>
          </a:p>
        </p:txBody>
      </p:sp>
      <p:sp>
        <p:nvSpPr>
          <p:cNvPr id="33" name="Text 31"/>
          <p:cNvSpPr/>
          <p:nvPr/>
        </p:nvSpPr>
        <p:spPr>
          <a:xfrm>
            <a:off x="4334256" y="4023360"/>
            <a:ext cx="4160520" cy="164592"/>
          </a:xfrm>
          <a:prstGeom prst="rect">
            <a:avLst/>
          </a:prstGeom>
          <a:noFill/>
          <a:ln/>
        </p:spPr>
        <p:txBody>
          <a:bodyPr wrap="square" lIns="0" tIns="0" rIns="0" bIns="0" rtlCol="0" anchor="ctr"/>
          <a:lstStyle/>
          <a:p>
            <a:pPr indent="0" marL="0">
              <a:buNone/>
            </a:pPr>
            <a:r>
              <a:rPr lang="en-US" sz="850" dirty="0">
                <a:solidFill>
                  <a:srgbClr val="5F7186"/>
                </a:solidFill>
                <a:latin typeface="Segoe UI" pitchFamily="34" charset="0"/>
                <a:ea typeface="Segoe UI" pitchFamily="34" charset="-122"/>
                <a:cs typeface="Segoe UI" pitchFamily="34" charset="-120"/>
              </a:rPr>
              <a:t>Lấp lỗ hổng mô hoại tử bên trong u</a:t>
            </a:r>
            <a:endParaRPr lang="en-US" sz="850" dirty="0"/>
          </a:p>
        </p:txBody>
      </p:sp>
      <p:sp>
        <p:nvSpPr>
          <p:cNvPr id="34" name="Shape 32"/>
          <p:cNvSpPr/>
          <p:nvPr/>
        </p:nvSpPr>
        <p:spPr>
          <a:xfrm>
            <a:off x="4206240" y="4370832"/>
            <a:ext cx="4434840" cy="310896"/>
          </a:xfrm>
          <a:prstGeom prst="roundRect">
            <a:avLst>
              <a:gd name="adj" fmla="val 17647"/>
            </a:avLst>
          </a:prstGeom>
          <a:solidFill>
            <a:srgbClr val="065A82"/>
          </a:solidFill>
          <a:ln w="9525">
            <a:solidFill>
              <a:srgbClr val="065A82"/>
            </a:solidFill>
            <a:prstDash val="solid"/>
          </a:ln>
        </p:spPr>
      </p:sp>
      <p:sp>
        <p:nvSpPr>
          <p:cNvPr id="35" name="Text 33"/>
          <p:cNvSpPr/>
          <p:nvPr/>
        </p:nvSpPr>
        <p:spPr>
          <a:xfrm>
            <a:off x="4334256" y="4370832"/>
            <a:ext cx="4206240" cy="310896"/>
          </a:xfrm>
          <a:prstGeom prst="rect">
            <a:avLst/>
          </a:prstGeom>
          <a:noFill/>
          <a:ln/>
        </p:spPr>
        <p:txBody>
          <a:bodyPr wrap="square" lIns="0" tIns="0" rIns="0" bIns="0" rtlCol="0" anchor="ctr"/>
          <a:lstStyle/>
          <a:p>
            <a:pPr indent="0" marL="0">
              <a:buNone/>
            </a:pPr>
            <a:r>
              <a:rPr lang="en-US" sz="900" dirty="0">
                <a:solidFill>
                  <a:srgbClr val="FFFFFF"/>
                </a:solidFill>
                <a:latin typeface="Segoe UI Semibold" pitchFamily="34" charset="0"/>
                <a:ea typeface="Segoe UI Semibold" pitchFamily="34" charset="-122"/>
                <a:cs typeface="Segoe UI Semibold" pitchFamily="34" charset="-120"/>
              </a:rPr>
              <a:t>Ưu điểm: ~12 ms/lát, mặt nạ u liền mạch</a:t>
            </a:r>
            <a:endParaRPr lang="en-US" sz="900" dirty="0"/>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400"/>
                                        <p:tgtEl>
                                          <p:spTgt spid="1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7"/>
                                        </p:tgtEl>
                                        <p:attrNameLst>
                                          <p:attrName>style.visibility</p:attrName>
                                        </p:attrNameLst>
                                      </p:cBhvr>
                                      <p:to>
                                        <p:strVal val="visible"/>
                                      </p:to>
                                    </p:set>
                                    <p:animEffect transition="in" filter="fade">
                                      <p:cBhvr>
                                        <p:cTn id="112" dur="400"/>
                                        <p:tgtEl>
                                          <p:spTgt spid="1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8"/>
                                        </p:tgtEl>
                                        <p:attrNameLst>
                                          <p:attrName>style.visibility</p:attrName>
                                        </p:attrNameLst>
                                      </p:cBhvr>
                                      <p:to>
                                        <p:strVal val="visible"/>
                                      </p:to>
                                    </p:set>
                                    <p:animEffect transition="in" filter="fade">
                                      <p:cBhvr>
                                        <p:cTn id="115" dur="400"/>
                                        <p:tgtEl>
                                          <p:spTgt spid="18"/>
                                        </p:tgtEl>
                                      </p:cBhvr>
                                    </p:animEffect>
                                  </p:childTnLst>
                                </p:cTn>
                              </p:par>
                              <p:par>
                                <p:cTn id="116" presetID="10" presetClass="entr" presetSubtype="0" fill="hold" grpId="0" nodeType="withEffect">
                                  <p:stCondLst>
                                    <p:cond delay="280"/>
                                  </p:stCondLst>
                                  <p:childTnLst>
                                    <p:set>
                                      <p:cBhvr>
                                        <p:cTn id="117" dur="1" fill="hold">
                                          <p:stCondLst>
                                            <p:cond delay="0"/>
                                          </p:stCondLst>
                                        </p:cTn>
                                        <p:tgtEl>
                                          <p:spTgt spid="8"/>
                                        </p:tgtEl>
                                        <p:attrNameLst>
                                          <p:attrName>style.visibility</p:attrName>
                                        </p:attrNameLst>
                                      </p:cBhvr>
                                      <p:to>
                                        <p:strVal val="visible"/>
                                      </p:to>
                                    </p:set>
                                    <p:animEffect transition="in" filter="fade">
                                      <p:cBhvr>
                                        <p:cTn id="118" dur="400"/>
                                        <p:tgtEl>
                                          <p:spTgt spid="8"/>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9"/>
                                        </p:tgtEl>
                                        <p:attrNameLst>
                                          <p:attrName>style.visibility</p:attrName>
                                        </p:attrNameLst>
                                      </p:cBhvr>
                                      <p:to>
                                        <p:strVal val="visible"/>
                                      </p:to>
                                    </p:set>
                                    <p:animEffect transition="in" filter="fade">
                                      <p:cBhvr>
                                        <p:cTn id="121" dur="400"/>
                                        <p:tgtEl>
                                          <p:spTgt spid="19"/>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20"/>
                                        </p:tgtEl>
                                        <p:attrNameLst>
                                          <p:attrName>style.visibility</p:attrName>
                                        </p:attrNameLst>
                                      </p:cBhvr>
                                      <p:to>
                                        <p:strVal val="visible"/>
                                      </p:to>
                                    </p:set>
                                    <p:animEffect transition="in" filter="fade">
                                      <p:cBhvr>
                                        <p:cTn id="124" dur="400"/>
                                        <p:tgtEl>
                                          <p:spTgt spid="20"/>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21"/>
                                        </p:tgtEl>
                                        <p:attrNameLst>
                                          <p:attrName>style.visibility</p:attrName>
                                        </p:attrNameLst>
                                      </p:cBhvr>
                                      <p:to>
                                        <p:strVal val="visible"/>
                                      </p:to>
                                    </p:set>
                                    <p:animEffect transition="in" filter="fade">
                                      <p:cBhvr>
                                        <p:cTn id="127" dur="400"/>
                                        <p:tgtEl>
                                          <p:spTgt spid="21"/>
                                        </p:tgtEl>
                                      </p:cBhvr>
                                    </p:animEffect>
                                  </p:childTnLst>
                                </p:cTn>
                              </p:par>
                              <p:par>
                                <p:cTn id="128" presetID="10" presetClass="entr" presetSubtype="0" fill="hold" grpId="0" nodeType="withEffect">
                                  <p:stCondLst>
                                    <p:cond delay="560"/>
                                  </p:stCondLst>
                                  <p:childTnLst>
                                    <p:set>
                                      <p:cBhvr>
                                        <p:cTn id="129" dur="1" fill="hold">
                                          <p:stCondLst>
                                            <p:cond delay="0"/>
                                          </p:stCondLst>
                                        </p:cTn>
                                        <p:tgtEl>
                                          <p:spTgt spid="9"/>
                                        </p:tgtEl>
                                        <p:attrNameLst>
                                          <p:attrName>style.visibility</p:attrName>
                                        </p:attrNameLst>
                                      </p:cBhvr>
                                      <p:to>
                                        <p:strVal val="visible"/>
                                      </p:to>
                                    </p:set>
                                    <p:animEffect transition="in" filter="fade">
                                      <p:cBhvr>
                                        <p:cTn id="130" dur="400"/>
                                        <p:tgtEl>
                                          <p:spTgt spid="9"/>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22"/>
                                        </p:tgtEl>
                                        <p:attrNameLst>
                                          <p:attrName>style.visibility</p:attrName>
                                        </p:attrNameLst>
                                      </p:cBhvr>
                                      <p:to>
                                        <p:strVal val="visible"/>
                                      </p:to>
                                    </p:set>
                                    <p:animEffect transition="in" filter="fade">
                                      <p:cBhvr>
                                        <p:cTn id="133" dur="400"/>
                                        <p:tgtEl>
                                          <p:spTgt spid="22"/>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23"/>
                                        </p:tgtEl>
                                        <p:attrNameLst>
                                          <p:attrName>style.visibility</p:attrName>
                                        </p:attrNameLst>
                                      </p:cBhvr>
                                      <p:to>
                                        <p:strVal val="visible"/>
                                      </p:to>
                                    </p:set>
                                    <p:animEffect transition="in" filter="fade">
                                      <p:cBhvr>
                                        <p:cTn id="136" dur="400"/>
                                        <p:tgtEl>
                                          <p:spTgt spid="23"/>
                                        </p:tgtEl>
                                      </p:cBhvr>
                                    </p:animEffect>
                                  </p:childTnLst>
                                </p:cTn>
                              </p:par>
                              <p:par>
                                <p:cTn id="137" presetID="10" presetClass="entr" presetSubtype="0" fill="hold" grpId="0" nodeType="withEffect">
                                  <p:stCondLst>
                                    <p:cond delay="560"/>
                                  </p:stCondLst>
                                  <p:childTnLst>
                                    <p:set>
                                      <p:cBhvr>
                                        <p:cTn id="138" dur="1" fill="hold">
                                          <p:stCondLst>
                                            <p:cond delay="0"/>
                                          </p:stCondLst>
                                        </p:cTn>
                                        <p:tgtEl>
                                          <p:spTgt spid="24"/>
                                        </p:tgtEl>
                                        <p:attrNameLst>
                                          <p:attrName>style.visibility</p:attrName>
                                        </p:attrNameLst>
                                      </p:cBhvr>
                                      <p:to>
                                        <p:strVal val="visible"/>
                                      </p:to>
                                    </p:set>
                                    <p:animEffect transition="in" filter="fade">
                                      <p:cBhvr>
                                        <p:cTn id="139" dur="400"/>
                                        <p:tgtEl>
                                          <p:spTgt spid="24"/>
                                        </p:tgtEl>
                                      </p:cBhvr>
                                    </p:animEffect>
                                  </p:childTnLst>
                                </p:cTn>
                              </p:par>
                              <p:par>
                                <p:cTn id="140" presetID="10" presetClass="entr" presetSubtype="0" fill="hold" grpId="0" nodeType="withEffect">
                                  <p:stCondLst>
                                    <p:cond delay="840"/>
                                  </p:stCondLst>
                                  <p:childTnLst>
                                    <p:set>
                                      <p:cBhvr>
                                        <p:cTn id="141" dur="1" fill="hold">
                                          <p:stCondLst>
                                            <p:cond delay="0"/>
                                          </p:stCondLst>
                                        </p:cTn>
                                        <p:tgtEl>
                                          <p:spTgt spid="10"/>
                                        </p:tgtEl>
                                        <p:attrNameLst>
                                          <p:attrName>style.visibility</p:attrName>
                                        </p:attrNameLst>
                                      </p:cBhvr>
                                      <p:to>
                                        <p:strVal val="visible"/>
                                      </p:to>
                                    </p:set>
                                    <p:animEffect transition="in" filter="fade">
                                      <p:cBhvr>
                                        <p:cTn id="142" dur="400"/>
                                        <p:tgtEl>
                                          <p:spTgt spid="10"/>
                                        </p:tgtEl>
                                      </p:cBhvr>
                                    </p:animEffect>
                                  </p:childTnLst>
                                </p:cTn>
                              </p:par>
                              <p:par>
                                <p:cTn id="143" presetID="10" presetClass="entr" presetSubtype="0" fill="hold" grpId="0" nodeType="withEffect">
                                  <p:stCondLst>
                                    <p:cond delay="840"/>
                                  </p:stCondLst>
                                  <p:childTnLst>
                                    <p:set>
                                      <p:cBhvr>
                                        <p:cTn id="144" dur="1" fill="hold">
                                          <p:stCondLst>
                                            <p:cond delay="0"/>
                                          </p:stCondLst>
                                        </p:cTn>
                                        <p:tgtEl>
                                          <p:spTgt spid="11"/>
                                        </p:tgtEl>
                                        <p:attrNameLst>
                                          <p:attrName>style.visibility</p:attrName>
                                        </p:attrNameLst>
                                      </p:cBhvr>
                                      <p:to>
                                        <p:strVal val="visible"/>
                                      </p:to>
                                    </p:set>
                                    <p:animEffect transition="in" filter="fade">
                                      <p:cBhvr>
                                        <p:cTn id="145" dur="400"/>
                                        <p:tgtEl>
                                          <p:spTgt spid="11"/>
                                        </p:tgtEl>
                                      </p:cBhvr>
                                    </p:animEffect>
                                  </p:childTnLst>
                                </p:cTn>
                              </p:par>
                              <p:par>
                                <p:cTn id="146" presetID="10" presetClass="entr" presetSubtype="0" fill="hold" grpId="0" nodeType="withEffect">
                                  <p:stCondLst>
                                    <p:cond delay="840"/>
                                  </p:stCondLst>
                                  <p:childTnLst>
                                    <p:set>
                                      <p:cBhvr>
                                        <p:cTn id="147" dur="1" fill="hold">
                                          <p:stCondLst>
                                            <p:cond delay="0"/>
                                          </p:stCondLst>
                                        </p:cTn>
                                        <p:tgtEl>
                                          <p:spTgt spid="25"/>
                                        </p:tgtEl>
                                        <p:attrNameLst>
                                          <p:attrName>style.visibility</p:attrName>
                                        </p:attrNameLst>
                                      </p:cBhvr>
                                      <p:to>
                                        <p:strVal val="visible"/>
                                      </p:to>
                                    </p:set>
                                    <p:animEffect transition="in" filter="fade">
                                      <p:cBhvr>
                                        <p:cTn id="148" dur="400"/>
                                        <p:tgtEl>
                                          <p:spTgt spid="25"/>
                                        </p:tgtEl>
                                      </p:cBhvr>
                                    </p:animEffect>
                                  </p:childTnLst>
                                </p:cTn>
                              </p:par>
                              <p:par>
                                <p:cTn id="149" presetID="10" presetClass="entr" presetSubtype="0" fill="hold" grpId="0" nodeType="withEffect">
                                  <p:stCondLst>
                                    <p:cond delay="840"/>
                                  </p:stCondLst>
                                  <p:childTnLst>
                                    <p:set>
                                      <p:cBhvr>
                                        <p:cTn id="150" dur="1" fill="hold">
                                          <p:stCondLst>
                                            <p:cond delay="0"/>
                                          </p:stCondLst>
                                        </p:cTn>
                                        <p:tgtEl>
                                          <p:spTgt spid="26"/>
                                        </p:tgtEl>
                                        <p:attrNameLst>
                                          <p:attrName>style.visibility</p:attrName>
                                        </p:attrNameLst>
                                      </p:cBhvr>
                                      <p:to>
                                        <p:strVal val="visible"/>
                                      </p:to>
                                    </p:set>
                                    <p:animEffect transition="in" filter="fade">
                                      <p:cBhvr>
                                        <p:cTn id="151" dur="400"/>
                                        <p:tgtEl>
                                          <p:spTgt spid="26"/>
                                        </p:tgtEl>
                                      </p:cBhvr>
                                    </p:animEffect>
                                  </p:childTnLst>
                                </p:cTn>
                              </p:par>
                              <p:par>
                                <p:cTn id="152" presetID="10" presetClass="entr" presetSubtype="0" fill="hold" grpId="0" nodeType="withEffect">
                                  <p:stCondLst>
                                    <p:cond delay="1120"/>
                                  </p:stCondLst>
                                  <p:childTnLst>
                                    <p:set>
                                      <p:cBhvr>
                                        <p:cTn id="153" dur="1" fill="hold">
                                          <p:stCondLst>
                                            <p:cond delay="0"/>
                                          </p:stCondLst>
                                        </p:cTn>
                                        <p:tgtEl>
                                          <p:spTgt spid="12"/>
                                        </p:tgtEl>
                                        <p:attrNameLst>
                                          <p:attrName>style.visibility</p:attrName>
                                        </p:attrNameLst>
                                      </p:cBhvr>
                                      <p:to>
                                        <p:strVal val="visible"/>
                                      </p:to>
                                    </p:set>
                                    <p:animEffect transition="in" filter="fade">
                                      <p:cBhvr>
                                        <p:cTn id="154" dur="400"/>
                                        <p:tgtEl>
                                          <p:spTgt spid="12"/>
                                        </p:tgtEl>
                                      </p:cBhvr>
                                    </p:animEffect>
                                  </p:childTnLst>
                                </p:cTn>
                              </p:par>
                              <p:par>
                                <p:cTn id="155" presetID="10" presetClass="entr" presetSubtype="0" fill="hold" grpId="0" nodeType="withEffect">
                                  <p:stCondLst>
                                    <p:cond delay="1120"/>
                                  </p:stCondLst>
                                  <p:childTnLst>
                                    <p:set>
                                      <p:cBhvr>
                                        <p:cTn id="156" dur="1" fill="hold">
                                          <p:stCondLst>
                                            <p:cond delay="0"/>
                                          </p:stCondLst>
                                        </p:cTn>
                                        <p:tgtEl>
                                          <p:spTgt spid="13"/>
                                        </p:tgtEl>
                                        <p:attrNameLst>
                                          <p:attrName>style.visibility</p:attrName>
                                        </p:attrNameLst>
                                      </p:cBhvr>
                                      <p:to>
                                        <p:strVal val="visible"/>
                                      </p:to>
                                    </p:set>
                                    <p:animEffect transition="in" filter="fade">
                                      <p:cBhvr>
                                        <p:cTn id="157" dur="400"/>
                                        <p:tgtEl>
                                          <p:spTgt spid="13"/>
                                        </p:tgtEl>
                                      </p:cBhvr>
                                    </p:animEffect>
                                  </p:childTnLst>
                                </p:cTn>
                              </p:par>
                              <p:par>
                                <p:cTn id="158" presetID="10" presetClass="entr" presetSubtype="0" fill="hold" grpId="0" nodeType="withEffect">
                                  <p:stCondLst>
                                    <p:cond delay="1120"/>
                                  </p:stCondLst>
                                  <p:childTnLst>
                                    <p:set>
                                      <p:cBhvr>
                                        <p:cTn id="159" dur="1" fill="hold">
                                          <p:stCondLst>
                                            <p:cond delay="0"/>
                                          </p:stCondLst>
                                        </p:cTn>
                                        <p:tgtEl>
                                          <p:spTgt spid="28"/>
                                        </p:tgtEl>
                                        <p:attrNameLst>
                                          <p:attrName>style.visibility</p:attrName>
                                        </p:attrNameLst>
                                      </p:cBhvr>
                                      <p:to>
                                        <p:strVal val="visible"/>
                                      </p:to>
                                    </p:set>
                                    <p:animEffect transition="in" filter="fade">
                                      <p:cBhvr>
                                        <p:cTn id="160" dur="400"/>
                                        <p:tgtEl>
                                          <p:spTgt spid="28"/>
                                        </p:tgtEl>
                                      </p:cBhvr>
                                    </p:animEffect>
                                  </p:childTnLst>
                                </p:cTn>
                              </p:par>
                              <p:par>
                                <p:cTn id="161" presetID="10" presetClass="entr" presetSubtype="0" fill="hold" grpId="0" nodeType="withEffect">
                                  <p:stCondLst>
                                    <p:cond delay="1120"/>
                                  </p:stCondLst>
                                  <p:childTnLst>
                                    <p:set>
                                      <p:cBhvr>
                                        <p:cTn id="162" dur="1" fill="hold">
                                          <p:stCondLst>
                                            <p:cond delay="0"/>
                                          </p:stCondLst>
                                        </p:cTn>
                                        <p:tgtEl>
                                          <p:spTgt spid="27"/>
                                        </p:tgtEl>
                                        <p:attrNameLst>
                                          <p:attrName>style.visibility</p:attrName>
                                        </p:attrNameLst>
                                      </p:cBhvr>
                                      <p:to>
                                        <p:strVal val="visible"/>
                                      </p:to>
                                    </p:set>
                                    <p:animEffect transition="in" filter="fade">
                                      <p:cBhvr>
                                        <p:cTn id="163" dur="400"/>
                                        <p:tgtEl>
                                          <p:spTgt spid="27"/>
                                        </p:tgtEl>
                                      </p:cBhvr>
                                    </p:animEffect>
                                  </p:childTnLst>
                                </p:cTn>
                              </p:par>
                              <p:par>
                                <p:cTn id="164" presetID="10" presetClass="entr" presetSubtype="0" fill="hold" grpId="0" nodeType="withEffect">
                                  <p:stCondLst>
                                    <p:cond delay="1120"/>
                                  </p:stCondLst>
                                  <p:childTnLst>
                                    <p:set>
                                      <p:cBhvr>
                                        <p:cTn id="165" dur="1" fill="hold">
                                          <p:stCondLst>
                                            <p:cond delay="0"/>
                                          </p:stCondLst>
                                        </p:cTn>
                                        <p:tgtEl>
                                          <p:spTgt spid="29"/>
                                        </p:tgtEl>
                                        <p:attrNameLst>
                                          <p:attrName>style.visibility</p:attrName>
                                        </p:attrNameLst>
                                      </p:cBhvr>
                                      <p:to>
                                        <p:strVal val="visible"/>
                                      </p:to>
                                    </p:set>
                                    <p:animEffect transition="in" filter="fade">
                                      <p:cBhvr>
                                        <p:cTn id="166" dur="400"/>
                                        <p:tgtEl>
                                          <p:spTgt spid="29"/>
                                        </p:tgtEl>
                                      </p:cBhvr>
                                    </p:animEffect>
                                  </p:childTnLst>
                                </p:cTn>
                              </p:par>
                              <p:par>
                                <p:cTn id="167" presetID="10" presetClass="entr" presetSubtype="0" fill="hold" grpId="0" nodeType="withEffect">
                                  <p:stCondLst>
                                    <p:cond delay="1400"/>
                                  </p:stCondLst>
                                  <p:childTnLst>
                                    <p:set>
                                      <p:cBhvr>
                                        <p:cTn id="168" dur="1" fill="hold">
                                          <p:stCondLst>
                                            <p:cond delay="0"/>
                                          </p:stCondLst>
                                        </p:cTn>
                                        <p:tgtEl>
                                          <p:spTgt spid="31"/>
                                        </p:tgtEl>
                                        <p:attrNameLst>
                                          <p:attrName>style.visibility</p:attrName>
                                        </p:attrNameLst>
                                      </p:cBhvr>
                                      <p:to>
                                        <p:strVal val="visible"/>
                                      </p:to>
                                    </p:set>
                                    <p:animEffect transition="in" filter="fade">
                                      <p:cBhvr>
                                        <p:cTn id="169" dur="400"/>
                                        <p:tgtEl>
                                          <p:spTgt spid="31"/>
                                        </p:tgtEl>
                                      </p:cBhvr>
                                    </p:animEffect>
                                  </p:childTnLst>
                                </p:cTn>
                              </p:par>
                              <p:par>
                                <p:cTn id="170" presetID="10" presetClass="entr" presetSubtype="0" fill="hold" grpId="0" nodeType="withEffect">
                                  <p:stCondLst>
                                    <p:cond delay="1400"/>
                                  </p:stCondLst>
                                  <p:childTnLst>
                                    <p:set>
                                      <p:cBhvr>
                                        <p:cTn id="171" dur="1" fill="hold">
                                          <p:stCondLst>
                                            <p:cond delay="0"/>
                                          </p:stCondLst>
                                        </p:cTn>
                                        <p:tgtEl>
                                          <p:spTgt spid="30"/>
                                        </p:tgtEl>
                                        <p:attrNameLst>
                                          <p:attrName>style.visibility</p:attrName>
                                        </p:attrNameLst>
                                      </p:cBhvr>
                                      <p:to>
                                        <p:strVal val="visible"/>
                                      </p:to>
                                    </p:set>
                                    <p:animEffect transition="in" filter="fade">
                                      <p:cBhvr>
                                        <p:cTn id="172" dur="400"/>
                                        <p:tgtEl>
                                          <p:spTgt spid="30"/>
                                        </p:tgtEl>
                                      </p:cBhvr>
                                    </p:animEffect>
                                  </p:childTnLst>
                                </p:cTn>
                              </p:par>
                              <p:par>
                                <p:cTn id="173" presetID="10" presetClass="entr" presetSubtype="0" fill="hold" grpId="0" nodeType="withEffect">
                                  <p:stCondLst>
                                    <p:cond delay="1400"/>
                                  </p:stCondLst>
                                  <p:childTnLst>
                                    <p:set>
                                      <p:cBhvr>
                                        <p:cTn id="174" dur="1" fill="hold">
                                          <p:stCondLst>
                                            <p:cond delay="0"/>
                                          </p:stCondLst>
                                        </p:cTn>
                                        <p:tgtEl>
                                          <p:spTgt spid="32"/>
                                        </p:tgtEl>
                                        <p:attrNameLst>
                                          <p:attrName>style.visibility</p:attrName>
                                        </p:attrNameLst>
                                      </p:cBhvr>
                                      <p:to>
                                        <p:strVal val="visible"/>
                                      </p:to>
                                    </p:set>
                                    <p:animEffect transition="in" filter="fade">
                                      <p:cBhvr>
                                        <p:cTn id="175"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07  ·  DỮ LIỆU</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Tập dữ liệu TCGA-LGG và quy trình chuẩn hóa</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08 / 20</a:t>
            </a:r>
            <a:endParaRPr lang="en-US" sz="800" dirty="0"/>
          </a:p>
        </p:txBody>
      </p:sp>
      <p:sp>
        <p:nvSpPr>
          <p:cNvPr id="6" name="Shape 4"/>
          <p:cNvSpPr/>
          <p:nvPr/>
        </p:nvSpPr>
        <p:spPr>
          <a:xfrm>
            <a:off x="502920" y="1243584"/>
            <a:ext cx="2615184" cy="877824"/>
          </a:xfrm>
          <a:prstGeom prst="roundRect">
            <a:avLst>
              <a:gd name="adj" fmla="val 6250"/>
            </a:avLst>
          </a:prstGeom>
          <a:solidFill>
            <a:srgbClr val="FFFFFF"/>
          </a:solidFill>
          <a:ln w="9525">
            <a:solidFill>
              <a:srgbClr val="D1E3E8"/>
            </a:solidFill>
            <a:prstDash val="solid"/>
          </a:ln>
          <a:effectLst>
            <a:outerShdw sx="100000" sy="100000" kx="0" ky="0" algn="bl" rotWithShape="0" blurRad="3.8433669984288512e+90" dist="1.9216834992144256e+90" dir="1.1845953345804043e+107">
              <a:srgbClr val="0B2B3C">
                <a:alpha val="9.999999999999998e+108"/>
              </a:srgbClr>
            </a:outerShdw>
          </a:effectLst>
        </p:spPr>
      </p:sp>
      <p:sp>
        <p:nvSpPr>
          <p:cNvPr id="7" name="Text 5"/>
          <p:cNvSpPr/>
          <p:nvPr/>
        </p:nvSpPr>
        <p:spPr>
          <a:xfrm>
            <a:off x="685800" y="1371600"/>
            <a:ext cx="2249424" cy="384048"/>
          </a:xfrm>
          <a:prstGeom prst="rect">
            <a:avLst/>
          </a:prstGeom>
          <a:noFill/>
          <a:ln/>
        </p:spPr>
        <p:txBody>
          <a:bodyPr wrap="square" lIns="0" tIns="0" rIns="0" bIns="0" rtlCol="0" anchor="ctr"/>
          <a:lstStyle/>
          <a:p>
            <a:pPr indent="0" marL="0">
              <a:buNone/>
            </a:pPr>
            <a:r>
              <a:rPr lang="en-US" sz="2200" dirty="0">
                <a:solidFill>
                  <a:srgbClr val="065A82"/>
                </a:solidFill>
                <a:latin typeface="Segoe UI Semibold" pitchFamily="34" charset="0"/>
                <a:ea typeface="Segoe UI Semibold" pitchFamily="34" charset="-122"/>
                <a:cs typeface="Segoe UI Semibold" pitchFamily="34" charset="-120"/>
              </a:rPr>
              <a:t>3.929</a:t>
            </a:r>
            <a:endParaRPr lang="en-US" sz="2200" dirty="0"/>
          </a:p>
        </p:txBody>
      </p:sp>
      <p:sp>
        <p:nvSpPr>
          <p:cNvPr id="8" name="Text 6"/>
          <p:cNvSpPr/>
          <p:nvPr/>
        </p:nvSpPr>
        <p:spPr>
          <a:xfrm>
            <a:off x="685800" y="1773936"/>
            <a:ext cx="2249424" cy="256032"/>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lát cắt MRI 2D</a:t>
            </a:r>
            <a:endParaRPr lang="en-US" sz="900" dirty="0"/>
          </a:p>
        </p:txBody>
      </p:sp>
      <p:sp>
        <p:nvSpPr>
          <p:cNvPr id="9" name="Shape 7"/>
          <p:cNvSpPr/>
          <p:nvPr/>
        </p:nvSpPr>
        <p:spPr>
          <a:xfrm>
            <a:off x="3300984" y="1243584"/>
            <a:ext cx="2615184" cy="877824"/>
          </a:xfrm>
          <a:prstGeom prst="roundRect">
            <a:avLst>
              <a:gd name="adj" fmla="val 6250"/>
            </a:avLst>
          </a:prstGeom>
          <a:solidFill>
            <a:srgbClr val="FFFFFF"/>
          </a:solidFill>
          <a:ln w="9525">
            <a:solidFill>
              <a:srgbClr val="D1E3E8"/>
            </a:solidFill>
            <a:prstDash val="solid"/>
          </a:ln>
          <a:effectLst>
            <a:outerShdw sx="100000" sy="100000" kx="0" ky="0" algn="bl" rotWithShape="0" blurRad="4.8810760880046414e+94" dist="2.4405380440023207e+94" dir="7.107572007482426e+111">
              <a:srgbClr val="0B2B3C">
                <a:alpha val="9.999999999999997e+113"/>
              </a:srgbClr>
            </a:outerShdw>
          </a:effectLst>
        </p:spPr>
      </p:sp>
      <p:sp>
        <p:nvSpPr>
          <p:cNvPr id="10" name="Text 8"/>
          <p:cNvSpPr/>
          <p:nvPr/>
        </p:nvSpPr>
        <p:spPr>
          <a:xfrm>
            <a:off x="3483864" y="1371600"/>
            <a:ext cx="2249424" cy="384048"/>
          </a:xfrm>
          <a:prstGeom prst="rect">
            <a:avLst/>
          </a:prstGeom>
          <a:noFill/>
          <a:ln/>
        </p:spPr>
        <p:txBody>
          <a:bodyPr wrap="square" lIns="0" tIns="0" rIns="0" bIns="0" rtlCol="0" anchor="ctr"/>
          <a:lstStyle/>
          <a:p>
            <a:pPr indent="0" marL="0">
              <a:buNone/>
            </a:pPr>
            <a:r>
              <a:rPr lang="en-US" sz="2200" dirty="0">
                <a:solidFill>
                  <a:srgbClr val="065A82"/>
                </a:solidFill>
                <a:latin typeface="Segoe UI Semibold" pitchFamily="34" charset="0"/>
                <a:ea typeface="Segoe UI Semibold" pitchFamily="34" charset="-122"/>
                <a:cs typeface="Segoe UI Semibold" pitchFamily="34" charset="-120"/>
              </a:rPr>
              <a:t>110</a:t>
            </a:r>
            <a:endParaRPr lang="en-US" sz="2200" dirty="0"/>
          </a:p>
        </p:txBody>
      </p:sp>
      <p:sp>
        <p:nvSpPr>
          <p:cNvPr id="11" name="Text 9"/>
          <p:cNvSpPr/>
          <p:nvPr/>
        </p:nvSpPr>
        <p:spPr>
          <a:xfrm>
            <a:off x="3483864" y="1773936"/>
            <a:ext cx="2249424" cy="256032"/>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bệnh nhân ung thư não cấp thấp</a:t>
            </a:r>
            <a:endParaRPr lang="en-US" sz="900" dirty="0"/>
          </a:p>
        </p:txBody>
      </p:sp>
      <p:sp>
        <p:nvSpPr>
          <p:cNvPr id="12" name="Shape 10"/>
          <p:cNvSpPr/>
          <p:nvPr/>
        </p:nvSpPr>
        <p:spPr>
          <a:xfrm>
            <a:off x="6099048" y="1243584"/>
            <a:ext cx="2615184" cy="877824"/>
          </a:xfrm>
          <a:prstGeom prst="roundRect">
            <a:avLst>
              <a:gd name="adj" fmla="val 6250"/>
            </a:avLst>
          </a:prstGeom>
          <a:solidFill>
            <a:srgbClr val="FFFFFF"/>
          </a:solidFill>
          <a:ln w="9525">
            <a:solidFill>
              <a:srgbClr val="D1E3E8"/>
            </a:solidFill>
            <a:prstDash val="solid"/>
          </a:ln>
          <a:effectLst>
            <a:outerShdw sx="100000" sy="100000" kx="0" ky="0" algn="bl" rotWithShape="0" blurRad="6.198966631765894e+98" dist="3.099483315882947e+98" dir="4.2645432044894554e+116">
              <a:srgbClr val="0B2B3C">
                <a:alpha val="9.999999999999998e+118"/>
              </a:srgbClr>
            </a:outerShdw>
          </a:effectLst>
        </p:spPr>
      </p:sp>
      <p:sp>
        <p:nvSpPr>
          <p:cNvPr id="13" name="Text 11"/>
          <p:cNvSpPr/>
          <p:nvPr/>
        </p:nvSpPr>
        <p:spPr>
          <a:xfrm>
            <a:off x="6281928" y="1371600"/>
            <a:ext cx="2249424" cy="384048"/>
          </a:xfrm>
          <a:prstGeom prst="rect">
            <a:avLst/>
          </a:prstGeom>
          <a:noFill/>
          <a:ln/>
        </p:spPr>
        <p:txBody>
          <a:bodyPr wrap="square" lIns="0" tIns="0" rIns="0" bIns="0" rtlCol="0" anchor="ctr"/>
          <a:lstStyle/>
          <a:p>
            <a:pPr indent="0" marL="0">
              <a:buNone/>
            </a:pPr>
            <a:r>
              <a:rPr lang="en-US" sz="2200" dirty="0">
                <a:solidFill>
                  <a:srgbClr val="065A82"/>
                </a:solidFill>
                <a:latin typeface="Segoe UI Semibold" pitchFamily="34" charset="0"/>
                <a:ea typeface="Segoe UI Semibold" pitchFamily="34" charset="-122"/>
                <a:cs typeface="Segoe UI Semibold" pitchFamily="34" charset="-120"/>
              </a:rPr>
              <a:t>256 × 256</a:t>
            </a:r>
            <a:endParaRPr lang="en-US" sz="2200" dirty="0"/>
          </a:p>
        </p:txBody>
      </p:sp>
      <p:sp>
        <p:nvSpPr>
          <p:cNvPr id="14" name="Text 12"/>
          <p:cNvSpPr/>
          <p:nvPr/>
        </p:nvSpPr>
        <p:spPr>
          <a:xfrm>
            <a:off x="6281928" y="1773936"/>
            <a:ext cx="2249424" cy="256032"/>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pixel, thang xám uint8</a:t>
            </a:r>
            <a:endParaRPr lang="en-US" sz="900" dirty="0"/>
          </a:p>
        </p:txBody>
      </p:sp>
      <p:sp>
        <p:nvSpPr>
          <p:cNvPr id="15" name="Shape 13"/>
          <p:cNvSpPr/>
          <p:nvPr/>
        </p:nvSpPr>
        <p:spPr>
          <a:xfrm>
            <a:off x="502920" y="2286000"/>
            <a:ext cx="8138160" cy="841248"/>
          </a:xfrm>
          <a:prstGeom prst="roundRect">
            <a:avLst>
              <a:gd name="adj" fmla="val 6522"/>
            </a:avLst>
          </a:prstGeom>
          <a:solidFill>
            <a:srgbClr val="FFFFFF"/>
          </a:solidFill>
          <a:ln w="9525">
            <a:solidFill>
              <a:srgbClr val="D1E3E8"/>
            </a:solidFill>
            <a:prstDash val="solid"/>
          </a:ln>
          <a:effectLst>
            <a:outerShdw sx="100000" sy="100000" kx="0" ky="0" algn="bl" rotWithShape="0" blurRad="7.872687622342685e+102" dist="3.9363438111713427e+102" dir="2.5587259226936733e+121">
              <a:srgbClr val="0B2B3C">
                <a:alpha val="9.999999999999997e+123"/>
              </a:srgbClr>
            </a:outerShdw>
          </a:effectLst>
        </p:spPr>
      </p:sp>
      <p:sp>
        <p:nvSpPr>
          <p:cNvPr id="16" name="Text 14"/>
          <p:cNvSpPr/>
          <p:nvPr/>
        </p:nvSpPr>
        <p:spPr>
          <a:xfrm>
            <a:off x="722376" y="2395728"/>
            <a:ext cx="2011680" cy="182880"/>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CHUẨN HÓA DỮ LIỆU</a:t>
            </a:r>
            <a:endParaRPr lang="en-US" sz="850" dirty="0"/>
          </a:p>
        </p:txBody>
      </p:sp>
      <p:sp>
        <p:nvSpPr>
          <p:cNvPr id="17" name="Text 15"/>
          <p:cNvSpPr/>
          <p:nvPr/>
        </p:nvSpPr>
        <p:spPr>
          <a:xfrm>
            <a:off x="2697480" y="2395728"/>
            <a:ext cx="5760720" cy="603504"/>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Segoe UI" pitchFamily="34" charset="0"/>
                <a:ea typeface="Segoe UI" pitchFamily="34" charset="-122"/>
                <a:cs typeface="Segoe UI" pitchFamily="34" charset="-120"/>
              </a:rPr>
              <a:t>Chuỗi xung FLAIR / T1-weighted, kích thước đồng nhất 256 × 256, mặt nạ Ground Truth nhị phân {0, 255} do chuyên gia y tế gắn nhãn.</a:t>
            </a:r>
            <a:endParaRPr lang="en-US" sz="950" dirty="0"/>
          </a:p>
        </p:txBody>
      </p:sp>
      <p:sp>
        <p:nvSpPr>
          <p:cNvPr id="18" name="Text 16"/>
          <p:cNvSpPr/>
          <p:nvPr/>
        </p:nvSpPr>
        <p:spPr>
          <a:xfrm>
            <a:off x="502920" y="3255264"/>
            <a:ext cx="5486400" cy="182880"/>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PHÂN NHÓM ĐỘ KHÓ THEO DIỆN TÍCH U</a:t>
            </a:r>
            <a:endParaRPr lang="en-US" sz="850" dirty="0"/>
          </a:p>
        </p:txBody>
      </p:sp>
      <p:sp>
        <p:nvSpPr>
          <p:cNvPr id="19" name="Shape 17"/>
          <p:cNvSpPr/>
          <p:nvPr/>
        </p:nvSpPr>
        <p:spPr>
          <a:xfrm>
            <a:off x="502920" y="3474720"/>
            <a:ext cx="2615184" cy="1024128"/>
          </a:xfrm>
          <a:prstGeom prst="roundRect">
            <a:avLst>
              <a:gd name="adj" fmla="val 5357"/>
            </a:avLst>
          </a:prstGeom>
          <a:solidFill>
            <a:srgbClr val="F0F7F9"/>
          </a:solidFill>
          <a:ln w="9525">
            <a:solidFill>
              <a:srgbClr val="D1E3E8"/>
            </a:solidFill>
            <a:prstDash val="solid"/>
          </a:ln>
        </p:spPr>
      </p:sp>
      <p:sp>
        <p:nvSpPr>
          <p:cNvPr id="20" name="Text 18"/>
          <p:cNvSpPr/>
          <p:nvPr/>
        </p:nvSpPr>
        <p:spPr>
          <a:xfrm>
            <a:off x="685800" y="3566160"/>
            <a:ext cx="2249424" cy="310896"/>
          </a:xfrm>
          <a:prstGeom prst="rect">
            <a:avLst/>
          </a:prstGeom>
          <a:noFill/>
          <a:ln/>
        </p:spPr>
        <p:txBody>
          <a:bodyPr wrap="square" lIns="0" tIns="0" rIns="0" bIns="0" rtlCol="0" anchor="ctr"/>
          <a:lstStyle/>
          <a:p>
            <a:pPr indent="0" marL="0">
              <a:buNone/>
            </a:pPr>
            <a:r>
              <a:rPr lang="en-US" sz="1700" dirty="0">
                <a:solidFill>
                  <a:srgbClr val="065A82"/>
                </a:solidFill>
                <a:latin typeface="Segoe UI Semibold" pitchFamily="34" charset="0"/>
                <a:ea typeface="Segoe UI Semibold" pitchFamily="34" charset="-122"/>
                <a:cs typeface="Segoe UI Semibold" pitchFamily="34" charset="-120"/>
              </a:rPr>
              <a:t>&gt; 5%</a:t>
            </a:r>
            <a:endParaRPr lang="en-US" sz="1700" dirty="0"/>
          </a:p>
        </p:txBody>
      </p:sp>
      <p:sp>
        <p:nvSpPr>
          <p:cNvPr id="21" name="Text 19"/>
          <p:cNvSpPr/>
          <p:nvPr/>
        </p:nvSpPr>
        <p:spPr>
          <a:xfrm>
            <a:off x="685800" y="3877056"/>
            <a:ext cx="2249424" cy="201168"/>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U lớn, rõ nét</a:t>
            </a:r>
            <a:endParaRPr lang="en-US" sz="950" dirty="0"/>
          </a:p>
        </p:txBody>
      </p:sp>
      <p:sp>
        <p:nvSpPr>
          <p:cNvPr id="22" name="Text 20"/>
          <p:cNvSpPr/>
          <p:nvPr/>
        </p:nvSpPr>
        <p:spPr>
          <a:xfrm>
            <a:off x="685800" y="4078224"/>
            <a:ext cx="2249424" cy="329184"/>
          </a:xfrm>
          <a:prstGeom prst="rect">
            <a:avLst/>
          </a:prstGeom>
          <a:noFill/>
          <a:ln/>
        </p:spPr>
        <p:txBody>
          <a:bodyPr wrap="square" lIns="0" tIns="0" rIns="0" bIns="0" rtlCol="0" anchor="t"/>
          <a:lstStyle/>
          <a:p>
            <a:pPr indent="0" marL="0">
              <a:lnSpc>
                <a:spcPct val="110000"/>
              </a:lnSpc>
              <a:buNone/>
            </a:pPr>
            <a:r>
              <a:rPr lang="en-US" sz="850" dirty="0">
                <a:solidFill>
                  <a:srgbClr val="5F7186"/>
                </a:solidFill>
                <a:latin typeface="Segoe UI" pitchFamily="34" charset="0"/>
                <a:ea typeface="Segoe UI" pitchFamily="34" charset="-122"/>
                <a:cs typeface="Segoe UI" pitchFamily="34" charset="-120"/>
              </a:rPr>
              <a:t>Biên u rõ, độ tương phản cao</a:t>
            </a:r>
            <a:endParaRPr lang="en-US" sz="850" dirty="0"/>
          </a:p>
        </p:txBody>
      </p:sp>
      <p:sp>
        <p:nvSpPr>
          <p:cNvPr id="23" name="Shape 21"/>
          <p:cNvSpPr/>
          <p:nvPr/>
        </p:nvSpPr>
        <p:spPr>
          <a:xfrm>
            <a:off x="3300984" y="3474720"/>
            <a:ext cx="2615184" cy="1024128"/>
          </a:xfrm>
          <a:prstGeom prst="roundRect">
            <a:avLst>
              <a:gd name="adj" fmla="val 5357"/>
            </a:avLst>
          </a:prstGeom>
          <a:solidFill>
            <a:srgbClr val="F0F7F9"/>
          </a:solidFill>
          <a:ln w="9525">
            <a:solidFill>
              <a:srgbClr val="D1E3E8"/>
            </a:solidFill>
            <a:prstDash val="solid"/>
          </a:ln>
        </p:spPr>
      </p:sp>
      <p:sp>
        <p:nvSpPr>
          <p:cNvPr id="24" name="Text 22"/>
          <p:cNvSpPr/>
          <p:nvPr/>
        </p:nvSpPr>
        <p:spPr>
          <a:xfrm>
            <a:off x="3483864" y="3566160"/>
            <a:ext cx="2249424" cy="310896"/>
          </a:xfrm>
          <a:prstGeom prst="rect">
            <a:avLst/>
          </a:prstGeom>
          <a:noFill/>
          <a:ln/>
        </p:spPr>
        <p:txBody>
          <a:bodyPr wrap="square" lIns="0" tIns="0" rIns="0" bIns="0" rtlCol="0" anchor="ctr"/>
          <a:lstStyle/>
          <a:p>
            <a:pPr indent="0" marL="0">
              <a:buNone/>
            </a:pPr>
            <a:r>
              <a:rPr lang="en-US" sz="1700" dirty="0">
                <a:solidFill>
                  <a:srgbClr val="065A82"/>
                </a:solidFill>
                <a:latin typeface="Segoe UI Semibold" pitchFamily="34" charset="0"/>
                <a:ea typeface="Segoe UI Semibold" pitchFamily="34" charset="-122"/>
                <a:cs typeface="Segoe UI Semibold" pitchFamily="34" charset="-120"/>
              </a:rPr>
              <a:t>1,5 – 5%</a:t>
            </a:r>
            <a:endParaRPr lang="en-US" sz="1700" dirty="0"/>
          </a:p>
        </p:txBody>
      </p:sp>
      <p:sp>
        <p:nvSpPr>
          <p:cNvPr id="25" name="Text 23"/>
          <p:cNvSpPr/>
          <p:nvPr/>
        </p:nvSpPr>
        <p:spPr>
          <a:xfrm>
            <a:off x="3483864" y="3877056"/>
            <a:ext cx="2249424" cy="201168"/>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U trung bình</a:t>
            </a:r>
            <a:endParaRPr lang="en-US" sz="950" dirty="0"/>
          </a:p>
        </p:txBody>
      </p:sp>
      <p:sp>
        <p:nvSpPr>
          <p:cNvPr id="26" name="Text 24"/>
          <p:cNvSpPr/>
          <p:nvPr/>
        </p:nvSpPr>
        <p:spPr>
          <a:xfrm>
            <a:off x="3483864" y="4078224"/>
            <a:ext cx="2249424" cy="329184"/>
          </a:xfrm>
          <a:prstGeom prst="rect">
            <a:avLst/>
          </a:prstGeom>
          <a:noFill/>
          <a:ln/>
        </p:spPr>
        <p:txBody>
          <a:bodyPr wrap="square" lIns="0" tIns="0" rIns="0" bIns="0" rtlCol="0" anchor="t"/>
          <a:lstStyle/>
          <a:p>
            <a:pPr indent="0" marL="0">
              <a:lnSpc>
                <a:spcPct val="110000"/>
              </a:lnSpc>
              <a:buNone/>
            </a:pPr>
            <a:r>
              <a:rPr lang="en-US" sz="850" dirty="0">
                <a:solidFill>
                  <a:srgbClr val="5F7186"/>
                </a:solidFill>
                <a:latin typeface="Segoe UI" pitchFamily="34" charset="0"/>
                <a:ea typeface="Segoe UI" pitchFamily="34" charset="-122"/>
                <a:cs typeface="Segoe UI" pitchFamily="34" charset="-120"/>
              </a:rPr>
              <a:t>Bờ u tương đối rõ, có phù nề nhẹ</a:t>
            </a:r>
            <a:endParaRPr lang="en-US" sz="850" dirty="0"/>
          </a:p>
        </p:txBody>
      </p:sp>
      <p:sp>
        <p:nvSpPr>
          <p:cNvPr id="27" name="Shape 25"/>
          <p:cNvSpPr/>
          <p:nvPr/>
        </p:nvSpPr>
        <p:spPr>
          <a:xfrm>
            <a:off x="6099048" y="3474720"/>
            <a:ext cx="2615184" cy="1024128"/>
          </a:xfrm>
          <a:prstGeom prst="roundRect">
            <a:avLst>
              <a:gd name="adj" fmla="val 5357"/>
            </a:avLst>
          </a:prstGeom>
          <a:solidFill>
            <a:srgbClr val="F0F7F9"/>
          </a:solidFill>
          <a:ln w="9525">
            <a:solidFill>
              <a:srgbClr val="D1E3E8"/>
            </a:solidFill>
            <a:prstDash val="solid"/>
          </a:ln>
        </p:spPr>
      </p:sp>
      <p:sp>
        <p:nvSpPr>
          <p:cNvPr id="28" name="Text 26"/>
          <p:cNvSpPr/>
          <p:nvPr/>
        </p:nvSpPr>
        <p:spPr>
          <a:xfrm>
            <a:off x="6281928" y="3566160"/>
            <a:ext cx="2249424" cy="310896"/>
          </a:xfrm>
          <a:prstGeom prst="rect">
            <a:avLst/>
          </a:prstGeom>
          <a:noFill/>
          <a:ln/>
        </p:spPr>
        <p:txBody>
          <a:bodyPr wrap="square" lIns="0" tIns="0" rIns="0" bIns="0" rtlCol="0" anchor="ctr"/>
          <a:lstStyle/>
          <a:p>
            <a:pPr indent="0" marL="0">
              <a:buNone/>
            </a:pPr>
            <a:r>
              <a:rPr lang="en-US" sz="1700" dirty="0">
                <a:solidFill>
                  <a:srgbClr val="B45309"/>
                </a:solidFill>
                <a:latin typeface="Segoe UI Semibold" pitchFamily="34" charset="0"/>
                <a:ea typeface="Segoe UI Semibold" pitchFamily="34" charset="-122"/>
                <a:cs typeface="Segoe UI Semibold" pitchFamily="34" charset="-120"/>
              </a:rPr>
              <a:t>&lt; 1,5%</a:t>
            </a:r>
            <a:endParaRPr lang="en-US" sz="1700" dirty="0"/>
          </a:p>
        </p:txBody>
      </p:sp>
      <p:sp>
        <p:nvSpPr>
          <p:cNvPr id="29" name="Text 27"/>
          <p:cNvSpPr/>
          <p:nvPr/>
        </p:nvSpPr>
        <p:spPr>
          <a:xfrm>
            <a:off x="6281928" y="3877056"/>
            <a:ext cx="2249424" cy="201168"/>
          </a:xfrm>
          <a:prstGeom prst="rect">
            <a:avLst/>
          </a:prstGeom>
          <a:noFill/>
          <a:ln/>
        </p:spPr>
        <p:txBody>
          <a:bodyPr wrap="square" lIns="0" tIns="0" rIns="0" bIns="0" rtlCol="0" anchor="ctr"/>
          <a:lstStyle/>
          <a:p>
            <a:pPr indent="0" marL="0">
              <a:buNone/>
            </a:pPr>
            <a:r>
              <a:rPr lang="en-US" sz="950" dirty="0">
                <a:solidFill>
                  <a:srgbClr val="21295C"/>
                </a:solidFill>
                <a:latin typeface="Segoe UI Semibold" pitchFamily="34" charset="0"/>
                <a:ea typeface="Segoe UI Semibold" pitchFamily="34" charset="-122"/>
                <a:cs typeface="Segoe UI Semibold" pitchFamily="34" charset="-120"/>
              </a:rPr>
              <a:t>U nhỏ, bờ mờ</a:t>
            </a:r>
            <a:endParaRPr lang="en-US" sz="950" dirty="0"/>
          </a:p>
        </p:txBody>
      </p:sp>
      <p:sp>
        <p:nvSpPr>
          <p:cNvPr id="30" name="Text 28"/>
          <p:cNvSpPr/>
          <p:nvPr/>
        </p:nvSpPr>
        <p:spPr>
          <a:xfrm>
            <a:off x="6281928" y="4078224"/>
            <a:ext cx="2249424" cy="329184"/>
          </a:xfrm>
          <a:prstGeom prst="rect">
            <a:avLst/>
          </a:prstGeom>
          <a:noFill/>
          <a:ln/>
        </p:spPr>
        <p:txBody>
          <a:bodyPr wrap="square" lIns="0" tIns="0" rIns="0" bIns="0" rtlCol="0" anchor="t"/>
          <a:lstStyle/>
          <a:p>
            <a:pPr indent="0" marL="0">
              <a:lnSpc>
                <a:spcPct val="110000"/>
              </a:lnSpc>
              <a:buNone/>
            </a:pPr>
            <a:r>
              <a:rPr lang="en-US" sz="850" dirty="0">
                <a:solidFill>
                  <a:srgbClr val="5F7186"/>
                </a:solidFill>
                <a:latin typeface="Segoe UI" pitchFamily="34" charset="0"/>
                <a:ea typeface="Segoe UI" pitchFamily="34" charset="-122"/>
                <a:cs typeface="Segoe UI" pitchFamily="34" charset="-120"/>
              </a:rPr>
              <a:t>Thách thức: dễ mất đỉnh EDT</a:t>
            </a:r>
            <a:endParaRPr lang="en-US" sz="850" dirty="0"/>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9"/>
                                        </p:tgtEl>
                                        <p:attrNameLst>
                                          <p:attrName>style.visibility</p:attrName>
                                        </p:attrNameLst>
                                      </p:cBhvr>
                                      <p:to>
                                        <p:strVal val="visible"/>
                                      </p:to>
                                    </p:set>
                                    <p:animEffect transition="in" filter="fade">
                                      <p:cBhvr>
                                        <p:cTn id="109" dur="400"/>
                                        <p:tgtEl>
                                          <p:spTgt spid="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
                                        </p:tgtEl>
                                        <p:attrNameLst>
                                          <p:attrName>style.visibility</p:attrName>
                                        </p:attrNameLst>
                                      </p:cBhvr>
                                      <p:to>
                                        <p:strVal val="visible"/>
                                      </p:to>
                                    </p:set>
                                    <p:animEffect transition="in" filter="fade">
                                      <p:cBhvr>
                                        <p:cTn id="112" dur="400"/>
                                        <p:tgtEl>
                                          <p:spTgt spid="1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2"/>
                                        </p:tgtEl>
                                        <p:attrNameLst>
                                          <p:attrName>style.visibility</p:attrName>
                                        </p:attrNameLst>
                                      </p:cBhvr>
                                      <p:to>
                                        <p:strVal val="visible"/>
                                      </p:to>
                                    </p:set>
                                    <p:animEffect transition="in" filter="fade">
                                      <p:cBhvr>
                                        <p:cTn id="115" dur="400"/>
                                        <p:tgtEl>
                                          <p:spTgt spid="1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3"/>
                                        </p:tgtEl>
                                        <p:attrNameLst>
                                          <p:attrName>style.visibility</p:attrName>
                                        </p:attrNameLst>
                                      </p:cBhvr>
                                      <p:to>
                                        <p:strVal val="visible"/>
                                      </p:to>
                                    </p:set>
                                    <p:animEffect transition="in" filter="fade">
                                      <p:cBhvr>
                                        <p:cTn id="118" dur="400"/>
                                        <p:tgtEl>
                                          <p:spTgt spid="13"/>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8"/>
                                        </p:tgtEl>
                                        <p:attrNameLst>
                                          <p:attrName>style.visibility</p:attrName>
                                        </p:attrNameLst>
                                      </p:cBhvr>
                                      <p:to>
                                        <p:strVal val="visible"/>
                                      </p:to>
                                    </p:set>
                                    <p:animEffect transition="in" filter="fade">
                                      <p:cBhvr>
                                        <p:cTn id="121" dur="400"/>
                                        <p:tgtEl>
                                          <p:spTgt spid="8"/>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00"/>
                                        <p:tgtEl>
                                          <p:spTgt spid="11"/>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14"/>
                                        </p:tgtEl>
                                        <p:attrNameLst>
                                          <p:attrName>style.visibility</p:attrName>
                                        </p:attrNameLst>
                                      </p:cBhvr>
                                      <p:to>
                                        <p:strVal val="visible"/>
                                      </p:to>
                                    </p:set>
                                    <p:animEffect transition="in" filter="fade">
                                      <p:cBhvr>
                                        <p:cTn id="127" dur="400"/>
                                        <p:tgtEl>
                                          <p:spTgt spid="14"/>
                                        </p:tgtEl>
                                      </p:cBhvr>
                                    </p:animEffect>
                                  </p:childTnLst>
                                </p:cTn>
                              </p:par>
                              <p:par>
                                <p:cTn id="128" presetID="10" presetClass="entr" presetSubtype="0" fill="hold" grpId="0" nodeType="withEffect">
                                  <p:stCondLst>
                                    <p:cond delay="560"/>
                                  </p:stCondLst>
                                  <p:childTnLst>
                                    <p:set>
                                      <p:cBhvr>
                                        <p:cTn id="129" dur="1" fill="hold">
                                          <p:stCondLst>
                                            <p:cond delay="0"/>
                                          </p:stCondLst>
                                        </p:cTn>
                                        <p:tgtEl>
                                          <p:spTgt spid="15"/>
                                        </p:tgtEl>
                                        <p:attrNameLst>
                                          <p:attrName>style.visibility</p:attrName>
                                        </p:attrNameLst>
                                      </p:cBhvr>
                                      <p:to>
                                        <p:strVal val="visible"/>
                                      </p:to>
                                    </p:set>
                                    <p:animEffect transition="in" filter="fade">
                                      <p:cBhvr>
                                        <p:cTn id="130" dur="400"/>
                                        <p:tgtEl>
                                          <p:spTgt spid="15"/>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16"/>
                                        </p:tgtEl>
                                        <p:attrNameLst>
                                          <p:attrName>style.visibility</p:attrName>
                                        </p:attrNameLst>
                                      </p:cBhvr>
                                      <p:to>
                                        <p:strVal val="visible"/>
                                      </p:to>
                                    </p:set>
                                    <p:animEffect transition="in" filter="fade">
                                      <p:cBhvr>
                                        <p:cTn id="133" dur="400"/>
                                        <p:tgtEl>
                                          <p:spTgt spid="16"/>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17"/>
                                        </p:tgtEl>
                                        <p:attrNameLst>
                                          <p:attrName>style.visibility</p:attrName>
                                        </p:attrNameLst>
                                      </p:cBhvr>
                                      <p:to>
                                        <p:strVal val="visible"/>
                                      </p:to>
                                    </p:set>
                                    <p:animEffect transition="in" filter="fade">
                                      <p:cBhvr>
                                        <p:cTn id="136" dur="400"/>
                                        <p:tgtEl>
                                          <p:spTgt spid="17"/>
                                        </p:tgtEl>
                                      </p:cBhvr>
                                    </p:animEffect>
                                  </p:childTnLst>
                                </p:cTn>
                              </p:par>
                              <p:par>
                                <p:cTn id="137" presetID="10" presetClass="entr" presetSubtype="0" fill="hold" grpId="0" nodeType="withEffect">
                                  <p:stCondLst>
                                    <p:cond delay="840"/>
                                  </p:stCondLst>
                                  <p:childTnLst>
                                    <p:set>
                                      <p:cBhvr>
                                        <p:cTn id="138" dur="1" fill="hold">
                                          <p:stCondLst>
                                            <p:cond delay="0"/>
                                          </p:stCondLst>
                                        </p:cTn>
                                        <p:tgtEl>
                                          <p:spTgt spid="18"/>
                                        </p:tgtEl>
                                        <p:attrNameLst>
                                          <p:attrName>style.visibility</p:attrName>
                                        </p:attrNameLst>
                                      </p:cBhvr>
                                      <p:to>
                                        <p:strVal val="visible"/>
                                      </p:to>
                                    </p:set>
                                    <p:animEffect transition="in" filter="fade">
                                      <p:cBhvr>
                                        <p:cTn id="139" dur="400"/>
                                        <p:tgtEl>
                                          <p:spTgt spid="18"/>
                                        </p:tgtEl>
                                      </p:cBhvr>
                                    </p:animEffect>
                                  </p:childTnLst>
                                </p:cTn>
                              </p:par>
                              <p:par>
                                <p:cTn id="140" presetID="10" presetClass="entr" presetSubtype="0" fill="hold" grpId="0" nodeType="withEffect">
                                  <p:stCondLst>
                                    <p:cond delay="1120"/>
                                  </p:stCondLst>
                                  <p:childTnLst>
                                    <p:set>
                                      <p:cBhvr>
                                        <p:cTn id="141" dur="1" fill="hold">
                                          <p:stCondLst>
                                            <p:cond delay="0"/>
                                          </p:stCondLst>
                                        </p:cTn>
                                        <p:tgtEl>
                                          <p:spTgt spid="19"/>
                                        </p:tgtEl>
                                        <p:attrNameLst>
                                          <p:attrName>style.visibility</p:attrName>
                                        </p:attrNameLst>
                                      </p:cBhvr>
                                      <p:to>
                                        <p:strVal val="visible"/>
                                      </p:to>
                                    </p:set>
                                    <p:animEffect transition="in" filter="fade">
                                      <p:cBhvr>
                                        <p:cTn id="142" dur="400"/>
                                        <p:tgtEl>
                                          <p:spTgt spid="19"/>
                                        </p:tgtEl>
                                      </p:cBhvr>
                                    </p:animEffect>
                                  </p:childTnLst>
                                </p:cTn>
                              </p:par>
                              <p:par>
                                <p:cTn id="143" presetID="10" presetClass="entr" presetSubtype="0" fill="hold" grpId="0" nodeType="withEffect">
                                  <p:stCondLst>
                                    <p:cond delay="112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400"/>
                                        <p:tgtEl>
                                          <p:spTgt spid="20"/>
                                        </p:tgtEl>
                                      </p:cBhvr>
                                    </p:animEffect>
                                  </p:childTnLst>
                                </p:cTn>
                              </p:par>
                              <p:par>
                                <p:cTn id="146" presetID="10" presetClass="entr" presetSubtype="0" fill="hold" grpId="0" nodeType="withEffect">
                                  <p:stCondLst>
                                    <p:cond delay="1120"/>
                                  </p:stCondLst>
                                  <p:childTnLst>
                                    <p:set>
                                      <p:cBhvr>
                                        <p:cTn id="147" dur="1" fill="hold">
                                          <p:stCondLst>
                                            <p:cond delay="0"/>
                                          </p:stCondLst>
                                        </p:cTn>
                                        <p:tgtEl>
                                          <p:spTgt spid="21"/>
                                        </p:tgtEl>
                                        <p:attrNameLst>
                                          <p:attrName>style.visibility</p:attrName>
                                        </p:attrNameLst>
                                      </p:cBhvr>
                                      <p:to>
                                        <p:strVal val="visible"/>
                                      </p:to>
                                    </p:set>
                                    <p:animEffect transition="in" filter="fade">
                                      <p:cBhvr>
                                        <p:cTn id="148" dur="400"/>
                                        <p:tgtEl>
                                          <p:spTgt spid="21"/>
                                        </p:tgtEl>
                                      </p:cBhvr>
                                    </p:animEffect>
                                  </p:childTnLst>
                                </p:cTn>
                              </p:par>
                              <p:par>
                                <p:cTn id="149" presetID="10" presetClass="entr" presetSubtype="0" fill="hold" grpId="0" nodeType="withEffect">
                                  <p:stCondLst>
                                    <p:cond delay="1120"/>
                                  </p:stCondLst>
                                  <p:childTnLst>
                                    <p:set>
                                      <p:cBhvr>
                                        <p:cTn id="150" dur="1" fill="hold">
                                          <p:stCondLst>
                                            <p:cond delay="0"/>
                                          </p:stCondLst>
                                        </p:cTn>
                                        <p:tgtEl>
                                          <p:spTgt spid="23"/>
                                        </p:tgtEl>
                                        <p:attrNameLst>
                                          <p:attrName>style.visibility</p:attrName>
                                        </p:attrNameLst>
                                      </p:cBhvr>
                                      <p:to>
                                        <p:strVal val="visible"/>
                                      </p:to>
                                    </p:set>
                                    <p:animEffect transition="in" filter="fade">
                                      <p:cBhvr>
                                        <p:cTn id="151" dur="400"/>
                                        <p:tgtEl>
                                          <p:spTgt spid="23"/>
                                        </p:tgtEl>
                                      </p:cBhvr>
                                    </p:animEffect>
                                  </p:childTnLst>
                                </p:cTn>
                              </p:par>
                              <p:par>
                                <p:cTn id="152" presetID="10" presetClass="entr" presetSubtype="0" fill="hold" grpId="0" nodeType="withEffect">
                                  <p:stCondLst>
                                    <p:cond delay="1120"/>
                                  </p:stCondLst>
                                  <p:childTnLst>
                                    <p:set>
                                      <p:cBhvr>
                                        <p:cTn id="153" dur="1" fill="hold">
                                          <p:stCondLst>
                                            <p:cond delay="0"/>
                                          </p:stCondLst>
                                        </p:cTn>
                                        <p:tgtEl>
                                          <p:spTgt spid="24"/>
                                        </p:tgtEl>
                                        <p:attrNameLst>
                                          <p:attrName>style.visibility</p:attrName>
                                        </p:attrNameLst>
                                      </p:cBhvr>
                                      <p:to>
                                        <p:strVal val="visible"/>
                                      </p:to>
                                    </p:set>
                                    <p:animEffect transition="in" filter="fade">
                                      <p:cBhvr>
                                        <p:cTn id="154" dur="400"/>
                                        <p:tgtEl>
                                          <p:spTgt spid="24"/>
                                        </p:tgtEl>
                                      </p:cBhvr>
                                    </p:animEffect>
                                  </p:childTnLst>
                                </p:cTn>
                              </p:par>
                              <p:par>
                                <p:cTn id="155" presetID="10" presetClass="entr" presetSubtype="0" fill="hold" grpId="0" nodeType="withEffect">
                                  <p:stCondLst>
                                    <p:cond delay="1120"/>
                                  </p:stCondLst>
                                  <p:childTnLst>
                                    <p:set>
                                      <p:cBhvr>
                                        <p:cTn id="156" dur="1" fill="hold">
                                          <p:stCondLst>
                                            <p:cond delay="0"/>
                                          </p:stCondLst>
                                        </p:cTn>
                                        <p:tgtEl>
                                          <p:spTgt spid="25"/>
                                        </p:tgtEl>
                                        <p:attrNameLst>
                                          <p:attrName>style.visibility</p:attrName>
                                        </p:attrNameLst>
                                      </p:cBhvr>
                                      <p:to>
                                        <p:strVal val="visible"/>
                                      </p:to>
                                    </p:set>
                                    <p:animEffect transition="in" filter="fade">
                                      <p:cBhvr>
                                        <p:cTn id="157" dur="400"/>
                                        <p:tgtEl>
                                          <p:spTgt spid="25"/>
                                        </p:tgtEl>
                                      </p:cBhvr>
                                    </p:animEffect>
                                  </p:childTnLst>
                                </p:cTn>
                              </p:par>
                              <p:par>
                                <p:cTn id="158" presetID="10" presetClass="entr" presetSubtype="0" fill="hold" grpId="0" nodeType="withEffect">
                                  <p:stCondLst>
                                    <p:cond delay="1120"/>
                                  </p:stCondLst>
                                  <p:childTnLst>
                                    <p:set>
                                      <p:cBhvr>
                                        <p:cTn id="159" dur="1" fill="hold">
                                          <p:stCondLst>
                                            <p:cond delay="0"/>
                                          </p:stCondLst>
                                        </p:cTn>
                                        <p:tgtEl>
                                          <p:spTgt spid="27"/>
                                        </p:tgtEl>
                                        <p:attrNameLst>
                                          <p:attrName>style.visibility</p:attrName>
                                        </p:attrNameLst>
                                      </p:cBhvr>
                                      <p:to>
                                        <p:strVal val="visible"/>
                                      </p:to>
                                    </p:set>
                                    <p:animEffect transition="in" filter="fade">
                                      <p:cBhvr>
                                        <p:cTn id="160" dur="400"/>
                                        <p:tgtEl>
                                          <p:spTgt spid="27"/>
                                        </p:tgtEl>
                                      </p:cBhvr>
                                    </p:animEffect>
                                  </p:childTnLst>
                                </p:cTn>
                              </p:par>
                              <p:par>
                                <p:cTn id="161" presetID="10" presetClass="entr" presetSubtype="0" fill="hold" grpId="0" nodeType="withEffect">
                                  <p:stCondLst>
                                    <p:cond delay="1120"/>
                                  </p:stCondLst>
                                  <p:childTnLst>
                                    <p:set>
                                      <p:cBhvr>
                                        <p:cTn id="162" dur="1" fill="hold">
                                          <p:stCondLst>
                                            <p:cond delay="0"/>
                                          </p:stCondLst>
                                        </p:cTn>
                                        <p:tgtEl>
                                          <p:spTgt spid="28"/>
                                        </p:tgtEl>
                                        <p:attrNameLst>
                                          <p:attrName>style.visibility</p:attrName>
                                        </p:attrNameLst>
                                      </p:cBhvr>
                                      <p:to>
                                        <p:strVal val="visible"/>
                                      </p:to>
                                    </p:set>
                                    <p:animEffect transition="in" filter="fade">
                                      <p:cBhvr>
                                        <p:cTn id="163" dur="400"/>
                                        <p:tgtEl>
                                          <p:spTgt spid="28"/>
                                        </p:tgtEl>
                                      </p:cBhvr>
                                    </p:animEffect>
                                  </p:childTnLst>
                                </p:cTn>
                              </p:par>
                              <p:par>
                                <p:cTn id="164" presetID="10" presetClass="entr" presetSubtype="0" fill="hold" grpId="0" nodeType="withEffect">
                                  <p:stCondLst>
                                    <p:cond delay="1120"/>
                                  </p:stCondLst>
                                  <p:childTnLst>
                                    <p:set>
                                      <p:cBhvr>
                                        <p:cTn id="165" dur="1" fill="hold">
                                          <p:stCondLst>
                                            <p:cond delay="0"/>
                                          </p:stCondLst>
                                        </p:cTn>
                                        <p:tgtEl>
                                          <p:spTgt spid="29"/>
                                        </p:tgtEl>
                                        <p:attrNameLst>
                                          <p:attrName>style.visibility</p:attrName>
                                        </p:attrNameLst>
                                      </p:cBhvr>
                                      <p:to>
                                        <p:strVal val="visible"/>
                                      </p:to>
                                    </p:set>
                                    <p:animEffect transition="in" filter="fade">
                                      <p:cBhvr>
                                        <p:cTn id="166" dur="400"/>
                                        <p:tgtEl>
                                          <p:spTgt spid="29"/>
                                        </p:tgtEl>
                                      </p:cBhvr>
                                    </p:animEffect>
                                  </p:childTnLst>
                                </p:cTn>
                              </p:par>
                              <p:par>
                                <p:cTn id="167" presetID="10" presetClass="entr" presetSubtype="0" fill="hold" grpId="0" nodeType="withEffect">
                                  <p:stCondLst>
                                    <p:cond delay="1400"/>
                                  </p:stCondLst>
                                  <p:childTnLst>
                                    <p:set>
                                      <p:cBhvr>
                                        <p:cTn id="168" dur="1" fill="hold">
                                          <p:stCondLst>
                                            <p:cond delay="0"/>
                                          </p:stCondLst>
                                        </p:cTn>
                                        <p:tgtEl>
                                          <p:spTgt spid="22"/>
                                        </p:tgtEl>
                                        <p:attrNameLst>
                                          <p:attrName>style.visibility</p:attrName>
                                        </p:attrNameLst>
                                      </p:cBhvr>
                                      <p:to>
                                        <p:strVal val="visible"/>
                                      </p:to>
                                    </p:set>
                                    <p:animEffect transition="in" filter="fade">
                                      <p:cBhvr>
                                        <p:cTn id="169" dur="400"/>
                                        <p:tgtEl>
                                          <p:spTgt spid="22"/>
                                        </p:tgtEl>
                                      </p:cBhvr>
                                    </p:animEffect>
                                  </p:childTnLst>
                                </p:cTn>
                              </p:par>
                              <p:par>
                                <p:cTn id="170" presetID="10" presetClass="entr" presetSubtype="0" fill="hold" grpId="0" nodeType="withEffect">
                                  <p:stCondLst>
                                    <p:cond delay="1400"/>
                                  </p:stCondLst>
                                  <p:childTnLst>
                                    <p:set>
                                      <p:cBhvr>
                                        <p:cTn id="171" dur="1" fill="hold">
                                          <p:stCondLst>
                                            <p:cond delay="0"/>
                                          </p:stCondLst>
                                        </p:cTn>
                                        <p:tgtEl>
                                          <p:spTgt spid="26"/>
                                        </p:tgtEl>
                                        <p:attrNameLst>
                                          <p:attrName>style.visibility</p:attrName>
                                        </p:attrNameLst>
                                      </p:cBhvr>
                                      <p:to>
                                        <p:strVal val="visible"/>
                                      </p:to>
                                    </p:set>
                                    <p:animEffect transition="in" filter="fade">
                                      <p:cBhvr>
                                        <p:cTn id="172" dur="400"/>
                                        <p:tgtEl>
                                          <p:spTgt spid="26"/>
                                        </p:tgtEl>
                                      </p:cBhvr>
                                    </p:animEffect>
                                  </p:childTnLst>
                                </p:cTn>
                              </p:par>
                              <p:par>
                                <p:cTn id="173" presetID="10" presetClass="entr" presetSubtype="0" fill="hold" grpId="0" nodeType="withEffect">
                                  <p:stCondLst>
                                    <p:cond delay="1400"/>
                                  </p:stCondLst>
                                  <p:childTnLst>
                                    <p:set>
                                      <p:cBhvr>
                                        <p:cTn id="174" dur="1" fill="hold">
                                          <p:stCondLst>
                                            <p:cond delay="0"/>
                                          </p:stCondLst>
                                        </p:cTn>
                                        <p:tgtEl>
                                          <p:spTgt spid="30"/>
                                        </p:tgtEl>
                                        <p:attrNameLst>
                                          <p:attrName>style.visibility</p:attrName>
                                        </p:attrNameLst>
                                      </p:cBhvr>
                                      <p:to>
                                        <p:strVal val="visible"/>
                                      </p:to>
                                    </p:set>
                                    <p:animEffect transition="in" filter="fade">
                                      <p:cBhvr>
                                        <p:cTn id="17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08  ·  ĐO LƯỜNG</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Rút trích đặc trưng hình học khối u</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09 / 20</a:t>
            </a:r>
            <a:endParaRPr lang="en-US" sz="800" dirty="0"/>
          </a:p>
        </p:txBody>
      </p:sp>
      <p:sp>
        <p:nvSpPr>
          <p:cNvPr id="6" name="Shape 4"/>
          <p:cNvSpPr/>
          <p:nvPr/>
        </p:nvSpPr>
        <p:spPr>
          <a:xfrm>
            <a:off x="502920" y="1243584"/>
            <a:ext cx="3968496" cy="1444752"/>
          </a:xfrm>
          <a:prstGeom prst="roundRect">
            <a:avLst>
              <a:gd name="adj" fmla="val 3797"/>
            </a:avLst>
          </a:prstGeom>
          <a:solidFill>
            <a:srgbClr val="FFFFFF"/>
          </a:solidFill>
          <a:ln w="9525">
            <a:solidFill>
              <a:srgbClr val="D1E3E8"/>
            </a:solidFill>
            <a:prstDash val="solid"/>
          </a:ln>
          <a:effectLst>
            <a:outerShdw sx="100000" sy="100000" kx="0" ky="0" algn="bl" rotWithShape="0" blurRad="9.998313280375211e+106" dist="4.9991566401876055e+106" dir="1.535235553616204e+126">
              <a:srgbClr val="0B2B3C">
                <a:alpha val="9.999999999999997e+128"/>
              </a:srgbClr>
            </a:outerShdw>
          </a:effectLst>
        </p:spPr>
      </p:sp>
      <p:sp>
        <p:nvSpPr>
          <p:cNvPr id="7" name="Text 5"/>
          <p:cNvSpPr/>
          <p:nvPr/>
        </p:nvSpPr>
        <p:spPr>
          <a:xfrm>
            <a:off x="704088" y="1353312"/>
            <a:ext cx="3566160" cy="201168"/>
          </a:xfrm>
          <a:prstGeom prst="rect">
            <a:avLst/>
          </a:prstGeom>
          <a:noFill/>
          <a:ln/>
        </p:spPr>
        <p:txBody>
          <a:bodyPr wrap="square" lIns="0" tIns="0" rIns="0" bIns="0" rtlCol="0" anchor="ctr"/>
          <a:lstStyle/>
          <a:p>
            <a:pPr indent="0" marL="0">
              <a:buNone/>
            </a:pPr>
            <a:r>
              <a:rPr lang="en-US" sz="850" spc="110" kern="0" dirty="0">
                <a:solidFill>
                  <a:srgbClr val="028090"/>
                </a:solidFill>
                <a:latin typeface="Segoe UI Semibold" pitchFamily="34" charset="0"/>
                <a:ea typeface="Segoe UI Semibold" pitchFamily="34" charset="-122"/>
                <a:cs typeface="Segoe UI Semibold" pitchFamily="34" charset="-120"/>
              </a:rPr>
              <a:t>TỶ LỆ CHIẾM DỤNG MÔ NÃO</a:t>
            </a:r>
            <a:endParaRPr lang="en-US" sz="850" dirty="0"/>
          </a:p>
        </p:txBody>
      </p:sp>
      <p:sp>
        <p:nvSpPr>
          <p:cNvPr id="8" name="Text 6"/>
          <p:cNvSpPr/>
          <p:nvPr/>
        </p:nvSpPr>
        <p:spPr>
          <a:xfrm>
            <a:off x="740664" y="1609344"/>
            <a:ext cx="868680" cy="603504"/>
          </a:xfrm>
          <a:prstGeom prst="rect">
            <a:avLst/>
          </a:prstGeom>
          <a:noFill/>
          <a:ln/>
        </p:spPr>
        <p:txBody>
          <a:bodyPr wrap="square" lIns="0" tIns="0" rIns="0" bIns="0" rtlCol="0" anchor="ctr"/>
          <a:lstStyle/>
          <a:p>
            <a:pPr algn="r" indent="0" marL="0">
              <a:buNone/>
            </a:pPr>
            <a:r>
              <a:rPr lang="en-US" sz="1300" i="1" dirty="0">
                <a:solidFill>
                  <a:srgbClr val="21295C"/>
                </a:solidFill>
                <a:latin typeface="Segoe UI Semibold" pitchFamily="34" charset="0"/>
                <a:ea typeface="Segoe UI Semibold" pitchFamily="34" charset="-122"/>
                <a:cs typeface="Segoe UI Semibold" pitchFamily="34" charset="-120"/>
              </a:rPr>
              <a:t>Tỷ lệ =</a:t>
            </a:r>
            <a:endParaRPr lang="en-US" sz="1300" dirty="0"/>
          </a:p>
        </p:txBody>
      </p:sp>
      <p:sp>
        <p:nvSpPr>
          <p:cNvPr id="9" name="Text 7"/>
          <p:cNvSpPr/>
          <p:nvPr/>
        </p:nvSpPr>
        <p:spPr>
          <a:xfrm>
            <a:off x="1700784" y="1627632"/>
            <a:ext cx="1965960"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S</a:t>
            </a:r>
            <a:pPr algn="ctr" indent="0" marL="0">
              <a:buNone/>
            </a:pPr>
            <a:r>
              <a:rPr lang="en-US" sz="1300" i="1" baseline="-40000" dirty="0">
                <a:solidFill>
                  <a:srgbClr val="1E293B"/>
                </a:solidFill>
                <a:latin typeface="Segoe UI" pitchFamily="34" charset="0"/>
                <a:ea typeface="Segoe UI" pitchFamily="34" charset="-122"/>
                <a:cs typeface="Segoe UI" pitchFamily="34" charset="-120"/>
              </a:rPr>
              <a:t>tumor</a:t>
            </a:r>
            <a:endParaRPr lang="en-US" sz="1300" dirty="0"/>
          </a:p>
        </p:txBody>
      </p:sp>
      <p:sp>
        <p:nvSpPr>
          <p:cNvPr id="10" name="Shape 8"/>
          <p:cNvSpPr/>
          <p:nvPr/>
        </p:nvSpPr>
        <p:spPr>
          <a:xfrm>
            <a:off x="1700784" y="1911096"/>
            <a:ext cx="1965960" cy="0"/>
          </a:xfrm>
          <a:prstGeom prst="line">
            <a:avLst/>
          </a:prstGeom>
          <a:noFill/>
          <a:ln w="15875">
            <a:solidFill>
              <a:srgbClr val="065A82"/>
            </a:solidFill>
            <a:prstDash val="solid"/>
          </a:ln>
        </p:spPr>
      </p:sp>
      <p:sp>
        <p:nvSpPr>
          <p:cNvPr id="11" name="Text 9"/>
          <p:cNvSpPr/>
          <p:nvPr/>
        </p:nvSpPr>
        <p:spPr>
          <a:xfrm>
            <a:off x="1700784" y="1929384"/>
            <a:ext cx="1965960"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S</a:t>
            </a:r>
            <a:pPr algn="ctr" indent="0" marL="0">
              <a:buNone/>
            </a:pPr>
            <a:r>
              <a:rPr lang="en-US" sz="1300" i="1" baseline="-40000" dirty="0">
                <a:solidFill>
                  <a:srgbClr val="1E293B"/>
                </a:solidFill>
                <a:latin typeface="Segoe UI" pitchFamily="34" charset="0"/>
                <a:ea typeface="Segoe UI" pitchFamily="34" charset="-122"/>
                <a:cs typeface="Segoe UI" pitchFamily="34" charset="-120"/>
              </a:rPr>
              <a:t>brain</a:t>
            </a:r>
            <a:endParaRPr lang="en-US" sz="1300" dirty="0"/>
          </a:p>
        </p:txBody>
      </p:sp>
      <p:sp>
        <p:nvSpPr>
          <p:cNvPr id="12" name="Text 10"/>
          <p:cNvSpPr/>
          <p:nvPr/>
        </p:nvSpPr>
        <p:spPr>
          <a:xfrm>
            <a:off x="3703320" y="1609344"/>
            <a:ext cx="566928" cy="603504"/>
          </a:xfrm>
          <a:prstGeom prst="rect">
            <a:avLst/>
          </a:prstGeom>
          <a:noFill/>
          <a:ln/>
        </p:spPr>
        <p:txBody>
          <a:bodyPr wrap="square" lIns="0" tIns="0" rIns="0" bIns="0" rtlCol="0" anchor="ctr"/>
          <a:lstStyle/>
          <a:p>
            <a:pPr algn="l" indent="0" marL="0">
              <a:buNone/>
            </a:pPr>
            <a:r>
              <a:rPr lang="en-US" sz="1050" i="1" dirty="0">
                <a:solidFill>
                  <a:srgbClr val="21295C"/>
                </a:solidFill>
                <a:latin typeface="Segoe UI" pitchFamily="34" charset="0"/>
                <a:ea typeface="Segoe UI" pitchFamily="34" charset="-122"/>
                <a:cs typeface="Segoe UI" pitchFamily="34" charset="-120"/>
              </a:rPr>
              <a:t>× 100%</a:t>
            </a:r>
            <a:endParaRPr lang="en-US" sz="1050" dirty="0"/>
          </a:p>
        </p:txBody>
      </p:sp>
      <p:sp>
        <p:nvSpPr>
          <p:cNvPr id="13" name="Text 11"/>
          <p:cNvSpPr/>
          <p:nvPr/>
        </p:nvSpPr>
        <p:spPr>
          <a:xfrm>
            <a:off x="704088" y="2267712"/>
            <a:ext cx="3566160" cy="347472"/>
          </a:xfrm>
          <a:prstGeom prst="rect">
            <a:avLst/>
          </a:prstGeom>
          <a:noFill/>
          <a:ln/>
        </p:spPr>
        <p:txBody>
          <a:bodyPr wrap="square" lIns="0" tIns="0" rIns="0" bIns="0" rtlCol="0" anchor="t"/>
          <a:lstStyle/>
          <a:p>
            <a:pPr indent="0" marL="0">
              <a:lnSpc>
                <a:spcPct val="112000"/>
              </a:lnSpc>
              <a:buNone/>
            </a:pPr>
            <a:r>
              <a:rPr lang="en-US" sz="850" dirty="0">
                <a:solidFill>
                  <a:srgbClr val="5F7186"/>
                </a:solidFill>
                <a:latin typeface="Segoe UI" pitchFamily="34" charset="0"/>
                <a:ea typeface="Segoe UI" pitchFamily="34" charset="-122"/>
                <a:cs typeface="Segoe UI" pitchFamily="34" charset="-120"/>
              </a:rPr>
              <a:t>Chỉ số định lượng mức độ chiếm dụng mô não, theo dõi tiến triển giữa các lần chụp.</a:t>
            </a:r>
            <a:endParaRPr lang="en-US" sz="850" dirty="0"/>
          </a:p>
        </p:txBody>
      </p:sp>
      <p:sp>
        <p:nvSpPr>
          <p:cNvPr id="14" name="Shape 12"/>
          <p:cNvSpPr/>
          <p:nvPr/>
        </p:nvSpPr>
        <p:spPr>
          <a:xfrm>
            <a:off x="4672584" y="1243584"/>
            <a:ext cx="3968496" cy="1444752"/>
          </a:xfrm>
          <a:prstGeom prst="roundRect">
            <a:avLst>
              <a:gd name="adj" fmla="val 3797"/>
            </a:avLst>
          </a:prstGeom>
          <a:solidFill>
            <a:srgbClr val="FFFFFF"/>
          </a:solidFill>
          <a:ln w="9525">
            <a:solidFill>
              <a:srgbClr val="D1E3E8"/>
            </a:solidFill>
            <a:prstDash val="solid"/>
          </a:ln>
          <a:effectLst>
            <a:outerShdw sx="100000" sy="100000" kx="0" ky="0" algn="bl" rotWithShape="0" blurRad="1.2697857866076517e+111" dist="6.348928933038258e+110" dir="9.211413321697224e+130">
              <a:srgbClr val="0B2B3C">
                <a:alpha val="9.999999999999997e+133"/>
              </a:srgbClr>
            </a:outerShdw>
          </a:effectLst>
        </p:spPr>
      </p:sp>
      <p:sp>
        <p:nvSpPr>
          <p:cNvPr id="15" name="Text 13"/>
          <p:cNvSpPr/>
          <p:nvPr/>
        </p:nvSpPr>
        <p:spPr>
          <a:xfrm>
            <a:off x="4873752" y="1353312"/>
            <a:ext cx="3566160" cy="201168"/>
          </a:xfrm>
          <a:prstGeom prst="rect">
            <a:avLst/>
          </a:prstGeom>
          <a:noFill/>
          <a:ln/>
        </p:spPr>
        <p:txBody>
          <a:bodyPr wrap="square" lIns="0" tIns="0" rIns="0" bIns="0" rtlCol="0" anchor="ctr"/>
          <a:lstStyle/>
          <a:p>
            <a:pPr indent="0" marL="0">
              <a:buNone/>
            </a:pPr>
            <a:r>
              <a:rPr lang="en-US" sz="850" spc="110" kern="0" dirty="0">
                <a:solidFill>
                  <a:srgbClr val="028090"/>
                </a:solidFill>
                <a:latin typeface="Segoe UI Semibold" pitchFamily="34" charset="0"/>
                <a:ea typeface="Segoe UI Semibold" pitchFamily="34" charset="-122"/>
                <a:cs typeface="Segoe UI Semibold" pitchFamily="34" charset="-120"/>
              </a:rPr>
              <a:t>ĐỘ TRÒN (CIRCULARITY)</a:t>
            </a:r>
            <a:endParaRPr lang="en-US" sz="850" dirty="0"/>
          </a:p>
        </p:txBody>
      </p:sp>
      <p:sp>
        <p:nvSpPr>
          <p:cNvPr id="16" name="Text 14"/>
          <p:cNvSpPr/>
          <p:nvPr/>
        </p:nvSpPr>
        <p:spPr>
          <a:xfrm>
            <a:off x="4910328" y="1609344"/>
            <a:ext cx="548640" cy="603504"/>
          </a:xfrm>
          <a:prstGeom prst="rect">
            <a:avLst/>
          </a:prstGeom>
          <a:noFill/>
          <a:ln/>
        </p:spPr>
        <p:txBody>
          <a:bodyPr wrap="square" lIns="0" tIns="0" rIns="0" bIns="0" rtlCol="0" anchor="ctr"/>
          <a:lstStyle/>
          <a:p>
            <a:pPr algn="r" indent="0" marL="0">
              <a:buNone/>
            </a:pPr>
            <a:r>
              <a:rPr lang="en-US" sz="1300" i="1" dirty="0">
                <a:solidFill>
                  <a:srgbClr val="21295C"/>
                </a:solidFill>
                <a:latin typeface="Segoe UI Semibold" pitchFamily="34" charset="0"/>
                <a:ea typeface="Segoe UI Semibold" pitchFamily="34" charset="-122"/>
                <a:cs typeface="Segoe UI Semibold" pitchFamily="34" charset="-120"/>
              </a:rPr>
              <a:t>C =</a:t>
            </a:r>
            <a:endParaRPr lang="en-US" sz="1300" dirty="0"/>
          </a:p>
        </p:txBody>
      </p:sp>
      <p:sp>
        <p:nvSpPr>
          <p:cNvPr id="17" name="Text 15"/>
          <p:cNvSpPr/>
          <p:nvPr/>
        </p:nvSpPr>
        <p:spPr>
          <a:xfrm>
            <a:off x="5550408" y="1627632"/>
            <a:ext cx="2852928"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4π · A</a:t>
            </a:r>
            <a:endParaRPr lang="en-US" sz="1300" dirty="0"/>
          </a:p>
        </p:txBody>
      </p:sp>
      <p:sp>
        <p:nvSpPr>
          <p:cNvPr id="18" name="Shape 16"/>
          <p:cNvSpPr/>
          <p:nvPr/>
        </p:nvSpPr>
        <p:spPr>
          <a:xfrm>
            <a:off x="5550408" y="1911096"/>
            <a:ext cx="2852928" cy="0"/>
          </a:xfrm>
          <a:prstGeom prst="line">
            <a:avLst/>
          </a:prstGeom>
          <a:noFill/>
          <a:ln w="15875">
            <a:solidFill>
              <a:srgbClr val="065A82"/>
            </a:solidFill>
            <a:prstDash val="solid"/>
          </a:ln>
        </p:spPr>
      </p:sp>
      <p:sp>
        <p:nvSpPr>
          <p:cNvPr id="19" name="Text 17"/>
          <p:cNvSpPr/>
          <p:nvPr/>
        </p:nvSpPr>
        <p:spPr>
          <a:xfrm>
            <a:off x="5550408" y="1929384"/>
            <a:ext cx="2852928"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P²</a:t>
            </a:r>
            <a:endParaRPr lang="en-US" sz="1300" dirty="0"/>
          </a:p>
        </p:txBody>
      </p:sp>
      <p:sp>
        <p:nvSpPr>
          <p:cNvPr id="20" name="Text 18"/>
          <p:cNvSpPr/>
          <p:nvPr/>
        </p:nvSpPr>
        <p:spPr>
          <a:xfrm>
            <a:off x="4873752" y="2267712"/>
            <a:ext cx="3566160" cy="347472"/>
          </a:xfrm>
          <a:prstGeom prst="rect">
            <a:avLst/>
          </a:prstGeom>
          <a:noFill/>
          <a:ln/>
        </p:spPr>
        <p:txBody>
          <a:bodyPr wrap="square" lIns="0" tIns="0" rIns="0" bIns="0" rtlCol="0" anchor="t"/>
          <a:lstStyle/>
          <a:p>
            <a:pPr indent="0" marL="0">
              <a:lnSpc>
                <a:spcPct val="112000"/>
              </a:lnSpc>
              <a:buNone/>
            </a:pPr>
            <a:r>
              <a:rPr lang="en-US" sz="850" dirty="0">
                <a:solidFill>
                  <a:srgbClr val="5F7186"/>
                </a:solidFill>
                <a:latin typeface="Segoe UI" pitchFamily="34" charset="0"/>
                <a:ea typeface="Segoe UI" pitchFamily="34" charset="-122"/>
                <a:cs typeface="Segoe UI" pitchFamily="34" charset="-120"/>
              </a:rPr>
              <a:t>A là diện tích, P là chu vi contour; C tiến về 1 khi bờ u tròn đều.</a:t>
            </a:r>
            <a:endParaRPr lang="en-US" sz="850" dirty="0"/>
          </a:p>
        </p:txBody>
      </p:sp>
      <p:sp>
        <p:nvSpPr>
          <p:cNvPr id="21" name="Shape 19"/>
          <p:cNvSpPr/>
          <p:nvPr/>
        </p:nvSpPr>
        <p:spPr>
          <a:xfrm>
            <a:off x="502920" y="2798064"/>
            <a:ext cx="8138160" cy="841248"/>
          </a:xfrm>
          <a:prstGeom prst="roundRect">
            <a:avLst>
              <a:gd name="adj" fmla="val 6522"/>
            </a:avLst>
          </a:prstGeom>
          <a:solidFill>
            <a:srgbClr val="FFFFFF"/>
          </a:solidFill>
          <a:ln w="9525">
            <a:solidFill>
              <a:srgbClr val="D1E3E8"/>
            </a:solidFill>
            <a:prstDash val="solid"/>
          </a:ln>
          <a:effectLst>
            <a:outerShdw sx="100000" sy="100000" kx="0" ky="0" algn="bl" rotWithShape="0" blurRad="1.6126279489917177e+115" dist="8.063139744958588e+114" dir="5.526847993018334e+135">
              <a:srgbClr val="0B2B3C">
                <a:alpha val="9.999999999999998e+138"/>
              </a:srgbClr>
            </a:outerShdw>
          </a:effectLst>
        </p:spPr>
      </p:sp>
      <p:sp>
        <p:nvSpPr>
          <p:cNvPr id="22" name="Text 20"/>
          <p:cNvSpPr/>
          <p:nvPr/>
        </p:nvSpPr>
        <p:spPr>
          <a:xfrm>
            <a:off x="722376" y="2907792"/>
            <a:ext cx="2743200" cy="182880"/>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DIỆN TÍCH KHỐI U</a:t>
            </a:r>
            <a:endParaRPr lang="en-US" sz="850" dirty="0"/>
          </a:p>
        </p:txBody>
      </p:sp>
      <p:sp>
        <p:nvSpPr>
          <p:cNvPr id="23" name="Text 21"/>
          <p:cNvSpPr/>
          <p:nvPr/>
        </p:nvSpPr>
        <p:spPr>
          <a:xfrm>
            <a:off x="722376" y="3127248"/>
            <a:ext cx="2926080" cy="365760"/>
          </a:xfrm>
          <a:prstGeom prst="rect">
            <a:avLst/>
          </a:prstGeom>
          <a:noFill/>
          <a:ln/>
        </p:spPr>
        <p:txBody>
          <a:bodyPr wrap="square" lIns="0" tIns="0" rIns="0" bIns="0" rtlCol="0" anchor="ctr"/>
          <a:lstStyle/>
          <a:p>
            <a:pPr algn="l" indent="0" marL="0">
              <a:buNone/>
            </a:pPr>
            <a:r>
              <a:rPr lang="en-US" sz="1400" i="1" dirty="0">
                <a:solidFill>
                  <a:srgbClr val="21295C"/>
                </a:solidFill>
                <a:latin typeface="Segoe UI" pitchFamily="34" charset="0"/>
                <a:ea typeface="Segoe UI" pitchFamily="34" charset="-122"/>
                <a:cs typeface="Segoe UI" pitchFamily="34" charset="-120"/>
              </a:rPr>
              <a:t>S</a:t>
            </a:r>
            <a:pPr algn="l" indent="0" marL="0">
              <a:buNone/>
            </a:pPr>
            <a:r>
              <a:rPr lang="en-US" sz="1400" i="1" baseline="-40000" dirty="0">
                <a:solidFill>
                  <a:srgbClr val="21295C"/>
                </a:solidFill>
                <a:latin typeface="Segoe UI" pitchFamily="34" charset="0"/>
                <a:ea typeface="Segoe UI" pitchFamily="34" charset="-122"/>
                <a:cs typeface="Segoe UI" pitchFamily="34" charset="-120"/>
              </a:rPr>
              <a:t>tumor</a:t>
            </a:r>
            <a:pPr algn="l" indent="0" marL="0">
              <a:buNone/>
            </a:pPr>
            <a:r>
              <a:rPr lang="en-US" sz="1400" i="1" dirty="0">
                <a:solidFill>
                  <a:srgbClr val="21295C"/>
                </a:solidFill>
                <a:latin typeface="Segoe UI" pitchFamily="34" charset="0"/>
                <a:ea typeface="Segoe UI" pitchFamily="34" charset="-122"/>
                <a:cs typeface="Segoe UI" pitchFamily="34" charset="-120"/>
              </a:rPr>
              <a:t> = Σ P(x, y)</a:t>
            </a:r>
            <a:endParaRPr lang="en-US" sz="1400" dirty="0"/>
          </a:p>
        </p:txBody>
      </p:sp>
      <p:sp>
        <p:nvSpPr>
          <p:cNvPr id="24" name="Text 22"/>
          <p:cNvSpPr/>
          <p:nvPr/>
        </p:nvSpPr>
        <p:spPr>
          <a:xfrm>
            <a:off x="3886200" y="3017520"/>
            <a:ext cx="4480560" cy="457200"/>
          </a:xfrm>
          <a:prstGeom prst="rect">
            <a:avLst/>
          </a:prstGeom>
          <a:noFill/>
          <a:ln/>
        </p:spPr>
        <p:txBody>
          <a:bodyPr wrap="square" lIns="0" tIns="0" rIns="0" bIns="0" rtlCol="0" anchor="ctr"/>
          <a:lstStyle/>
          <a:p>
            <a:pPr indent="0" marL="0">
              <a:lnSpc>
                <a:spcPct val="115000"/>
              </a:lnSpc>
              <a:buNone/>
            </a:pPr>
            <a:r>
              <a:rPr lang="en-US" sz="900" dirty="0">
                <a:solidFill>
                  <a:srgbClr val="5F7186"/>
                </a:solidFill>
                <a:latin typeface="Segoe UI" pitchFamily="34" charset="0"/>
                <a:ea typeface="Segoe UI" pitchFamily="34" charset="-122"/>
                <a:cs typeface="Segoe UI" pitchFamily="34" charset="-120"/>
              </a:rPr>
              <a:t>Đếm pixel dương tính của mặt nạ u; quy đổi mm² theo pixel spacing của thiết bị chụp.</a:t>
            </a:r>
            <a:endParaRPr lang="en-US" sz="900" dirty="0"/>
          </a:p>
        </p:txBody>
      </p:sp>
      <p:sp>
        <p:nvSpPr>
          <p:cNvPr id="25" name="Text 23"/>
          <p:cNvSpPr/>
          <p:nvPr/>
        </p:nvSpPr>
        <p:spPr>
          <a:xfrm>
            <a:off x="502920" y="3730752"/>
            <a:ext cx="2743200" cy="182880"/>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Ý NGHĨA CHẨN ĐOÁN</a:t>
            </a:r>
            <a:endParaRPr lang="en-US" sz="850" dirty="0"/>
          </a:p>
        </p:txBody>
      </p:sp>
      <p:sp>
        <p:nvSpPr>
          <p:cNvPr id="26" name="Shape 24"/>
          <p:cNvSpPr/>
          <p:nvPr/>
        </p:nvSpPr>
        <p:spPr>
          <a:xfrm>
            <a:off x="502920" y="3950208"/>
            <a:ext cx="2615184" cy="603504"/>
          </a:xfrm>
          <a:prstGeom prst="roundRect">
            <a:avLst>
              <a:gd name="adj" fmla="val 9091"/>
            </a:avLst>
          </a:prstGeom>
          <a:solidFill>
            <a:srgbClr val="F0F7F9"/>
          </a:solidFill>
          <a:ln w="9525">
            <a:solidFill>
              <a:srgbClr val="D1E3E8"/>
            </a:solidFill>
            <a:prstDash val="solid"/>
          </a:ln>
        </p:spPr>
      </p:sp>
      <p:sp>
        <p:nvSpPr>
          <p:cNvPr id="27" name="Text 25"/>
          <p:cNvSpPr/>
          <p:nvPr/>
        </p:nvSpPr>
        <p:spPr>
          <a:xfrm>
            <a:off x="667512" y="4023360"/>
            <a:ext cx="1005840" cy="201168"/>
          </a:xfrm>
          <a:prstGeom prst="rect">
            <a:avLst/>
          </a:prstGeom>
          <a:noFill/>
          <a:ln/>
        </p:spPr>
        <p:txBody>
          <a:bodyPr wrap="square" lIns="0" tIns="0" rIns="0" bIns="0" rtlCol="0" anchor="ctr"/>
          <a:lstStyle/>
          <a:p>
            <a:pPr indent="0" marL="0">
              <a:buNone/>
            </a:pPr>
            <a:r>
              <a:rPr lang="en-US" sz="1000" i="1" dirty="0">
                <a:solidFill>
                  <a:srgbClr val="065A82"/>
                </a:solidFill>
                <a:latin typeface="Segoe UI Semibold" pitchFamily="34" charset="0"/>
                <a:ea typeface="Segoe UI Semibold" pitchFamily="34" charset="-122"/>
                <a:cs typeface="Segoe UI Semibold" pitchFamily="34" charset="-120"/>
              </a:rPr>
              <a:t>C ≈ 1</a:t>
            </a:r>
            <a:endParaRPr lang="en-US" sz="1000" dirty="0"/>
          </a:p>
        </p:txBody>
      </p:sp>
      <p:sp>
        <p:nvSpPr>
          <p:cNvPr id="28" name="Text 26"/>
          <p:cNvSpPr/>
          <p:nvPr/>
        </p:nvSpPr>
        <p:spPr>
          <a:xfrm>
            <a:off x="667512" y="4224528"/>
            <a:ext cx="2286000" cy="274320"/>
          </a:xfrm>
          <a:prstGeom prst="rect">
            <a:avLst/>
          </a:prstGeom>
          <a:noFill/>
          <a:ln/>
        </p:spPr>
        <p:txBody>
          <a:bodyPr wrap="square" lIns="0" tIns="0" rIns="0" bIns="0" rtlCol="0" anchor="t"/>
          <a:lstStyle/>
          <a:p>
            <a:pPr indent="0" marL="0">
              <a:lnSpc>
                <a:spcPct val="105000"/>
              </a:lnSpc>
              <a:buNone/>
            </a:pPr>
            <a:r>
              <a:rPr lang="en-US" sz="800" dirty="0">
                <a:solidFill>
                  <a:srgbClr val="5F7186"/>
                </a:solidFill>
                <a:latin typeface="Segoe UI" pitchFamily="34" charset="0"/>
                <a:ea typeface="Segoe UI" pitchFamily="34" charset="-122"/>
                <a:cs typeface="Segoe UI" pitchFamily="34" charset="-120"/>
              </a:rPr>
              <a:t>Bờ u tròn đều, gợi ý u lành tính có vỏ bọc (Meningioma).</a:t>
            </a:r>
            <a:endParaRPr lang="en-US" sz="800" dirty="0"/>
          </a:p>
        </p:txBody>
      </p:sp>
      <p:sp>
        <p:nvSpPr>
          <p:cNvPr id="29" name="Shape 27"/>
          <p:cNvSpPr/>
          <p:nvPr/>
        </p:nvSpPr>
        <p:spPr>
          <a:xfrm>
            <a:off x="3300984" y="3950208"/>
            <a:ext cx="2615184" cy="603504"/>
          </a:xfrm>
          <a:prstGeom prst="roundRect">
            <a:avLst>
              <a:gd name="adj" fmla="val 9091"/>
            </a:avLst>
          </a:prstGeom>
          <a:solidFill>
            <a:srgbClr val="F0F7F9"/>
          </a:solidFill>
          <a:ln w="9525">
            <a:solidFill>
              <a:srgbClr val="D1E3E8"/>
            </a:solidFill>
            <a:prstDash val="solid"/>
          </a:ln>
        </p:spPr>
      </p:sp>
      <p:sp>
        <p:nvSpPr>
          <p:cNvPr id="30" name="Text 28"/>
          <p:cNvSpPr/>
          <p:nvPr/>
        </p:nvSpPr>
        <p:spPr>
          <a:xfrm>
            <a:off x="3465576" y="4023360"/>
            <a:ext cx="1005840" cy="201168"/>
          </a:xfrm>
          <a:prstGeom prst="rect">
            <a:avLst/>
          </a:prstGeom>
          <a:noFill/>
          <a:ln/>
        </p:spPr>
        <p:txBody>
          <a:bodyPr wrap="square" lIns="0" tIns="0" rIns="0" bIns="0" rtlCol="0" anchor="ctr"/>
          <a:lstStyle/>
          <a:p>
            <a:pPr indent="0" marL="0">
              <a:buNone/>
            </a:pPr>
            <a:r>
              <a:rPr lang="en-US" sz="1000" i="1" dirty="0">
                <a:solidFill>
                  <a:srgbClr val="B45309"/>
                </a:solidFill>
                <a:latin typeface="Segoe UI Semibold" pitchFamily="34" charset="0"/>
                <a:ea typeface="Segoe UI Semibold" pitchFamily="34" charset="-122"/>
                <a:cs typeface="Segoe UI Semibold" pitchFamily="34" charset="-120"/>
              </a:rPr>
              <a:t>C ≪ 1</a:t>
            </a:r>
            <a:endParaRPr lang="en-US" sz="1000" dirty="0"/>
          </a:p>
        </p:txBody>
      </p:sp>
      <p:sp>
        <p:nvSpPr>
          <p:cNvPr id="31" name="Text 29"/>
          <p:cNvSpPr/>
          <p:nvPr/>
        </p:nvSpPr>
        <p:spPr>
          <a:xfrm>
            <a:off x="3465576" y="4224528"/>
            <a:ext cx="2286000" cy="274320"/>
          </a:xfrm>
          <a:prstGeom prst="rect">
            <a:avLst/>
          </a:prstGeom>
          <a:noFill/>
          <a:ln/>
        </p:spPr>
        <p:txBody>
          <a:bodyPr wrap="square" lIns="0" tIns="0" rIns="0" bIns="0" rtlCol="0" anchor="t"/>
          <a:lstStyle/>
          <a:p>
            <a:pPr indent="0" marL="0">
              <a:lnSpc>
                <a:spcPct val="105000"/>
              </a:lnSpc>
              <a:buNone/>
            </a:pPr>
            <a:r>
              <a:rPr lang="en-US" sz="800" dirty="0">
                <a:solidFill>
                  <a:srgbClr val="5F7186"/>
                </a:solidFill>
                <a:latin typeface="Segoe UI" pitchFamily="34" charset="0"/>
                <a:ea typeface="Segoe UI" pitchFamily="34" charset="-122"/>
                <a:cs typeface="Segoe UI" pitchFamily="34" charset="-120"/>
              </a:rPr>
              <a:t>Bờ gồ ghề, xâm lấn mô xung quanh, cảnh báo ác tính (Glioma).</a:t>
            </a:r>
            <a:endParaRPr lang="en-US" sz="800" dirty="0"/>
          </a:p>
        </p:txBody>
      </p:sp>
      <p:sp>
        <p:nvSpPr>
          <p:cNvPr id="32" name="Shape 30"/>
          <p:cNvSpPr/>
          <p:nvPr/>
        </p:nvSpPr>
        <p:spPr>
          <a:xfrm>
            <a:off x="6099048" y="3950208"/>
            <a:ext cx="2615184" cy="603504"/>
          </a:xfrm>
          <a:prstGeom prst="roundRect">
            <a:avLst>
              <a:gd name="adj" fmla="val 9091"/>
            </a:avLst>
          </a:prstGeom>
          <a:solidFill>
            <a:srgbClr val="F0F7F9"/>
          </a:solidFill>
          <a:ln w="9525">
            <a:solidFill>
              <a:srgbClr val="D1E3E8"/>
            </a:solidFill>
            <a:prstDash val="solid"/>
          </a:ln>
        </p:spPr>
      </p:sp>
      <p:sp>
        <p:nvSpPr>
          <p:cNvPr id="33" name="Text 31"/>
          <p:cNvSpPr/>
          <p:nvPr/>
        </p:nvSpPr>
        <p:spPr>
          <a:xfrm>
            <a:off x="6263640" y="4023360"/>
            <a:ext cx="1005840" cy="201168"/>
          </a:xfrm>
          <a:prstGeom prst="rect">
            <a:avLst/>
          </a:prstGeom>
          <a:noFill/>
          <a:ln/>
        </p:spPr>
        <p:txBody>
          <a:bodyPr wrap="square" lIns="0" tIns="0" rIns="0" bIns="0" rtlCol="0" anchor="ctr"/>
          <a:lstStyle/>
          <a:p>
            <a:pPr indent="0" marL="0">
              <a:buNone/>
            </a:pPr>
            <a:r>
              <a:rPr lang="en-US" sz="1000" i="1" dirty="0">
                <a:solidFill>
                  <a:srgbClr val="065A82"/>
                </a:solidFill>
                <a:latin typeface="Segoe UI Semibold" pitchFamily="34" charset="0"/>
                <a:ea typeface="Segoe UI Semibold" pitchFamily="34" charset="-122"/>
                <a:cs typeface="Segoe UI Semibold" pitchFamily="34" charset="-120"/>
              </a:rPr>
              <a:t>Tỷ lệ</a:t>
            </a:r>
            <a:endParaRPr lang="en-US" sz="1000" dirty="0"/>
          </a:p>
        </p:txBody>
      </p:sp>
      <p:sp>
        <p:nvSpPr>
          <p:cNvPr id="34" name="Text 32"/>
          <p:cNvSpPr/>
          <p:nvPr/>
        </p:nvSpPr>
        <p:spPr>
          <a:xfrm>
            <a:off x="6263640" y="4224528"/>
            <a:ext cx="2286000" cy="274320"/>
          </a:xfrm>
          <a:prstGeom prst="rect">
            <a:avLst/>
          </a:prstGeom>
          <a:noFill/>
          <a:ln/>
        </p:spPr>
        <p:txBody>
          <a:bodyPr wrap="square" lIns="0" tIns="0" rIns="0" bIns="0" rtlCol="0" anchor="t"/>
          <a:lstStyle/>
          <a:p>
            <a:pPr indent="0" marL="0">
              <a:lnSpc>
                <a:spcPct val="105000"/>
              </a:lnSpc>
              <a:buNone/>
            </a:pPr>
            <a:r>
              <a:rPr lang="en-US" sz="800" dirty="0">
                <a:solidFill>
                  <a:srgbClr val="5F7186"/>
                </a:solidFill>
                <a:latin typeface="Segoe UI" pitchFamily="34" charset="0"/>
                <a:ea typeface="Segoe UI" pitchFamily="34" charset="-122"/>
                <a:cs typeface="Segoe UI" pitchFamily="34" charset="-120"/>
              </a:rPr>
              <a:t>Mức chiếm dụng mô não theo từng lát cắt của bệnh nhân.</a:t>
            </a:r>
            <a:endParaRPr lang="en-US" sz="8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4"/>
                                        </p:tgtEl>
                                        <p:attrNameLst>
                                          <p:attrName>style.visibility</p:attrName>
                                        </p:attrNameLst>
                                      </p:cBhvr>
                                      <p:to>
                                        <p:strVal val="visible"/>
                                      </p:to>
                                    </p:set>
                                    <p:animEffect transition="in" filter="fade">
                                      <p:cBhvr>
                                        <p:cTn id="109" dur="400"/>
                                        <p:tgtEl>
                                          <p:spTgt spid="1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5"/>
                                        </p:tgtEl>
                                        <p:attrNameLst>
                                          <p:attrName>style.visibility</p:attrName>
                                        </p:attrNameLst>
                                      </p:cBhvr>
                                      <p:to>
                                        <p:strVal val="visible"/>
                                      </p:to>
                                    </p:set>
                                    <p:animEffect transition="in" filter="fade">
                                      <p:cBhvr>
                                        <p:cTn id="112" dur="400"/>
                                        <p:tgtEl>
                                          <p:spTgt spid="15"/>
                                        </p:tgtEl>
                                      </p:cBhvr>
                                    </p:animEffect>
                                  </p:childTnLst>
                                </p:cTn>
                              </p:par>
                              <p:par>
                                <p:cTn id="113" presetID="10" presetClass="entr" presetSubtype="0" fill="hold" grpId="0" nodeType="withEffect">
                                  <p:stCondLst>
                                    <p:cond delay="28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00"/>
                                        <p:tgtEl>
                                          <p:spTgt spid="8"/>
                                        </p:tgtEl>
                                      </p:cBhvr>
                                    </p:animEffect>
                                  </p:childTnLst>
                                </p:cTn>
                              </p:par>
                              <p:par>
                                <p:cTn id="116" presetID="10" presetClass="entr" presetSubtype="0" fill="hold" grpId="0" nodeType="withEffect">
                                  <p:stCondLst>
                                    <p:cond delay="28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00"/>
                                        <p:tgtEl>
                                          <p:spTgt spid="9"/>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00"/>
                                        <p:tgtEl>
                                          <p:spTgt spid="10"/>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00"/>
                                        <p:tgtEl>
                                          <p:spTgt spid="11"/>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00"/>
                                        <p:tgtEl>
                                          <p:spTgt spid="12"/>
                                        </p:tgtEl>
                                      </p:cBhvr>
                                    </p:animEffect>
                                  </p:childTnLst>
                                </p:cTn>
                              </p:par>
                              <p:par>
                                <p:cTn id="128" presetID="10" presetClass="entr" presetSubtype="0" fill="hold" grpId="0" nodeType="withEffect">
                                  <p:stCondLst>
                                    <p:cond delay="280"/>
                                  </p:stCondLst>
                                  <p:childTnLst>
                                    <p:set>
                                      <p:cBhvr>
                                        <p:cTn id="129" dur="1" fill="hold">
                                          <p:stCondLst>
                                            <p:cond delay="0"/>
                                          </p:stCondLst>
                                        </p:cTn>
                                        <p:tgtEl>
                                          <p:spTgt spid="16"/>
                                        </p:tgtEl>
                                        <p:attrNameLst>
                                          <p:attrName>style.visibility</p:attrName>
                                        </p:attrNameLst>
                                      </p:cBhvr>
                                      <p:to>
                                        <p:strVal val="visible"/>
                                      </p:to>
                                    </p:set>
                                    <p:animEffect transition="in" filter="fade">
                                      <p:cBhvr>
                                        <p:cTn id="130" dur="400"/>
                                        <p:tgtEl>
                                          <p:spTgt spid="16"/>
                                        </p:tgtEl>
                                      </p:cBhvr>
                                    </p:animEffect>
                                  </p:childTnLst>
                                </p:cTn>
                              </p:par>
                              <p:par>
                                <p:cTn id="131" presetID="10" presetClass="entr" presetSubtype="0" fill="hold" grpId="0" nodeType="withEffect">
                                  <p:stCondLst>
                                    <p:cond delay="280"/>
                                  </p:stCondLst>
                                  <p:childTnLst>
                                    <p:set>
                                      <p:cBhvr>
                                        <p:cTn id="132" dur="1" fill="hold">
                                          <p:stCondLst>
                                            <p:cond delay="0"/>
                                          </p:stCondLst>
                                        </p:cTn>
                                        <p:tgtEl>
                                          <p:spTgt spid="17"/>
                                        </p:tgtEl>
                                        <p:attrNameLst>
                                          <p:attrName>style.visibility</p:attrName>
                                        </p:attrNameLst>
                                      </p:cBhvr>
                                      <p:to>
                                        <p:strVal val="visible"/>
                                      </p:to>
                                    </p:set>
                                    <p:animEffect transition="in" filter="fade">
                                      <p:cBhvr>
                                        <p:cTn id="133" dur="400"/>
                                        <p:tgtEl>
                                          <p:spTgt spid="17"/>
                                        </p:tgtEl>
                                      </p:cBhvr>
                                    </p:animEffect>
                                  </p:childTnLst>
                                </p:cTn>
                              </p:par>
                              <p:par>
                                <p:cTn id="134" presetID="10" presetClass="entr" presetSubtype="0" fill="hold" grpId="0" nodeType="withEffect">
                                  <p:stCondLst>
                                    <p:cond delay="280"/>
                                  </p:stCondLst>
                                  <p:childTnLst>
                                    <p:set>
                                      <p:cBhvr>
                                        <p:cTn id="135" dur="1" fill="hold">
                                          <p:stCondLst>
                                            <p:cond delay="0"/>
                                          </p:stCondLst>
                                        </p:cTn>
                                        <p:tgtEl>
                                          <p:spTgt spid="18"/>
                                        </p:tgtEl>
                                        <p:attrNameLst>
                                          <p:attrName>style.visibility</p:attrName>
                                        </p:attrNameLst>
                                      </p:cBhvr>
                                      <p:to>
                                        <p:strVal val="visible"/>
                                      </p:to>
                                    </p:set>
                                    <p:animEffect transition="in" filter="fade">
                                      <p:cBhvr>
                                        <p:cTn id="136" dur="400"/>
                                        <p:tgtEl>
                                          <p:spTgt spid="18"/>
                                        </p:tgtEl>
                                      </p:cBhvr>
                                    </p:animEffect>
                                  </p:childTnLst>
                                </p:cTn>
                              </p:par>
                              <p:par>
                                <p:cTn id="137" presetID="10" presetClass="entr" presetSubtype="0" fill="hold" grpId="0" nodeType="withEffect">
                                  <p:stCondLst>
                                    <p:cond delay="280"/>
                                  </p:stCondLst>
                                  <p:childTnLst>
                                    <p:set>
                                      <p:cBhvr>
                                        <p:cTn id="138" dur="1" fill="hold">
                                          <p:stCondLst>
                                            <p:cond delay="0"/>
                                          </p:stCondLst>
                                        </p:cTn>
                                        <p:tgtEl>
                                          <p:spTgt spid="19"/>
                                        </p:tgtEl>
                                        <p:attrNameLst>
                                          <p:attrName>style.visibility</p:attrName>
                                        </p:attrNameLst>
                                      </p:cBhvr>
                                      <p:to>
                                        <p:strVal val="visible"/>
                                      </p:to>
                                    </p:set>
                                    <p:animEffect transition="in" filter="fade">
                                      <p:cBhvr>
                                        <p:cTn id="139" dur="400"/>
                                        <p:tgtEl>
                                          <p:spTgt spid="19"/>
                                        </p:tgtEl>
                                      </p:cBhvr>
                                    </p:animEffect>
                                  </p:childTnLst>
                                </p:cTn>
                              </p:par>
                              <p:par>
                                <p:cTn id="140" presetID="10" presetClass="entr" presetSubtype="0" fill="hold" grpId="0" nodeType="withEffect">
                                  <p:stCondLst>
                                    <p:cond delay="560"/>
                                  </p:stCondLst>
                                  <p:childTnLst>
                                    <p:set>
                                      <p:cBhvr>
                                        <p:cTn id="141" dur="1" fill="hold">
                                          <p:stCondLst>
                                            <p:cond delay="0"/>
                                          </p:stCondLst>
                                        </p:cTn>
                                        <p:tgtEl>
                                          <p:spTgt spid="13"/>
                                        </p:tgtEl>
                                        <p:attrNameLst>
                                          <p:attrName>style.visibility</p:attrName>
                                        </p:attrNameLst>
                                      </p:cBhvr>
                                      <p:to>
                                        <p:strVal val="visible"/>
                                      </p:to>
                                    </p:set>
                                    <p:animEffect transition="in" filter="fade">
                                      <p:cBhvr>
                                        <p:cTn id="142" dur="400"/>
                                        <p:tgtEl>
                                          <p:spTgt spid="13"/>
                                        </p:tgtEl>
                                      </p:cBhvr>
                                    </p:animEffect>
                                  </p:childTnLst>
                                </p:cTn>
                              </p:par>
                              <p:par>
                                <p:cTn id="143" presetID="10" presetClass="entr" presetSubtype="0" fill="hold" grpId="0" nodeType="withEffect">
                                  <p:stCondLst>
                                    <p:cond delay="56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400"/>
                                        <p:tgtEl>
                                          <p:spTgt spid="20"/>
                                        </p:tgtEl>
                                      </p:cBhvr>
                                    </p:animEffect>
                                  </p:childTnLst>
                                </p:cTn>
                              </p:par>
                              <p:par>
                                <p:cTn id="146" presetID="10" presetClass="entr" presetSubtype="0" fill="hold" grpId="0" nodeType="withEffect">
                                  <p:stCondLst>
                                    <p:cond delay="840"/>
                                  </p:stCondLst>
                                  <p:childTnLst>
                                    <p:set>
                                      <p:cBhvr>
                                        <p:cTn id="147" dur="1" fill="hold">
                                          <p:stCondLst>
                                            <p:cond delay="0"/>
                                          </p:stCondLst>
                                        </p:cTn>
                                        <p:tgtEl>
                                          <p:spTgt spid="21"/>
                                        </p:tgtEl>
                                        <p:attrNameLst>
                                          <p:attrName>style.visibility</p:attrName>
                                        </p:attrNameLst>
                                      </p:cBhvr>
                                      <p:to>
                                        <p:strVal val="visible"/>
                                      </p:to>
                                    </p:set>
                                    <p:animEffect transition="in" filter="fade">
                                      <p:cBhvr>
                                        <p:cTn id="148" dur="400"/>
                                        <p:tgtEl>
                                          <p:spTgt spid="21"/>
                                        </p:tgtEl>
                                      </p:cBhvr>
                                    </p:animEffect>
                                  </p:childTnLst>
                                </p:cTn>
                              </p:par>
                              <p:par>
                                <p:cTn id="149" presetID="10" presetClass="entr" presetSubtype="0" fill="hold" grpId="0" nodeType="withEffect">
                                  <p:stCondLst>
                                    <p:cond delay="840"/>
                                  </p:stCondLst>
                                  <p:childTnLst>
                                    <p:set>
                                      <p:cBhvr>
                                        <p:cTn id="150" dur="1" fill="hold">
                                          <p:stCondLst>
                                            <p:cond delay="0"/>
                                          </p:stCondLst>
                                        </p:cTn>
                                        <p:tgtEl>
                                          <p:spTgt spid="22"/>
                                        </p:tgtEl>
                                        <p:attrNameLst>
                                          <p:attrName>style.visibility</p:attrName>
                                        </p:attrNameLst>
                                      </p:cBhvr>
                                      <p:to>
                                        <p:strVal val="visible"/>
                                      </p:to>
                                    </p:set>
                                    <p:animEffect transition="in" filter="fade">
                                      <p:cBhvr>
                                        <p:cTn id="151" dur="400"/>
                                        <p:tgtEl>
                                          <p:spTgt spid="22"/>
                                        </p:tgtEl>
                                      </p:cBhvr>
                                    </p:animEffect>
                                  </p:childTnLst>
                                </p:cTn>
                              </p:par>
                              <p:par>
                                <p:cTn id="152" presetID="10" presetClass="entr" presetSubtype="0" fill="hold" grpId="0" nodeType="withEffect">
                                  <p:stCondLst>
                                    <p:cond delay="1120"/>
                                  </p:stCondLst>
                                  <p:childTnLst>
                                    <p:set>
                                      <p:cBhvr>
                                        <p:cTn id="153" dur="1" fill="hold">
                                          <p:stCondLst>
                                            <p:cond delay="0"/>
                                          </p:stCondLst>
                                        </p:cTn>
                                        <p:tgtEl>
                                          <p:spTgt spid="23"/>
                                        </p:tgtEl>
                                        <p:attrNameLst>
                                          <p:attrName>style.visibility</p:attrName>
                                        </p:attrNameLst>
                                      </p:cBhvr>
                                      <p:to>
                                        <p:strVal val="visible"/>
                                      </p:to>
                                    </p:set>
                                    <p:animEffect transition="in" filter="fade">
                                      <p:cBhvr>
                                        <p:cTn id="154" dur="400"/>
                                        <p:tgtEl>
                                          <p:spTgt spid="23"/>
                                        </p:tgtEl>
                                      </p:cBhvr>
                                    </p:animEffect>
                                  </p:childTnLst>
                                </p:cTn>
                              </p:par>
                              <p:par>
                                <p:cTn id="155" presetID="10" presetClass="entr" presetSubtype="0" fill="hold" grpId="0" nodeType="withEffect">
                                  <p:stCondLst>
                                    <p:cond delay="112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400"/>
                                        <p:tgtEl>
                                          <p:spTgt spid="24"/>
                                        </p:tgtEl>
                                      </p:cBhvr>
                                    </p:animEffect>
                                  </p:childTnLst>
                                </p:cTn>
                              </p:par>
                              <p:par>
                                <p:cTn id="158" presetID="10" presetClass="entr" presetSubtype="0" fill="hold" grpId="0" nodeType="withEffect">
                                  <p:stCondLst>
                                    <p:cond delay="1400"/>
                                  </p:stCondLst>
                                  <p:childTnLst>
                                    <p:set>
                                      <p:cBhvr>
                                        <p:cTn id="159" dur="1" fill="hold">
                                          <p:stCondLst>
                                            <p:cond delay="0"/>
                                          </p:stCondLst>
                                        </p:cTn>
                                        <p:tgtEl>
                                          <p:spTgt spid="25"/>
                                        </p:tgtEl>
                                        <p:attrNameLst>
                                          <p:attrName>style.visibility</p:attrName>
                                        </p:attrNameLst>
                                      </p:cBhvr>
                                      <p:to>
                                        <p:strVal val="visible"/>
                                      </p:to>
                                    </p:set>
                                    <p:animEffect transition="in" filter="fade">
                                      <p:cBhvr>
                                        <p:cTn id="16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09  ·  ĐÁNH GIÁ ĐỊNH LƯỢNG</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Bốn thước đo vàng trong đánh giá phân đoạn y khoa</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10 / 20</a:t>
            </a:r>
            <a:endParaRPr lang="en-US" sz="800" dirty="0"/>
          </a:p>
        </p:txBody>
      </p:sp>
      <p:sp>
        <p:nvSpPr>
          <p:cNvPr id="6" name="Shape 4"/>
          <p:cNvSpPr/>
          <p:nvPr/>
        </p:nvSpPr>
        <p:spPr>
          <a:xfrm>
            <a:off x="502920" y="1243584"/>
            <a:ext cx="3968496" cy="1371600"/>
          </a:xfrm>
          <a:prstGeom prst="roundRect">
            <a:avLst>
              <a:gd name="adj" fmla="val 4000"/>
            </a:avLst>
          </a:prstGeom>
          <a:solidFill>
            <a:srgbClr val="FFFFFF"/>
          </a:solidFill>
          <a:ln w="9525">
            <a:solidFill>
              <a:srgbClr val="D1E3E8"/>
            </a:solidFill>
            <a:prstDash val="solid"/>
          </a:ln>
          <a:effectLst>
            <a:outerShdw sx="100000" sy="100000" kx="0" ky="0" algn="bl" rotWithShape="0" blurRad="2.0480374952194813e+119" dist="1.0240187476097407e+119" dir="3.3161087958110005e+140">
              <a:srgbClr val="0B2B3C">
                <a:alpha val="9.999999999999999e+143"/>
              </a:srgbClr>
            </a:outerShdw>
          </a:effectLst>
        </p:spPr>
      </p:sp>
      <p:sp>
        <p:nvSpPr>
          <p:cNvPr id="7" name="Text 5"/>
          <p:cNvSpPr/>
          <p:nvPr/>
        </p:nvSpPr>
        <p:spPr>
          <a:xfrm>
            <a:off x="704088" y="1353312"/>
            <a:ext cx="3566160" cy="182880"/>
          </a:xfrm>
          <a:prstGeom prst="rect">
            <a:avLst/>
          </a:prstGeom>
          <a:noFill/>
          <a:ln/>
        </p:spPr>
        <p:txBody>
          <a:bodyPr wrap="square" lIns="0" tIns="0" rIns="0" bIns="0" rtlCol="0" anchor="ctr"/>
          <a:lstStyle/>
          <a:p>
            <a:pPr indent="0" marL="0">
              <a:buNone/>
            </a:pPr>
            <a:r>
              <a:rPr lang="en-US" sz="850" spc="110" kern="0" dirty="0">
                <a:solidFill>
                  <a:srgbClr val="028090"/>
                </a:solidFill>
                <a:latin typeface="Segoe UI Semibold" pitchFamily="34" charset="0"/>
                <a:ea typeface="Segoe UI Semibold" pitchFamily="34" charset="-122"/>
                <a:cs typeface="Segoe UI Semibold" pitchFamily="34" charset="-120"/>
              </a:rPr>
              <a:t>DICE SIMILARITY (DSC)</a:t>
            </a:r>
            <a:endParaRPr lang="en-US" sz="850" dirty="0"/>
          </a:p>
        </p:txBody>
      </p:sp>
      <p:sp>
        <p:nvSpPr>
          <p:cNvPr id="8" name="Text 6"/>
          <p:cNvSpPr/>
          <p:nvPr/>
        </p:nvSpPr>
        <p:spPr>
          <a:xfrm>
            <a:off x="740664" y="1572768"/>
            <a:ext cx="786384" cy="585216"/>
          </a:xfrm>
          <a:prstGeom prst="rect">
            <a:avLst/>
          </a:prstGeom>
          <a:noFill/>
          <a:ln/>
        </p:spPr>
        <p:txBody>
          <a:bodyPr wrap="square" lIns="0" tIns="0" rIns="0" bIns="0" rtlCol="0" anchor="ctr"/>
          <a:lstStyle/>
          <a:p>
            <a:pPr algn="r" indent="0" marL="0">
              <a:buNone/>
            </a:pPr>
            <a:r>
              <a:rPr lang="en-US" sz="1300" i="1" dirty="0">
                <a:solidFill>
                  <a:srgbClr val="21295C"/>
                </a:solidFill>
                <a:latin typeface="Segoe UI Semibold" pitchFamily="34" charset="0"/>
                <a:ea typeface="Segoe UI Semibold" pitchFamily="34" charset="-122"/>
                <a:cs typeface="Segoe UI Semibold" pitchFamily="34" charset="-120"/>
              </a:rPr>
              <a:t>DSC =</a:t>
            </a:r>
            <a:endParaRPr lang="en-US" sz="1300" dirty="0"/>
          </a:p>
        </p:txBody>
      </p:sp>
      <p:sp>
        <p:nvSpPr>
          <p:cNvPr id="9" name="Text 7"/>
          <p:cNvSpPr/>
          <p:nvPr/>
        </p:nvSpPr>
        <p:spPr>
          <a:xfrm>
            <a:off x="1618488" y="1581912"/>
            <a:ext cx="2615184"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2|A ∩ B|</a:t>
            </a:r>
            <a:endParaRPr lang="en-US" sz="1300" dirty="0"/>
          </a:p>
        </p:txBody>
      </p:sp>
      <p:sp>
        <p:nvSpPr>
          <p:cNvPr id="10" name="Shape 8"/>
          <p:cNvSpPr/>
          <p:nvPr/>
        </p:nvSpPr>
        <p:spPr>
          <a:xfrm>
            <a:off x="1618488" y="1865376"/>
            <a:ext cx="2615184" cy="0"/>
          </a:xfrm>
          <a:prstGeom prst="line">
            <a:avLst/>
          </a:prstGeom>
          <a:noFill/>
          <a:ln w="15875">
            <a:solidFill>
              <a:srgbClr val="065A82"/>
            </a:solidFill>
            <a:prstDash val="solid"/>
          </a:ln>
        </p:spPr>
      </p:sp>
      <p:sp>
        <p:nvSpPr>
          <p:cNvPr id="11" name="Text 9"/>
          <p:cNvSpPr/>
          <p:nvPr/>
        </p:nvSpPr>
        <p:spPr>
          <a:xfrm>
            <a:off x="1618488" y="1883664"/>
            <a:ext cx="2615184"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|A| + |B|</a:t>
            </a:r>
            <a:endParaRPr lang="en-US" sz="1300" dirty="0"/>
          </a:p>
        </p:txBody>
      </p:sp>
      <p:sp>
        <p:nvSpPr>
          <p:cNvPr id="12" name="Text 10"/>
          <p:cNvSpPr/>
          <p:nvPr/>
        </p:nvSpPr>
        <p:spPr>
          <a:xfrm>
            <a:off x="704088" y="2212848"/>
            <a:ext cx="3566160" cy="347472"/>
          </a:xfrm>
          <a:prstGeom prst="rect">
            <a:avLst/>
          </a:prstGeom>
          <a:noFill/>
          <a:ln/>
        </p:spPr>
        <p:txBody>
          <a:bodyPr wrap="square" lIns="0" tIns="0" rIns="0" bIns="0" rtlCol="0" anchor="t"/>
          <a:lstStyle/>
          <a:p>
            <a:pPr indent="0" marL="0">
              <a:lnSpc>
                <a:spcPct val="112000"/>
              </a:lnSpc>
              <a:buNone/>
            </a:pPr>
            <a:r>
              <a:rPr lang="en-US" sz="850" dirty="0">
                <a:solidFill>
                  <a:srgbClr val="5F7186"/>
                </a:solidFill>
                <a:latin typeface="Segoe UI" pitchFamily="34" charset="0"/>
                <a:ea typeface="Segoe UI" pitchFamily="34" charset="-122"/>
                <a:cs typeface="Segoe UI" pitchFamily="34" charset="-120"/>
              </a:rPr>
              <a:t>Mức độ tương đồng toàn diện giữa dự đoán A và ground truth B.</a:t>
            </a:r>
            <a:endParaRPr lang="en-US" sz="850" dirty="0"/>
          </a:p>
        </p:txBody>
      </p:sp>
      <p:sp>
        <p:nvSpPr>
          <p:cNvPr id="13" name="Shape 11"/>
          <p:cNvSpPr/>
          <p:nvPr/>
        </p:nvSpPr>
        <p:spPr>
          <a:xfrm>
            <a:off x="4672584" y="1243584"/>
            <a:ext cx="3968496" cy="1371600"/>
          </a:xfrm>
          <a:prstGeom prst="roundRect">
            <a:avLst>
              <a:gd name="adj" fmla="val 4000"/>
            </a:avLst>
          </a:prstGeom>
          <a:solidFill>
            <a:srgbClr val="FFFFFF"/>
          </a:solidFill>
          <a:ln w="9525">
            <a:solidFill>
              <a:srgbClr val="D1E3E8"/>
            </a:solidFill>
            <a:prstDash val="solid"/>
          </a:ln>
          <a:effectLst>
            <a:outerShdw sx="100000" sy="100000" kx="0" ky="0" algn="bl" rotWithShape="0" blurRad="2.6010076189287412e+123" dist="1.3005038094643706e+123" dir="1.9896652774866004e+145">
              <a:srgbClr val="0B2B3C">
                <a:alpha val="9.999999999999998e+148"/>
              </a:srgbClr>
            </a:outerShdw>
          </a:effectLst>
        </p:spPr>
      </p:sp>
      <p:sp>
        <p:nvSpPr>
          <p:cNvPr id="14" name="Text 12"/>
          <p:cNvSpPr/>
          <p:nvPr/>
        </p:nvSpPr>
        <p:spPr>
          <a:xfrm>
            <a:off x="4873752" y="1353312"/>
            <a:ext cx="3566160" cy="182880"/>
          </a:xfrm>
          <a:prstGeom prst="rect">
            <a:avLst/>
          </a:prstGeom>
          <a:noFill/>
          <a:ln/>
        </p:spPr>
        <p:txBody>
          <a:bodyPr wrap="square" lIns="0" tIns="0" rIns="0" bIns="0" rtlCol="0" anchor="ctr"/>
          <a:lstStyle/>
          <a:p>
            <a:pPr indent="0" marL="0">
              <a:buNone/>
            </a:pPr>
            <a:r>
              <a:rPr lang="en-US" sz="850" spc="110" kern="0" dirty="0">
                <a:solidFill>
                  <a:srgbClr val="028090"/>
                </a:solidFill>
                <a:latin typeface="Segoe UI Semibold" pitchFamily="34" charset="0"/>
                <a:ea typeface="Segoe UI Semibold" pitchFamily="34" charset="-122"/>
                <a:cs typeface="Segoe UI Semibold" pitchFamily="34" charset="-120"/>
              </a:rPr>
              <a:t>INTERSECTION OVER UNION</a:t>
            </a:r>
            <a:endParaRPr lang="en-US" sz="850" dirty="0"/>
          </a:p>
        </p:txBody>
      </p:sp>
      <p:sp>
        <p:nvSpPr>
          <p:cNvPr id="15" name="Text 13"/>
          <p:cNvSpPr/>
          <p:nvPr/>
        </p:nvSpPr>
        <p:spPr>
          <a:xfrm>
            <a:off x="4910328" y="1572768"/>
            <a:ext cx="786384" cy="585216"/>
          </a:xfrm>
          <a:prstGeom prst="rect">
            <a:avLst/>
          </a:prstGeom>
          <a:noFill/>
          <a:ln/>
        </p:spPr>
        <p:txBody>
          <a:bodyPr wrap="square" lIns="0" tIns="0" rIns="0" bIns="0" rtlCol="0" anchor="ctr"/>
          <a:lstStyle/>
          <a:p>
            <a:pPr algn="r" indent="0" marL="0">
              <a:buNone/>
            </a:pPr>
            <a:r>
              <a:rPr lang="en-US" sz="1300" i="1" dirty="0">
                <a:solidFill>
                  <a:srgbClr val="21295C"/>
                </a:solidFill>
                <a:latin typeface="Segoe UI Semibold" pitchFamily="34" charset="0"/>
                <a:ea typeface="Segoe UI Semibold" pitchFamily="34" charset="-122"/>
                <a:cs typeface="Segoe UI Semibold" pitchFamily="34" charset="-120"/>
              </a:rPr>
              <a:t>IoU =</a:t>
            </a:r>
            <a:endParaRPr lang="en-US" sz="1300" dirty="0"/>
          </a:p>
        </p:txBody>
      </p:sp>
      <p:sp>
        <p:nvSpPr>
          <p:cNvPr id="16" name="Text 14"/>
          <p:cNvSpPr/>
          <p:nvPr/>
        </p:nvSpPr>
        <p:spPr>
          <a:xfrm>
            <a:off x="5788152" y="1581912"/>
            <a:ext cx="2615184"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|A ∩ B|</a:t>
            </a:r>
            <a:endParaRPr lang="en-US" sz="1300" dirty="0"/>
          </a:p>
        </p:txBody>
      </p:sp>
      <p:sp>
        <p:nvSpPr>
          <p:cNvPr id="17" name="Shape 15"/>
          <p:cNvSpPr/>
          <p:nvPr/>
        </p:nvSpPr>
        <p:spPr>
          <a:xfrm>
            <a:off x="5788152" y="1865376"/>
            <a:ext cx="2615184" cy="0"/>
          </a:xfrm>
          <a:prstGeom prst="line">
            <a:avLst/>
          </a:prstGeom>
          <a:noFill/>
          <a:ln w="15875">
            <a:solidFill>
              <a:srgbClr val="065A82"/>
            </a:solidFill>
            <a:prstDash val="solid"/>
          </a:ln>
        </p:spPr>
      </p:sp>
      <p:sp>
        <p:nvSpPr>
          <p:cNvPr id="18" name="Text 16"/>
          <p:cNvSpPr/>
          <p:nvPr/>
        </p:nvSpPr>
        <p:spPr>
          <a:xfrm>
            <a:off x="5788152" y="1883664"/>
            <a:ext cx="2615184"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|A ∪ B|</a:t>
            </a:r>
            <a:endParaRPr lang="en-US" sz="1300" dirty="0"/>
          </a:p>
        </p:txBody>
      </p:sp>
      <p:sp>
        <p:nvSpPr>
          <p:cNvPr id="19" name="Text 17"/>
          <p:cNvSpPr/>
          <p:nvPr/>
        </p:nvSpPr>
        <p:spPr>
          <a:xfrm>
            <a:off x="4873752" y="2212848"/>
            <a:ext cx="3566160" cy="347472"/>
          </a:xfrm>
          <a:prstGeom prst="rect">
            <a:avLst/>
          </a:prstGeom>
          <a:noFill/>
          <a:ln/>
        </p:spPr>
        <p:txBody>
          <a:bodyPr wrap="square" lIns="0" tIns="0" rIns="0" bIns="0" rtlCol="0" anchor="t"/>
          <a:lstStyle/>
          <a:p>
            <a:pPr indent="0" marL="0">
              <a:lnSpc>
                <a:spcPct val="112000"/>
              </a:lnSpc>
              <a:buNone/>
            </a:pPr>
            <a:r>
              <a:rPr lang="en-US" sz="850" dirty="0">
                <a:solidFill>
                  <a:srgbClr val="5F7186"/>
                </a:solidFill>
                <a:latin typeface="Segoe UI" pitchFamily="34" charset="0"/>
                <a:ea typeface="Segoe UI" pitchFamily="34" charset="-122"/>
                <a:cs typeface="Segoe UI" pitchFamily="34" charset="-120"/>
              </a:rPr>
              <a:t>Chỉ số Jaccard, phạt nặng các vùng dự đoán thừa.</a:t>
            </a:r>
            <a:endParaRPr lang="en-US" sz="850" dirty="0"/>
          </a:p>
        </p:txBody>
      </p:sp>
      <p:sp>
        <p:nvSpPr>
          <p:cNvPr id="20" name="Shape 18"/>
          <p:cNvSpPr/>
          <p:nvPr/>
        </p:nvSpPr>
        <p:spPr>
          <a:xfrm>
            <a:off x="502920" y="2724912"/>
            <a:ext cx="3968496" cy="1371600"/>
          </a:xfrm>
          <a:prstGeom prst="roundRect">
            <a:avLst>
              <a:gd name="adj" fmla="val 4000"/>
            </a:avLst>
          </a:prstGeom>
          <a:solidFill>
            <a:srgbClr val="FFFFFF"/>
          </a:solidFill>
          <a:ln w="9525">
            <a:solidFill>
              <a:srgbClr val="D1E3E8"/>
            </a:solidFill>
            <a:prstDash val="solid"/>
          </a:ln>
          <a:effectLst>
            <a:outerShdw sx="100000" sy="100000" kx="0" ky="0" algn="bl" rotWithShape="0" blurRad="3.303279676039501e+127" dist="1.6516398380197506e+127" dir="1.1937991664919603e+150">
              <a:srgbClr val="0B2B3C">
                <a:alpha val="9.999999999999999e+153"/>
              </a:srgbClr>
            </a:outerShdw>
          </a:effectLst>
        </p:spPr>
      </p:sp>
      <p:sp>
        <p:nvSpPr>
          <p:cNvPr id="21" name="Text 19"/>
          <p:cNvSpPr/>
          <p:nvPr/>
        </p:nvSpPr>
        <p:spPr>
          <a:xfrm>
            <a:off x="704088" y="2834640"/>
            <a:ext cx="3566160" cy="182880"/>
          </a:xfrm>
          <a:prstGeom prst="rect">
            <a:avLst/>
          </a:prstGeom>
          <a:noFill/>
          <a:ln/>
        </p:spPr>
        <p:txBody>
          <a:bodyPr wrap="square" lIns="0" tIns="0" rIns="0" bIns="0" rtlCol="0" anchor="ctr"/>
          <a:lstStyle/>
          <a:p>
            <a:pPr indent="0" marL="0">
              <a:buNone/>
            </a:pPr>
            <a:r>
              <a:rPr lang="en-US" sz="850" spc="110" kern="0" dirty="0">
                <a:solidFill>
                  <a:srgbClr val="028090"/>
                </a:solidFill>
                <a:latin typeface="Segoe UI Semibold" pitchFamily="34" charset="0"/>
                <a:ea typeface="Segoe UI Semibold" pitchFamily="34" charset="-122"/>
                <a:cs typeface="Segoe UI Semibold" pitchFamily="34" charset="-120"/>
              </a:rPr>
              <a:t>ĐỘ NHẠY (SENSITIVITY)</a:t>
            </a:r>
            <a:endParaRPr lang="en-US" sz="850" dirty="0"/>
          </a:p>
        </p:txBody>
      </p:sp>
      <p:sp>
        <p:nvSpPr>
          <p:cNvPr id="22" name="Text 20"/>
          <p:cNvSpPr/>
          <p:nvPr/>
        </p:nvSpPr>
        <p:spPr>
          <a:xfrm>
            <a:off x="740664" y="3054096"/>
            <a:ext cx="786384" cy="585216"/>
          </a:xfrm>
          <a:prstGeom prst="rect">
            <a:avLst/>
          </a:prstGeom>
          <a:noFill/>
          <a:ln/>
        </p:spPr>
        <p:txBody>
          <a:bodyPr wrap="square" lIns="0" tIns="0" rIns="0" bIns="0" rtlCol="0" anchor="ctr"/>
          <a:lstStyle/>
          <a:p>
            <a:pPr algn="r" indent="0" marL="0">
              <a:buNone/>
            </a:pPr>
            <a:r>
              <a:rPr lang="en-US" sz="1300" i="1" dirty="0">
                <a:solidFill>
                  <a:srgbClr val="21295C"/>
                </a:solidFill>
                <a:latin typeface="Segoe UI Semibold" pitchFamily="34" charset="0"/>
                <a:ea typeface="Segoe UI Semibold" pitchFamily="34" charset="-122"/>
                <a:cs typeface="Segoe UI Semibold" pitchFamily="34" charset="-120"/>
              </a:rPr>
              <a:t>Sens =</a:t>
            </a:r>
            <a:endParaRPr lang="en-US" sz="1300" dirty="0"/>
          </a:p>
        </p:txBody>
      </p:sp>
      <p:sp>
        <p:nvSpPr>
          <p:cNvPr id="23" name="Text 21"/>
          <p:cNvSpPr/>
          <p:nvPr/>
        </p:nvSpPr>
        <p:spPr>
          <a:xfrm>
            <a:off x="1618488" y="3063240"/>
            <a:ext cx="2615184"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TP</a:t>
            </a:r>
            <a:endParaRPr lang="en-US" sz="1300" dirty="0"/>
          </a:p>
        </p:txBody>
      </p:sp>
      <p:sp>
        <p:nvSpPr>
          <p:cNvPr id="24" name="Shape 22"/>
          <p:cNvSpPr/>
          <p:nvPr/>
        </p:nvSpPr>
        <p:spPr>
          <a:xfrm>
            <a:off x="1618488" y="3346704"/>
            <a:ext cx="2615184" cy="0"/>
          </a:xfrm>
          <a:prstGeom prst="line">
            <a:avLst/>
          </a:prstGeom>
          <a:noFill/>
          <a:ln w="15875">
            <a:solidFill>
              <a:srgbClr val="065A82"/>
            </a:solidFill>
            <a:prstDash val="solid"/>
          </a:ln>
        </p:spPr>
      </p:sp>
      <p:sp>
        <p:nvSpPr>
          <p:cNvPr id="25" name="Text 23"/>
          <p:cNvSpPr/>
          <p:nvPr/>
        </p:nvSpPr>
        <p:spPr>
          <a:xfrm>
            <a:off x="1618488" y="3364992"/>
            <a:ext cx="2615184"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TP + FN</a:t>
            </a:r>
            <a:endParaRPr lang="en-US" sz="1300" dirty="0"/>
          </a:p>
        </p:txBody>
      </p:sp>
      <p:sp>
        <p:nvSpPr>
          <p:cNvPr id="26" name="Text 24"/>
          <p:cNvSpPr/>
          <p:nvPr/>
        </p:nvSpPr>
        <p:spPr>
          <a:xfrm>
            <a:off x="704088" y="3694176"/>
            <a:ext cx="3566160" cy="347472"/>
          </a:xfrm>
          <a:prstGeom prst="rect">
            <a:avLst/>
          </a:prstGeom>
          <a:noFill/>
          <a:ln/>
        </p:spPr>
        <p:txBody>
          <a:bodyPr wrap="square" lIns="0" tIns="0" rIns="0" bIns="0" rtlCol="0" anchor="t"/>
          <a:lstStyle/>
          <a:p>
            <a:pPr indent="0" marL="0">
              <a:lnSpc>
                <a:spcPct val="112000"/>
              </a:lnSpc>
              <a:buNone/>
            </a:pPr>
            <a:r>
              <a:rPr lang="en-US" sz="850" dirty="0">
                <a:solidFill>
                  <a:srgbClr val="5F7186"/>
                </a:solidFill>
                <a:latin typeface="Segoe UI" pitchFamily="34" charset="0"/>
                <a:ea typeface="Segoe UI" pitchFamily="34" charset="-122"/>
                <a:cs typeface="Segoe UI" pitchFamily="34" charset="-120"/>
              </a:rPr>
              <a:t>Khả năng không bỏ sót tế bào ung thư — ưu tiên hàng đầu.</a:t>
            </a:r>
            <a:endParaRPr lang="en-US" sz="850" dirty="0"/>
          </a:p>
        </p:txBody>
      </p:sp>
      <p:sp>
        <p:nvSpPr>
          <p:cNvPr id="27" name="Shape 25"/>
          <p:cNvSpPr/>
          <p:nvPr/>
        </p:nvSpPr>
        <p:spPr>
          <a:xfrm>
            <a:off x="4672584" y="2724912"/>
            <a:ext cx="3968496" cy="1371600"/>
          </a:xfrm>
          <a:prstGeom prst="roundRect">
            <a:avLst>
              <a:gd name="adj" fmla="val 4000"/>
            </a:avLst>
          </a:prstGeom>
          <a:solidFill>
            <a:srgbClr val="FFFFFF"/>
          </a:solidFill>
          <a:ln w="9525">
            <a:solidFill>
              <a:srgbClr val="D1E3E8"/>
            </a:solidFill>
            <a:prstDash val="solid"/>
          </a:ln>
          <a:effectLst>
            <a:outerShdw sx="100000" sy="100000" kx="0" ky="0" algn="bl" rotWithShape="0" blurRad="4.195165188570166e+131" dist="2.097582594285083e+131" dir="7.162794998951762e+154">
              <a:srgbClr val="0B2B3C">
                <a:alpha val="1e+159"/>
              </a:srgbClr>
            </a:outerShdw>
          </a:effectLst>
        </p:spPr>
      </p:sp>
      <p:sp>
        <p:nvSpPr>
          <p:cNvPr id="28" name="Text 26"/>
          <p:cNvSpPr/>
          <p:nvPr/>
        </p:nvSpPr>
        <p:spPr>
          <a:xfrm>
            <a:off x="4873752" y="2834640"/>
            <a:ext cx="3566160" cy="182880"/>
          </a:xfrm>
          <a:prstGeom prst="rect">
            <a:avLst/>
          </a:prstGeom>
          <a:noFill/>
          <a:ln/>
        </p:spPr>
        <p:txBody>
          <a:bodyPr wrap="square" lIns="0" tIns="0" rIns="0" bIns="0" rtlCol="0" anchor="ctr"/>
          <a:lstStyle/>
          <a:p>
            <a:pPr indent="0" marL="0">
              <a:buNone/>
            </a:pPr>
            <a:r>
              <a:rPr lang="en-US" sz="850" spc="110" kern="0" dirty="0">
                <a:solidFill>
                  <a:srgbClr val="028090"/>
                </a:solidFill>
                <a:latin typeface="Segoe UI Semibold" pitchFamily="34" charset="0"/>
                <a:ea typeface="Segoe UI Semibold" pitchFamily="34" charset="-122"/>
                <a:cs typeface="Segoe UI Semibold" pitchFamily="34" charset="-120"/>
              </a:rPr>
              <a:t>ĐỘ ĐẶC HIỆU (SPECIFICITY)</a:t>
            </a:r>
            <a:endParaRPr lang="en-US" sz="850" dirty="0"/>
          </a:p>
        </p:txBody>
      </p:sp>
      <p:sp>
        <p:nvSpPr>
          <p:cNvPr id="29" name="Text 27"/>
          <p:cNvSpPr/>
          <p:nvPr/>
        </p:nvSpPr>
        <p:spPr>
          <a:xfrm>
            <a:off x="4910328" y="3054096"/>
            <a:ext cx="786384" cy="585216"/>
          </a:xfrm>
          <a:prstGeom prst="rect">
            <a:avLst/>
          </a:prstGeom>
          <a:noFill/>
          <a:ln/>
        </p:spPr>
        <p:txBody>
          <a:bodyPr wrap="square" lIns="0" tIns="0" rIns="0" bIns="0" rtlCol="0" anchor="ctr"/>
          <a:lstStyle/>
          <a:p>
            <a:pPr algn="r" indent="0" marL="0">
              <a:buNone/>
            </a:pPr>
            <a:r>
              <a:rPr lang="en-US" sz="1300" i="1" dirty="0">
                <a:solidFill>
                  <a:srgbClr val="21295C"/>
                </a:solidFill>
                <a:latin typeface="Segoe UI Semibold" pitchFamily="34" charset="0"/>
                <a:ea typeface="Segoe UI Semibold" pitchFamily="34" charset="-122"/>
                <a:cs typeface="Segoe UI Semibold" pitchFamily="34" charset="-120"/>
              </a:rPr>
              <a:t>Spec =</a:t>
            </a:r>
            <a:endParaRPr lang="en-US" sz="1300" dirty="0"/>
          </a:p>
        </p:txBody>
      </p:sp>
      <p:sp>
        <p:nvSpPr>
          <p:cNvPr id="30" name="Text 28"/>
          <p:cNvSpPr/>
          <p:nvPr/>
        </p:nvSpPr>
        <p:spPr>
          <a:xfrm>
            <a:off x="5788152" y="3063240"/>
            <a:ext cx="2615184"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TN</a:t>
            </a:r>
            <a:endParaRPr lang="en-US" sz="1300" dirty="0"/>
          </a:p>
        </p:txBody>
      </p:sp>
      <p:sp>
        <p:nvSpPr>
          <p:cNvPr id="31" name="Shape 29"/>
          <p:cNvSpPr/>
          <p:nvPr/>
        </p:nvSpPr>
        <p:spPr>
          <a:xfrm>
            <a:off x="5788152" y="3346704"/>
            <a:ext cx="2615184" cy="0"/>
          </a:xfrm>
          <a:prstGeom prst="line">
            <a:avLst/>
          </a:prstGeom>
          <a:noFill/>
          <a:ln w="15875">
            <a:solidFill>
              <a:srgbClr val="065A82"/>
            </a:solidFill>
            <a:prstDash val="solid"/>
          </a:ln>
        </p:spPr>
      </p:sp>
      <p:sp>
        <p:nvSpPr>
          <p:cNvPr id="32" name="Text 30"/>
          <p:cNvSpPr/>
          <p:nvPr/>
        </p:nvSpPr>
        <p:spPr>
          <a:xfrm>
            <a:off x="5788152" y="3364992"/>
            <a:ext cx="2615184" cy="265176"/>
          </a:xfrm>
          <a:prstGeom prst="rect">
            <a:avLst/>
          </a:prstGeom>
          <a:noFill/>
          <a:ln/>
        </p:spPr>
        <p:txBody>
          <a:bodyPr wrap="square" lIns="0" tIns="0" rIns="0" bIns="0" rtlCol="0" anchor="ctr"/>
          <a:lstStyle/>
          <a:p>
            <a:pPr algn="ctr" indent="0" marL="0">
              <a:buNone/>
            </a:pPr>
            <a:r>
              <a:rPr lang="en-US" sz="1300" i="1" dirty="0">
                <a:solidFill>
                  <a:srgbClr val="1E293B"/>
                </a:solidFill>
                <a:latin typeface="Segoe UI" pitchFamily="34" charset="0"/>
                <a:ea typeface="Segoe UI" pitchFamily="34" charset="-122"/>
                <a:cs typeface="Segoe UI" pitchFamily="34" charset="-120"/>
              </a:rPr>
              <a:t>TN + FP</a:t>
            </a:r>
            <a:endParaRPr lang="en-US" sz="1300" dirty="0"/>
          </a:p>
        </p:txBody>
      </p:sp>
      <p:sp>
        <p:nvSpPr>
          <p:cNvPr id="33" name="Text 31"/>
          <p:cNvSpPr/>
          <p:nvPr/>
        </p:nvSpPr>
        <p:spPr>
          <a:xfrm>
            <a:off x="4873752" y="3694176"/>
            <a:ext cx="3566160" cy="347472"/>
          </a:xfrm>
          <a:prstGeom prst="rect">
            <a:avLst/>
          </a:prstGeom>
          <a:noFill/>
          <a:ln/>
        </p:spPr>
        <p:txBody>
          <a:bodyPr wrap="square" lIns="0" tIns="0" rIns="0" bIns="0" rtlCol="0" anchor="t"/>
          <a:lstStyle/>
          <a:p>
            <a:pPr indent="0" marL="0">
              <a:lnSpc>
                <a:spcPct val="112000"/>
              </a:lnSpc>
              <a:buNone/>
            </a:pPr>
            <a:r>
              <a:rPr lang="en-US" sz="850" dirty="0">
                <a:solidFill>
                  <a:srgbClr val="5F7186"/>
                </a:solidFill>
                <a:latin typeface="Segoe UI" pitchFamily="34" charset="0"/>
                <a:ea typeface="Segoe UI" pitchFamily="34" charset="-122"/>
                <a:cs typeface="Segoe UI" pitchFamily="34" charset="-120"/>
              </a:rPr>
              <a:t>Khả năng tránh báo động giả trên mô lành.</a:t>
            </a:r>
            <a:endParaRPr lang="en-US" sz="850" dirty="0"/>
          </a:p>
        </p:txBody>
      </p:sp>
      <p:sp>
        <p:nvSpPr>
          <p:cNvPr id="34" name="Text 32"/>
          <p:cNvSpPr/>
          <p:nvPr/>
        </p:nvSpPr>
        <p:spPr>
          <a:xfrm>
            <a:off x="502920" y="4224528"/>
            <a:ext cx="8138160" cy="219456"/>
          </a:xfrm>
          <a:prstGeom prst="rect">
            <a:avLst/>
          </a:prstGeom>
          <a:noFill/>
          <a:ln/>
        </p:spPr>
        <p:txBody>
          <a:bodyPr wrap="square" lIns="0" tIns="0" rIns="0" bIns="0" rtlCol="0" anchor="ctr"/>
          <a:lstStyle/>
          <a:p>
            <a:pPr indent="0" marL="0">
              <a:buNone/>
            </a:pPr>
            <a:r>
              <a:rPr lang="en-US" sz="900" i="1" dirty="0">
                <a:solidFill>
                  <a:srgbClr val="028090"/>
                </a:solidFill>
                <a:latin typeface="Segoe UI" pitchFamily="34" charset="0"/>
                <a:ea typeface="Segoe UI" pitchFamily="34" charset="-122"/>
                <a:cs typeface="Segoe UI" pitchFamily="34" charset="-120"/>
              </a:rPr>
              <a:t>Đánh giá trên 1.373 lát cắt có u và kiểm chứng dương tính giả trên 2.556 lát não lành.</a:t>
            </a:r>
            <a:endParaRPr lang="en-US" sz="900" dirty="0"/>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400"/>
                                        <p:tgtEl>
                                          <p:spTgt spid="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3"/>
                                        </p:tgtEl>
                                        <p:attrNameLst>
                                          <p:attrName>style.visibility</p:attrName>
                                        </p:attrNameLst>
                                      </p:cBhvr>
                                      <p:to>
                                        <p:strVal val="visible"/>
                                      </p:to>
                                    </p:set>
                                    <p:animEffect transition="in" filter="fade">
                                      <p:cBhvr>
                                        <p:cTn id="115" dur="400"/>
                                        <p:tgtEl>
                                          <p:spTgt spid="13"/>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4"/>
                                        </p:tgtEl>
                                        <p:attrNameLst>
                                          <p:attrName>style.visibility</p:attrName>
                                        </p:attrNameLst>
                                      </p:cBhvr>
                                      <p:to>
                                        <p:strVal val="visible"/>
                                      </p:to>
                                    </p:set>
                                    <p:animEffect transition="in" filter="fade">
                                      <p:cBhvr>
                                        <p:cTn id="118" dur="400"/>
                                        <p:tgtEl>
                                          <p:spTgt spid="14"/>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5"/>
                                        </p:tgtEl>
                                        <p:attrNameLst>
                                          <p:attrName>style.visibility</p:attrName>
                                        </p:attrNameLst>
                                      </p:cBhvr>
                                      <p:to>
                                        <p:strVal val="visible"/>
                                      </p:to>
                                    </p:set>
                                    <p:animEffect transition="in" filter="fade">
                                      <p:cBhvr>
                                        <p:cTn id="121" dur="400"/>
                                        <p:tgtEl>
                                          <p:spTgt spid="1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6"/>
                                        </p:tgtEl>
                                        <p:attrNameLst>
                                          <p:attrName>style.visibility</p:attrName>
                                        </p:attrNameLst>
                                      </p:cBhvr>
                                      <p:to>
                                        <p:strVal val="visible"/>
                                      </p:to>
                                    </p:set>
                                    <p:animEffect transition="in" filter="fade">
                                      <p:cBhvr>
                                        <p:cTn id="124" dur="400"/>
                                        <p:tgtEl>
                                          <p:spTgt spid="16"/>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10"/>
                                        </p:tgtEl>
                                        <p:attrNameLst>
                                          <p:attrName>style.visibility</p:attrName>
                                        </p:attrNameLst>
                                      </p:cBhvr>
                                      <p:to>
                                        <p:strVal val="visible"/>
                                      </p:to>
                                    </p:set>
                                    <p:animEffect transition="in" filter="fade">
                                      <p:cBhvr>
                                        <p:cTn id="127" dur="400"/>
                                        <p:tgtEl>
                                          <p:spTgt spid="10"/>
                                        </p:tgtEl>
                                      </p:cBhvr>
                                    </p:animEffect>
                                  </p:childTnLst>
                                </p:cTn>
                              </p:par>
                              <p:par>
                                <p:cTn id="128" presetID="10" presetClass="entr" presetSubtype="0" fill="hold" grpId="0" nodeType="withEffect">
                                  <p:stCondLst>
                                    <p:cond delay="280"/>
                                  </p:stCondLst>
                                  <p:childTnLst>
                                    <p:set>
                                      <p:cBhvr>
                                        <p:cTn id="129" dur="1" fill="hold">
                                          <p:stCondLst>
                                            <p:cond delay="0"/>
                                          </p:stCondLst>
                                        </p:cTn>
                                        <p:tgtEl>
                                          <p:spTgt spid="11"/>
                                        </p:tgtEl>
                                        <p:attrNameLst>
                                          <p:attrName>style.visibility</p:attrName>
                                        </p:attrNameLst>
                                      </p:cBhvr>
                                      <p:to>
                                        <p:strVal val="visible"/>
                                      </p:to>
                                    </p:set>
                                    <p:animEffect transition="in" filter="fade">
                                      <p:cBhvr>
                                        <p:cTn id="130" dur="400"/>
                                        <p:tgtEl>
                                          <p:spTgt spid="11"/>
                                        </p:tgtEl>
                                      </p:cBhvr>
                                    </p:animEffect>
                                  </p:childTnLst>
                                </p:cTn>
                              </p:par>
                              <p:par>
                                <p:cTn id="131" presetID="10" presetClass="entr" presetSubtype="0" fill="hold" grpId="0" nodeType="withEffect">
                                  <p:stCondLst>
                                    <p:cond delay="280"/>
                                  </p:stCondLst>
                                  <p:childTnLst>
                                    <p:set>
                                      <p:cBhvr>
                                        <p:cTn id="132" dur="1" fill="hold">
                                          <p:stCondLst>
                                            <p:cond delay="0"/>
                                          </p:stCondLst>
                                        </p:cTn>
                                        <p:tgtEl>
                                          <p:spTgt spid="17"/>
                                        </p:tgtEl>
                                        <p:attrNameLst>
                                          <p:attrName>style.visibility</p:attrName>
                                        </p:attrNameLst>
                                      </p:cBhvr>
                                      <p:to>
                                        <p:strVal val="visible"/>
                                      </p:to>
                                    </p:set>
                                    <p:animEffect transition="in" filter="fade">
                                      <p:cBhvr>
                                        <p:cTn id="133" dur="400"/>
                                        <p:tgtEl>
                                          <p:spTgt spid="17"/>
                                        </p:tgtEl>
                                      </p:cBhvr>
                                    </p:animEffect>
                                  </p:childTnLst>
                                </p:cTn>
                              </p:par>
                              <p:par>
                                <p:cTn id="134" presetID="10" presetClass="entr" presetSubtype="0" fill="hold" grpId="0" nodeType="withEffect">
                                  <p:stCondLst>
                                    <p:cond delay="280"/>
                                  </p:stCondLst>
                                  <p:childTnLst>
                                    <p:set>
                                      <p:cBhvr>
                                        <p:cTn id="135" dur="1" fill="hold">
                                          <p:stCondLst>
                                            <p:cond delay="0"/>
                                          </p:stCondLst>
                                        </p:cTn>
                                        <p:tgtEl>
                                          <p:spTgt spid="18"/>
                                        </p:tgtEl>
                                        <p:attrNameLst>
                                          <p:attrName>style.visibility</p:attrName>
                                        </p:attrNameLst>
                                      </p:cBhvr>
                                      <p:to>
                                        <p:strVal val="visible"/>
                                      </p:to>
                                    </p:set>
                                    <p:animEffect transition="in" filter="fade">
                                      <p:cBhvr>
                                        <p:cTn id="136" dur="400"/>
                                        <p:tgtEl>
                                          <p:spTgt spid="18"/>
                                        </p:tgtEl>
                                      </p:cBhvr>
                                    </p:animEffect>
                                  </p:childTnLst>
                                </p:cTn>
                              </p:par>
                              <p:par>
                                <p:cTn id="137" presetID="10" presetClass="entr" presetSubtype="0" fill="hold" grpId="0" nodeType="withEffect">
                                  <p:stCondLst>
                                    <p:cond delay="560"/>
                                  </p:stCondLst>
                                  <p:childTnLst>
                                    <p:set>
                                      <p:cBhvr>
                                        <p:cTn id="138" dur="1" fill="hold">
                                          <p:stCondLst>
                                            <p:cond delay="0"/>
                                          </p:stCondLst>
                                        </p:cTn>
                                        <p:tgtEl>
                                          <p:spTgt spid="12"/>
                                        </p:tgtEl>
                                        <p:attrNameLst>
                                          <p:attrName>style.visibility</p:attrName>
                                        </p:attrNameLst>
                                      </p:cBhvr>
                                      <p:to>
                                        <p:strVal val="visible"/>
                                      </p:to>
                                    </p:set>
                                    <p:animEffect transition="in" filter="fade">
                                      <p:cBhvr>
                                        <p:cTn id="139" dur="400"/>
                                        <p:tgtEl>
                                          <p:spTgt spid="12"/>
                                        </p:tgtEl>
                                      </p:cBhvr>
                                    </p:animEffect>
                                  </p:childTnLst>
                                </p:cTn>
                              </p:par>
                              <p:par>
                                <p:cTn id="140" presetID="10" presetClass="entr" presetSubtype="0" fill="hold" grpId="0" nodeType="withEffect">
                                  <p:stCondLst>
                                    <p:cond delay="560"/>
                                  </p:stCondLst>
                                  <p:childTnLst>
                                    <p:set>
                                      <p:cBhvr>
                                        <p:cTn id="141" dur="1" fill="hold">
                                          <p:stCondLst>
                                            <p:cond delay="0"/>
                                          </p:stCondLst>
                                        </p:cTn>
                                        <p:tgtEl>
                                          <p:spTgt spid="19"/>
                                        </p:tgtEl>
                                        <p:attrNameLst>
                                          <p:attrName>style.visibility</p:attrName>
                                        </p:attrNameLst>
                                      </p:cBhvr>
                                      <p:to>
                                        <p:strVal val="visible"/>
                                      </p:to>
                                    </p:set>
                                    <p:animEffect transition="in" filter="fade">
                                      <p:cBhvr>
                                        <p:cTn id="142" dur="400"/>
                                        <p:tgtEl>
                                          <p:spTgt spid="19"/>
                                        </p:tgtEl>
                                      </p:cBhvr>
                                    </p:animEffect>
                                  </p:childTnLst>
                                </p:cTn>
                              </p:par>
                              <p:par>
                                <p:cTn id="143" presetID="10" presetClass="entr" presetSubtype="0" fill="hold" grpId="0" nodeType="withEffect">
                                  <p:stCondLst>
                                    <p:cond delay="84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400"/>
                                        <p:tgtEl>
                                          <p:spTgt spid="20"/>
                                        </p:tgtEl>
                                      </p:cBhvr>
                                    </p:animEffect>
                                  </p:childTnLst>
                                </p:cTn>
                              </p:par>
                              <p:par>
                                <p:cTn id="146" presetID="10" presetClass="entr" presetSubtype="0" fill="hold" grpId="0" nodeType="withEffect">
                                  <p:stCondLst>
                                    <p:cond delay="840"/>
                                  </p:stCondLst>
                                  <p:childTnLst>
                                    <p:set>
                                      <p:cBhvr>
                                        <p:cTn id="147" dur="1" fill="hold">
                                          <p:stCondLst>
                                            <p:cond delay="0"/>
                                          </p:stCondLst>
                                        </p:cTn>
                                        <p:tgtEl>
                                          <p:spTgt spid="21"/>
                                        </p:tgtEl>
                                        <p:attrNameLst>
                                          <p:attrName>style.visibility</p:attrName>
                                        </p:attrNameLst>
                                      </p:cBhvr>
                                      <p:to>
                                        <p:strVal val="visible"/>
                                      </p:to>
                                    </p:set>
                                    <p:animEffect transition="in" filter="fade">
                                      <p:cBhvr>
                                        <p:cTn id="148" dur="400"/>
                                        <p:tgtEl>
                                          <p:spTgt spid="21"/>
                                        </p:tgtEl>
                                      </p:cBhvr>
                                    </p:animEffect>
                                  </p:childTnLst>
                                </p:cTn>
                              </p:par>
                              <p:par>
                                <p:cTn id="149" presetID="10" presetClass="entr" presetSubtype="0" fill="hold" grpId="0" nodeType="withEffect">
                                  <p:stCondLst>
                                    <p:cond delay="840"/>
                                  </p:stCondLst>
                                  <p:childTnLst>
                                    <p:set>
                                      <p:cBhvr>
                                        <p:cTn id="150" dur="1" fill="hold">
                                          <p:stCondLst>
                                            <p:cond delay="0"/>
                                          </p:stCondLst>
                                        </p:cTn>
                                        <p:tgtEl>
                                          <p:spTgt spid="27"/>
                                        </p:tgtEl>
                                        <p:attrNameLst>
                                          <p:attrName>style.visibility</p:attrName>
                                        </p:attrNameLst>
                                      </p:cBhvr>
                                      <p:to>
                                        <p:strVal val="visible"/>
                                      </p:to>
                                    </p:set>
                                    <p:animEffect transition="in" filter="fade">
                                      <p:cBhvr>
                                        <p:cTn id="151" dur="400"/>
                                        <p:tgtEl>
                                          <p:spTgt spid="27"/>
                                        </p:tgtEl>
                                      </p:cBhvr>
                                    </p:animEffect>
                                  </p:childTnLst>
                                </p:cTn>
                              </p:par>
                              <p:par>
                                <p:cTn id="152" presetID="10" presetClass="entr" presetSubtype="0" fill="hold" grpId="0" nodeType="withEffect">
                                  <p:stCondLst>
                                    <p:cond delay="840"/>
                                  </p:stCondLst>
                                  <p:childTnLst>
                                    <p:set>
                                      <p:cBhvr>
                                        <p:cTn id="153" dur="1" fill="hold">
                                          <p:stCondLst>
                                            <p:cond delay="0"/>
                                          </p:stCondLst>
                                        </p:cTn>
                                        <p:tgtEl>
                                          <p:spTgt spid="28"/>
                                        </p:tgtEl>
                                        <p:attrNameLst>
                                          <p:attrName>style.visibility</p:attrName>
                                        </p:attrNameLst>
                                      </p:cBhvr>
                                      <p:to>
                                        <p:strVal val="visible"/>
                                      </p:to>
                                    </p:set>
                                    <p:animEffect transition="in" filter="fade">
                                      <p:cBhvr>
                                        <p:cTn id="154" dur="400"/>
                                        <p:tgtEl>
                                          <p:spTgt spid="28"/>
                                        </p:tgtEl>
                                      </p:cBhvr>
                                    </p:animEffect>
                                  </p:childTnLst>
                                </p:cTn>
                              </p:par>
                              <p:par>
                                <p:cTn id="155" presetID="10" presetClass="entr" presetSubtype="0" fill="hold" grpId="0" nodeType="withEffect">
                                  <p:stCondLst>
                                    <p:cond delay="1120"/>
                                  </p:stCondLst>
                                  <p:childTnLst>
                                    <p:set>
                                      <p:cBhvr>
                                        <p:cTn id="156" dur="1" fill="hold">
                                          <p:stCondLst>
                                            <p:cond delay="0"/>
                                          </p:stCondLst>
                                        </p:cTn>
                                        <p:tgtEl>
                                          <p:spTgt spid="22"/>
                                        </p:tgtEl>
                                        <p:attrNameLst>
                                          <p:attrName>style.visibility</p:attrName>
                                        </p:attrNameLst>
                                      </p:cBhvr>
                                      <p:to>
                                        <p:strVal val="visible"/>
                                      </p:to>
                                    </p:set>
                                    <p:animEffect transition="in" filter="fade">
                                      <p:cBhvr>
                                        <p:cTn id="157" dur="400"/>
                                        <p:tgtEl>
                                          <p:spTgt spid="22"/>
                                        </p:tgtEl>
                                      </p:cBhvr>
                                    </p:animEffect>
                                  </p:childTnLst>
                                </p:cTn>
                              </p:par>
                              <p:par>
                                <p:cTn id="158" presetID="10" presetClass="entr" presetSubtype="0" fill="hold" grpId="0" nodeType="withEffect">
                                  <p:stCondLst>
                                    <p:cond delay="1120"/>
                                  </p:stCondLst>
                                  <p:childTnLst>
                                    <p:set>
                                      <p:cBhvr>
                                        <p:cTn id="159" dur="1" fill="hold">
                                          <p:stCondLst>
                                            <p:cond delay="0"/>
                                          </p:stCondLst>
                                        </p:cTn>
                                        <p:tgtEl>
                                          <p:spTgt spid="23"/>
                                        </p:tgtEl>
                                        <p:attrNameLst>
                                          <p:attrName>style.visibility</p:attrName>
                                        </p:attrNameLst>
                                      </p:cBhvr>
                                      <p:to>
                                        <p:strVal val="visible"/>
                                      </p:to>
                                    </p:set>
                                    <p:animEffect transition="in" filter="fade">
                                      <p:cBhvr>
                                        <p:cTn id="160" dur="400"/>
                                        <p:tgtEl>
                                          <p:spTgt spid="23"/>
                                        </p:tgtEl>
                                      </p:cBhvr>
                                    </p:animEffect>
                                  </p:childTnLst>
                                </p:cTn>
                              </p:par>
                              <p:par>
                                <p:cTn id="161" presetID="10" presetClass="entr" presetSubtype="0" fill="hold" grpId="0" nodeType="withEffect">
                                  <p:stCondLst>
                                    <p:cond delay="1120"/>
                                  </p:stCondLst>
                                  <p:childTnLst>
                                    <p:set>
                                      <p:cBhvr>
                                        <p:cTn id="162" dur="1" fill="hold">
                                          <p:stCondLst>
                                            <p:cond delay="0"/>
                                          </p:stCondLst>
                                        </p:cTn>
                                        <p:tgtEl>
                                          <p:spTgt spid="24"/>
                                        </p:tgtEl>
                                        <p:attrNameLst>
                                          <p:attrName>style.visibility</p:attrName>
                                        </p:attrNameLst>
                                      </p:cBhvr>
                                      <p:to>
                                        <p:strVal val="visible"/>
                                      </p:to>
                                    </p:set>
                                    <p:animEffect transition="in" filter="fade">
                                      <p:cBhvr>
                                        <p:cTn id="163" dur="400"/>
                                        <p:tgtEl>
                                          <p:spTgt spid="24"/>
                                        </p:tgtEl>
                                      </p:cBhvr>
                                    </p:animEffect>
                                  </p:childTnLst>
                                </p:cTn>
                              </p:par>
                              <p:par>
                                <p:cTn id="164" presetID="10" presetClass="entr" presetSubtype="0" fill="hold" grpId="0" nodeType="withEffect">
                                  <p:stCondLst>
                                    <p:cond delay="1120"/>
                                  </p:stCondLst>
                                  <p:childTnLst>
                                    <p:set>
                                      <p:cBhvr>
                                        <p:cTn id="165" dur="1" fill="hold">
                                          <p:stCondLst>
                                            <p:cond delay="0"/>
                                          </p:stCondLst>
                                        </p:cTn>
                                        <p:tgtEl>
                                          <p:spTgt spid="25"/>
                                        </p:tgtEl>
                                        <p:attrNameLst>
                                          <p:attrName>style.visibility</p:attrName>
                                        </p:attrNameLst>
                                      </p:cBhvr>
                                      <p:to>
                                        <p:strVal val="visible"/>
                                      </p:to>
                                    </p:set>
                                    <p:animEffect transition="in" filter="fade">
                                      <p:cBhvr>
                                        <p:cTn id="166" dur="400"/>
                                        <p:tgtEl>
                                          <p:spTgt spid="25"/>
                                        </p:tgtEl>
                                      </p:cBhvr>
                                    </p:animEffect>
                                  </p:childTnLst>
                                </p:cTn>
                              </p:par>
                              <p:par>
                                <p:cTn id="167" presetID="10" presetClass="entr" presetSubtype="0" fill="hold" grpId="0" nodeType="withEffect">
                                  <p:stCondLst>
                                    <p:cond delay="1120"/>
                                  </p:stCondLst>
                                  <p:childTnLst>
                                    <p:set>
                                      <p:cBhvr>
                                        <p:cTn id="168" dur="1" fill="hold">
                                          <p:stCondLst>
                                            <p:cond delay="0"/>
                                          </p:stCondLst>
                                        </p:cTn>
                                        <p:tgtEl>
                                          <p:spTgt spid="29"/>
                                        </p:tgtEl>
                                        <p:attrNameLst>
                                          <p:attrName>style.visibility</p:attrName>
                                        </p:attrNameLst>
                                      </p:cBhvr>
                                      <p:to>
                                        <p:strVal val="visible"/>
                                      </p:to>
                                    </p:set>
                                    <p:animEffect transition="in" filter="fade">
                                      <p:cBhvr>
                                        <p:cTn id="169" dur="400"/>
                                        <p:tgtEl>
                                          <p:spTgt spid="29"/>
                                        </p:tgtEl>
                                      </p:cBhvr>
                                    </p:animEffect>
                                  </p:childTnLst>
                                </p:cTn>
                              </p:par>
                              <p:par>
                                <p:cTn id="170" presetID="10" presetClass="entr" presetSubtype="0" fill="hold" grpId="0" nodeType="withEffect">
                                  <p:stCondLst>
                                    <p:cond delay="1120"/>
                                  </p:stCondLst>
                                  <p:childTnLst>
                                    <p:set>
                                      <p:cBhvr>
                                        <p:cTn id="171" dur="1" fill="hold">
                                          <p:stCondLst>
                                            <p:cond delay="0"/>
                                          </p:stCondLst>
                                        </p:cTn>
                                        <p:tgtEl>
                                          <p:spTgt spid="30"/>
                                        </p:tgtEl>
                                        <p:attrNameLst>
                                          <p:attrName>style.visibility</p:attrName>
                                        </p:attrNameLst>
                                      </p:cBhvr>
                                      <p:to>
                                        <p:strVal val="visible"/>
                                      </p:to>
                                    </p:set>
                                    <p:animEffect transition="in" filter="fade">
                                      <p:cBhvr>
                                        <p:cTn id="172" dur="400"/>
                                        <p:tgtEl>
                                          <p:spTgt spid="30"/>
                                        </p:tgtEl>
                                      </p:cBhvr>
                                    </p:animEffect>
                                  </p:childTnLst>
                                </p:cTn>
                              </p:par>
                              <p:par>
                                <p:cTn id="173" presetID="10" presetClass="entr" presetSubtype="0" fill="hold" grpId="0" nodeType="withEffect">
                                  <p:stCondLst>
                                    <p:cond delay="1120"/>
                                  </p:stCondLst>
                                  <p:childTnLst>
                                    <p:set>
                                      <p:cBhvr>
                                        <p:cTn id="174" dur="1" fill="hold">
                                          <p:stCondLst>
                                            <p:cond delay="0"/>
                                          </p:stCondLst>
                                        </p:cTn>
                                        <p:tgtEl>
                                          <p:spTgt spid="31"/>
                                        </p:tgtEl>
                                        <p:attrNameLst>
                                          <p:attrName>style.visibility</p:attrName>
                                        </p:attrNameLst>
                                      </p:cBhvr>
                                      <p:to>
                                        <p:strVal val="visible"/>
                                      </p:to>
                                    </p:set>
                                    <p:animEffect transition="in" filter="fade">
                                      <p:cBhvr>
                                        <p:cTn id="175" dur="400"/>
                                        <p:tgtEl>
                                          <p:spTgt spid="31"/>
                                        </p:tgtEl>
                                      </p:cBhvr>
                                    </p:animEffect>
                                  </p:childTnLst>
                                </p:cTn>
                              </p:par>
                              <p:par>
                                <p:cTn id="176" presetID="10" presetClass="entr" presetSubtype="0" fill="hold" grpId="0" nodeType="withEffect">
                                  <p:stCondLst>
                                    <p:cond delay="1120"/>
                                  </p:stCondLst>
                                  <p:childTnLst>
                                    <p:set>
                                      <p:cBhvr>
                                        <p:cTn id="177" dur="1" fill="hold">
                                          <p:stCondLst>
                                            <p:cond delay="0"/>
                                          </p:stCondLst>
                                        </p:cTn>
                                        <p:tgtEl>
                                          <p:spTgt spid="32"/>
                                        </p:tgtEl>
                                        <p:attrNameLst>
                                          <p:attrName>style.visibility</p:attrName>
                                        </p:attrNameLst>
                                      </p:cBhvr>
                                      <p:to>
                                        <p:strVal val="visible"/>
                                      </p:to>
                                    </p:set>
                                    <p:animEffect transition="in" filter="fade">
                                      <p:cBhvr>
                                        <p:cTn id="178" dur="400"/>
                                        <p:tgtEl>
                                          <p:spTgt spid="32"/>
                                        </p:tgtEl>
                                      </p:cBhvr>
                                    </p:animEffect>
                                  </p:childTnLst>
                                </p:cTn>
                              </p:par>
                              <p:par>
                                <p:cTn id="179" presetID="10" presetClass="entr" presetSubtype="0" fill="hold" grpId="0" nodeType="withEffect">
                                  <p:stCondLst>
                                    <p:cond delay="1400"/>
                                  </p:stCondLst>
                                  <p:childTnLst>
                                    <p:set>
                                      <p:cBhvr>
                                        <p:cTn id="180" dur="1" fill="hold">
                                          <p:stCondLst>
                                            <p:cond delay="0"/>
                                          </p:stCondLst>
                                        </p:cTn>
                                        <p:tgtEl>
                                          <p:spTgt spid="26"/>
                                        </p:tgtEl>
                                        <p:attrNameLst>
                                          <p:attrName>style.visibility</p:attrName>
                                        </p:attrNameLst>
                                      </p:cBhvr>
                                      <p:to>
                                        <p:strVal val="visible"/>
                                      </p:to>
                                    </p:set>
                                    <p:animEffect transition="in" filter="fade">
                                      <p:cBhvr>
                                        <p:cTn id="181" dur="400"/>
                                        <p:tgtEl>
                                          <p:spTgt spid="26"/>
                                        </p:tgtEl>
                                      </p:cBhvr>
                                    </p:animEffect>
                                  </p:childTnLst>
                                </p:cTn>
                              </p:par>
                              <p:par>
                                <p:cTn id="182" presetID="10" presetClass="entr" presetSubtype="0" fill="hold" grpId="0" nodeType="withEffect">
                                  <p:stCondLst>
                                    <p:cond delay="1400"/>
                                  </p:stCondLst>
                                  <p:childTnLst>
                                    <p:set>
                                      <p:cBhvr>
                                        <p:cTn id="183" dur="1" fill="hold">
                                          <p:stCondLst>
                                            <p:cond delay="0"/>
                                          </p:stCondLst>
                                        </p:cTn>
                                        <p:tgtEl>
                                          <p:spTgt spid="33"/>
                                        </p:tgtEl>
                                        <p:attrNameLst>
                                          <p:attrName>style.visibility</p:attrName>
                                        </p:attrNameLst>
                                      </p:cBhvr>
                                      <p:to>
                                        <p:strVal val="visible"/>
                                      </p:to>
                                    </p:set>
                                    <p:animEffect transition="in" filter="fade">
                                      <p:cBhvr>
                                        <p:cTn id="18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10  ·  KẾT QUẢ THỰC NGHIỆM</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So sánh định lượng trên 3.929 lát cắt TCGA-LGG</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11 / 20</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138160" cy="914400"/>
        </p:xfrm>
        <a:graphic>
          <a:graphicData uri="http://schemas.openxmlformats.org/drawingml/2006/table">
            <a:tbl>
              <a:tblPr/>
              <a:tblGrid>
                <a:gridCol w="2240280"/>
                <a:gridCol w="2148840"/>
                <a:gridCol w="2331720"/>
                <a:gridCol w="1417320"/>
              </a:tblGrid>
              <a:tr h="329184">
                <a:tc>
                  <a:txBody>
                    <a:bodyPr/>
                    <a:lstStyle/>
                    <a:p>
                      <a:pPr algn="ctr" indent="0" marL="0">
                        <a:buNone/>
                      </a:pPr>
                      <a:r>
                        <a:rPr lang="en-US" sz="950" b="1" dirty="0">
                          <a:solidFill>
                            <a:srgbClr val="FFFFFF"/>
                          </a:solidFill>
                          <a:latin typeface="Segoe UI Semibold" pitchFamily="34" charset="0"/>
                          <a:ea typeface="Segoe UI Semibold" pitchFamily="34" charset="-122"/>
                          <a:cs typeface="Segoe UI Semibold" pitchFamily="34" charset="-120"/>
                        </a:rPr>
                        <a:t>Chỉ số (Mean ± Std)</a:t>
                      </a:r>
                      <a:endParaRPr lang="en-US" sz="950" dirty="0">
                        <a:latin typeface="Segoe UI Semibold" charset="0"/>
                        <a:ea typeface="Segoe UI Semibold" charset="0"/>
                        <a:cs typeface="Segoe UI Semibold"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065A82"/>
                    </a:solidFill>
                  </a:tcPr>
                </a:tc>
                <a:tc>
                  <a:txBody>
                    <a:bodyPr/>
                    <a:lstStyle/>
                    <a:p>
                      <a:pPr algn="ctr" indent="0" marL="0">
                        <a:buNone/>
                      </a:pPr>
                      <a:r>
                        <a:rPr lang="en-US" sz="950" b="1" dirty="0">
                          <a:solidFill>
                            <a:srgbClr val="FFFFFF"/>
                          </a:solidFill>
                          <a:latin typeface="Segoe UI Semibold" pitchFamily="34" charset="0"/>
                          <a:ea typeface="Segoe UI Semibold" pitchFamily="34" charset="-122"/>
                          <a:cs typeface="Segoe UI Semibold" pitchFamily="34" charset="-120"/>
                        </a:rPr>
                        <a:t>Watershed (Baseline)</a:t>
                      </a:r>
                      <a:endParaRPr lang="en-US" sz="950" dirty="0">
                        <a:latin typeface="Segoe UI Semibold" charset="0"/>
                        <a:ea typeface="Segoe UI Semibold" charset="0"/>
                        <a:cs typeface="Segoe UI Semibold"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065A82"/>
                    </a:solidFill>
                  </a:tcPr>
                </a:tc>
                <a:tc>
                  <a:txBody>
                    <a:bodyPr/>
                    <a:lstStyle/>
                    <a:p>
                      <a:pPr algn="ctr" indent="0" marL="0">
                        <a:buNone/>
                      </a:pPr>
                      <a:r>
                        <a:rPr lang="en-US" sz="950" b="1" dirty="0">
                          <a:solidFill>
                            <a:srgbClr val="FFFFFF"/>
                          </a:solidFill>
                          <a:latin typeface="Segoe UI Semibold" pitchFamily="34" charset="0"/>
                          <a:ea typeface="Segoe UI Semibold" pitchFamily="34" charset="-122"/>
                          <a:cs typeface="Segoe UI Semibold" pitchFamily="34" charset="-120"/>
                        </a:rPr>
                        <a:t>Region Growing (Đối chứng)</a:t>
                      </a:r>
                      <a:endParaRPr lang="en-US" sz="950" dirty="0">
                        <a:latin typeface="Segoe UI Semibold" charset="0"/>
                        <a:ea typeface="Segoe UI Semibold" charset="0"/>
                        <a:cs typeface="Segoe UI Semibold"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065A82"/>
                    </a:solidFill>
                  </a:tcPr>
                </a:tc>
                <a:tc>
                  <a:txBody>
                    <a:bodyPr/>
                    <a:lstStyle/>
                    <a:p>
                      <a:pPr algn="ctr" indent="0" marL="0">
                        <a:buNone/>
                      </a:pPr>
                      <a:r>
                        <a:rPr lang="en-US" sz="950" b="1" dirty="0">
                          <a:solidFill>
                            <a:srgbClr val="FFFFFF"/>
                          </a:solidFill>
                          <a:latin typeface="Segoe UI Semibold" pitchFamily="34" charset="0"/>
                          <a:ea typeface="Segoe UI Semibold" pitchFamily="34" charset="-122"/>
                          <a:cs typeface="Segoe UI Semibold" pitchFamily="34" charset="-120"/>
                        </a:rPr>
                        <a:t>Chênh lệch</a:t>
                      </a:r>
                      <a:endParaRPr lang="en-US" sz="950" dirty="0">
                        <a:latin typeface="Segoe UI Semibold" charset="0"/>
                        <a:ea typeface="Segoe UI Semibold" charset="0"/>
                        <a:cs typeface="Segoe UI Semibold"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065A82"/>
                    </a:solidFill>
                  </a:tcPr>
                </a:tc>
              </a:tr>
              <a:tr h="347472">
                <a:tc>
                  <a:txBody>
                    <a:bodyPr/>
                    <a:lstStyle/>
                    <a:p>
                      <a:pPr algn="l" indent="0" marL="0">
                        <a:buNone/>
                      </a:pPr>
                      <a:r>
                        <a:rPr lang="en-US" sz="950" b="1" dirty="0">
                          <a:solidFill>
                            <a:srgbClr val="1E293B"/>
                          </a:solidFill>
                          <a:latin typeface="Segoe UI" pitchFamily="34" charset="0"/>
                          <a:ea typeface="Segoe UI" pitchFamily="34" charset="-122"/>
                          <a:cs typeface="Segoe UI" pitchFamily="34" charset="-120"/>
                        </a:rPr>
                        <a:t>Dice (DSC / F1)</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65A82"/>
                          </a:solidFill>
                          <a:latin typeface="Segoe UI" pitchFamily="34" charset="0"/>
                          <a:ea typeface="Segoe UI" pitchFamily="34" charset="-122"/>
                          <a:cs typeface="Segoe UI" pitchFamily="34" charset="-120"/>
                        </a:rPr>
                        <a:t>0,4446 ± 0,3014</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93B"/>
                          </a:solidFill>
                          <a:latin typeface="Segoe UI" pitchFamily="34" charset="0"/>
                          <a:ea typeface="Segoe UI" pitchFamily="34" charset="-122"/>
                          <a:cs typeface="Segoe UI" pitchFamily="34" charset="-120"/>
                        </a:rPr>
                        <a:t>0,1990 ± 0,2682</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A896"/>
                          </a:solidFill>
                          <a:latin typeface="Segoe UI" pitchFamily="34" charset="0"/>
                          <a:ea typeface="Segoe UI" pitchFamily="34" charset="-122"/>
                          <a:cs typeface="Segoe UI" pitchFamily="34" charset="-120"/>
                        </a:rPr>
                        <a:t>+123%</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1E293B"/>
                          </a:solidFill>
                          <a:latin typeface="Segoe UI" pitchFamily="34" charset="0"/>
                          <a:ea typeface="Segoe UI" pitchFamily="34" charset="-122"/>
                          <a:cs typeface="Segoe UI" pitchFamily="34" charset="-120"/>
                        </a:rPr>
                        <a:t>IoU (Jaccard)</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65A82"/>
                          </a:solidFill>
                          <a:latin typeface="Segoe UI" pitchFamily="34" charset="0"/>
                          <a:ea typeface="Segoe UI" pitchFamily="34" charset="-122"/>
                          <a:cs typeface="Segoe UI" pitchFamily="34" charset="-120"/>
                        </a:rPr>
                        <a:t>0,3368 ± 0,2677</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93B"/>
                          </a:solidFill>
                          <a:latin typeface="Segoe UI" pitchFamily="34" charset="0"/>
                          <a:ea typeface="Segoe UI" pitchFamily="34" charset="-122"/>
                          <a:cs typeface="Segoe UI" pitchFamily="34" charset="-120"/>
                        </a:rPr>
                        <a:t>0,1416 ± 0,2119</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A896"/>
                          </a:solidFill>
                          <a:latin typeface="Segoe UI" pitchFamily="34" charset="0"/>
                          <a:ea typeface="Segoe UI" pitchFamily="34" charset="-122"/>
                          <a:cs typeface="Segoe UI" pitchFamily="34" charset="-120"/>
                        </a:rPr>
                        <a:t>+138%</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1E293B"/>
                          </a:solidFill>
                          <a:latin typeface="Segoe UI" pitchFamily="34" charset="0"/>
                          <a:ea typeface="Segoe UI" pitchFamily="34" charset="-122"/>
                          <a:cs typeface="Segoe UI" pitchFamily="34" charset="-120"/>
                        </a:rPr>
                        <a:t>Sensitivity</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65A82"/>
                          </a:solidFill>
                          <a:latin typeface="Segoe UI" pitchFamily="34" charset="0"/>
                          <a:ea typeface="Segoe UI" pitchFamily="34" charset="-122"/>
                          <a:cs typeface="Segoe UI" pitchFamily="34" charset="-120"/>
                        </a:rPr>
                        <a:t>0,4436 ± 0,3170</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93B"/>
                          </a:solidFill>
                          <a:latin typeface="Segoe UI" pitchFamily="34" charset="0"/>
                          <a:ea typeface="Segoe UI" pitchFamily="34" charset="-122"/>
                          <a:cs typeface="Segoe UI" pitchFamily="34" charset="-120"/>
                        </a:rPr>
                        <a:t>0,2226 ± 0,3221</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A896"/>
                          </a:solidFill>
                          <a:latin typeface="Segoe UI" pitchFamily="34" charset="0"/>
                          <a:ea typeface="Segoe UI" pitchFamily="34" charset="-122"/>
                          <a:cs typeface="Segoe UI" pitchFamily="34" charset="-120"/>
                        </a:rPr>
                        <a:t>+99%</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1E293B"/>
                          </a:solidFill>
                          <a:latin typeface="Segoe UI" pitchFamily="34" charset="0"/>
                          <a:ea typeface="Segoe UI" pitchFamily="34" charset="-122"/>
                          <a:cs typeface="Segoe UI" pitchFamily="34" charset="-120"/>
                        </a:rPr>
                        <a:t>Specificity</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65A82"/>
                          </a:solidFill>
                          <a:latin typeface="Segoe UI" pitchFamily="34" charset="0"/>
                          <a:ea typeface="Segoe UI" pitchFamily="34" charset="-122"/>
                          <a:cs typeface="Segoe UI" pitchFamily="34" charset="-120"/>
                        </a:rPr>
                        <a:t>0,9915 ± 0,0107</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93B"/>
                          </a:solidFill>
                          <a:latin typeface="Segoe UI" pitchFamily="34" charset="0"/>
                          <a:ea typeface="Segoe UI" pitchFamily="34" charset="-122"/>
                          <a:cs typeface="Segoe UI" pitchFamily="34" charset="-120"/>
                        </a:rPr>
                        <a:t>0,9851 ± 0,0432</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A896"/>
                          </a:solidFill>
                          <a:latin typeface="Segoe UI" pitchFamily="34" charset="0"/>
                          <a:ea typeface="Segoe UI" pitchFamily="34" charset="-122"/>
                          <a:cs typeface="Segoe UI" pitchFamily="34" charset="-120"/>
                        </a:rPr>
                        <a:t>+0,6%</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1E293B"/>
                          </a:solidFill>
                          <a:latin typeface="Segoe UI" pitchFamily="34" charset="0"/>
                          <a:ea typeface="Segoe UI" pitchFamily="34" charset="-122"/>
                          <a:cs typeface="Segoe UI" pitchFamily="34" charset="-120"/>
                        </a:rPr>
                        <a:t>Độ trễ / lát cắt</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65A82"/>
                          </a:solidFill>
                          <a:latin typeface="Segoe UI" pitchFamily="34" charset="0"/>
                          <a:ea typeface="Segoe UI" pitchFamily="34" charset="-122"/>
                          <a:cs typeface="Segoe UI" pitchFamily="34" charset="-120"/>
                        </a:rPr>
                        <a:t>6,13 ± 3,32 ms</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93B"/>
                          </a:solidFill>
                          <a:latin typeface="Segoe UI" pitchFamily="34" charset="0"/>
                          <a:ea typeface="Segoe UI" pitchFamily="34" charset="-122"/>
                          <a:cs typeface="Segoe UI" pitchFamily="34" charset="-120"/>
                        </a:rPr>
                        <a:t>12,13 ± 22,83 ms</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A896"/>
                          </a:solidFill>
                          <a:latin typeface="Segoe UI" pitchFamily="34" charset="0"/>
                          <a:ea typeface="Segoe UI" pitchFamily="34" charset="-122"/>
                          <a:cs typeface="Segoe UI" pitchFamily="34" charset="-120"/>
                        </a:rPr>
                        <a:t>nhanh gấp 2</a:t>
                      </a:r>
                      <a:endParaRPr lang="en-US" sz="950" dirty="0">
                        <a:latin typeface="Segoe UI" charset="0"/>
                        <a:ea typeface="Segoe UI" charset="0"/>
                        <a:cs typeface="Segoe UI" charset="0"/>
                      </a:endParaRPr>
                    </a:p>
                  </a:txBody>
                  <a:tcPr marL="54864" marR="54864" marT="54864" marB="54864" anchor="ctr">
                    <a:lnL w="9525" cap="flat" cmpd="sng" algn="ctr">
                      <a:solidFill>
                        <a:srgbClr val="D1E3E8"/>
                      </a:solidFill>
                      <a:prstDash val="solid"/>
                      <a:round/>
                      <a:headEnd type="none" w="med" len="med"/>
                      <a:tailEnd type="none" w="med" len="med"/>
                    </a:lnL>
                    <a:lnR w="9525" cap="flat" cmpd="sng" algn="ctr">
                      <a:solidFill>
                        <a:srgbClr val="D1E3E8"/>
                      </a:solidFill>
                      <a:prstDash val="solid"/>
                      <a:round/>
                      <a:headEnd type="none" w="med" len="med"/>
                      <a:tailEnd type="none" w="med" len="med"/>
                    </a:lnR>
                    <a:lnT w="9525" cap="flat" cmpd="sng" algn="ctr">
                      <a:solidFill>
                        <a:srgbClr val="D1E3E8"/>
                      </a:solidFill>
                      <a:prstDash val="solid"/>
                      <a:round/>
                      <a:headEnd type="none" w="med" len="med"/>
                      <a:tailEnd type="none" w="med" len="med"/>
                    </a:lnT>
                    <a:lnB w="9525" cap="flat" cmpd="sng" algn="ctr">
                      <a:solidFill>
                        <a:srgbClr val="D1E3E8"/>
                      </a:solidFill>
                      <a:prstDash val="solid"/>
                      <a:round/>
                      <a:headEnd type="none" w="med" len="med"/>
                      <a:tailEnd type="none" w="med" len="med"/>
                    </a:lnB>
                    <a:solidFill>
                      <a:srgbClr val="FFFFFF"/>
                    </a:solidFill>
                  </a:tcPr>
                </a:tc>
              </a:tr>
            </a:tbl>
          </a:graphicData>
        </a:graphic>
      </p:graphicFrame>
      <p:sp>
        <p:nvSpPr>
          <p:cNvPr id="7" name="Text 4"/>
          <p:cNvSpPr/>
          <p:nvPr/>
        </p:nvSpPr>
        <p:spPr>
          <a:xfrm>
            <a:off x="502920" y="3401568"/>
            <a:ext cx="8138160" cy="201168"/>
          </a:xfrm>
          <a:prstGeom prst="rect">
            <a:avLst/>
          </a:prstGeom>
          <a:noFill/>
          <a:ln/>
        </p:spPr>
        <p:txBody>
          <a:bodyPr wrap="square" lIns="0" tIns="0" rIns="0" bIns="0" rtlCol="0" anchor="ctr"/>
          <a:lstStyle/>
          <a:p>
            <a:pPr algn="ctr" indent="0" marL="0">
              <a:buNone/>
            </a:pPr>
            <a:r>
              <a:rPr lang="en-US" sz="800" i="1" dirty="0">
                <a:solidFill>
                  <a:srgbClr val="5F7186"/>
                </a:solidFill>
                <a:latin typeface="Segoe UI" pitchFamily="34" charset="0"/>
                <a:ea typeface="Segoe UI" pitchFamily="34" charset="-122"/>
                <a:cs typeface="Segoe UI" pitchFamily="34" charset="-120"/>
              </a:rPr>
              <a:t>Bảng 6.1: Kết quả trên 1.373 lát cắt có u (Mean ± Std) — số liệu trích từ báo cáo đồ án</a:t>
            </a:r>
            <a:endParaRPr lang="en-US" sz="800" dirty="0"/>
          </a:p>
        </p:txBody>
      </p:sp>
      <p:sp>
        <p:nvSpPr>
          <p:cNvPr id="8" name="Shape 5"/>
          <p:cNvSpPr/>
          <p:nvPr/>
        </p:nvSpPr>
        <p:spPr>
          <a:xfrm>
            <a:off x="502920" y="3712464"/>
            <a:ext cx="2615184" cy="822960"/>
          </a:xfrm>
          <a:prstGeom prst="roundRect">
            <a:avLst>
              <a:gd name="adj" fmla="val 6667"/>
            </a:avLst>
          </a:prstGeom>
          <a:solidFill>
            <a:srgbClr val="065A82"/>
          </a:solidFill>
          <a:ln w="9525">
            <a:solidFill>
              <a:srgbClr val="065A82"/>
            </a:solidFill>
            <a:prstDash val="solid"/>
          </a:ln>
        </p:spPr>
      </p:sp>
      <p:sp>
        <p:nvSpPr>
          <p:cNvPr id="9" name="Text 6"/>
          <p:cNvSpPr/>
          <p:nvPr/>
        </p:nvSpPr>
        <p:spPr>
          <a:xfrm>
            <a:off x="685800" y="3803904"/>
            <a:ext cx="2194560" cy="310896"/>
          </a:xfrm>
          <a:prstGeom prst="rect">
            <a:avLst/>
          </a:prstGeom>
          <a:noFill/>
          <a:ln/>
        </p:spPr>
        <p:txBody>
          <a:bodyPr wrap="square" lIns="0" tIns="0" rIns="0" bIns="0" rtlCol="0" anchor="ctr"/>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2,23×</a:t>
            </a:r>
            <a:endParaRPr lang="en-US" sz="1700" dirty="0"/>
          </a:p>
        </p:txBody>
      </p:sp>
      <p:sp>
        <p:nvSpPr>
          <p:cNvPr id="10" name="Text 7"/>
          <p:cNvSpPr/>
          <p:nvPr/>
        </p:nvSpPr>
        <p:spPr>
          <a:xfrm>
            <a:off x="685800" y="4096512"/>
            <a:ext cx="2249424" cy="329184"/>
          </a:xfrm>
          <a:prstGeom prst="rect">
            <a:avLst/>
          </a:prstGeom>
          <a:noFill/>
          <a:ln/>
        </p:spPr>
        <p:txBody>
          <a:bodyPr wrap="square" lIns="0" tIns="0" rIns="0" bIns="0" rtlCol="0" anchor="t"/>
          <a:lstStyle/>
          <a:p>
            <a:pPr indent="0" marL="0">
              <a:lnSpc>
                <a:spcPct val="110000"/>
              </a:lnSpc>
              <a:buNone/>
            </a:pPr>
            <a:r>
              <a:rPr lang="en-US" sz="800" dirty="0">
                <a:solidFill>
                  <a:srgbClr val="CBE8EF"/>
                </a:solidFill>
                <a:latin typeface="Segoe UI" pitchFamily="34" charset="0"/>
                <a:ea typeface="Segoe UI" pitchFamily="34" charset="-122"/>
                <a:cs typeface="Segoe UI" pitchFamily="34" charset="-120"/>
              </a:rPr>
              <a:t>Dice của Watershed so với Region Growing</a:t>
            </a:r>
            <a:endParaRPr lang="en-US" sz="800" dirty="0"/>
          </a:p>
        </p:txBody>
      </p:sp>
      <p:sp>
        <p:nvSpPr>
          <p:cNvPr id="11" name="Shape 8"/>
          <p:cNvSpPr/>
          <p:nvPr/>
        </p:nvSpPr>
        <p:spPr>
          <a:xfrm>
            <a:off x="3300984" y="3712464"/>
            <a:ext cx="2615184" cy="822960"/>
          </a:xfrm>
          <a:prstGeom prst="roundRect">
            <a:avLst>
              <a:gd name="adj" fmla="val 6667"/>
            </a:avLst>
          </a:prstGeom>
          <a:solidFill>
            <a:srgbClr val="065A82"/>
          </a:solidFill>
          <a:ln w="9525">
            <a:solidFill>
              <a:srgbClr val="065A82"/>
            </a:solidFill>
            <a:prstDash val="solid"/>
          </a:ln>
        </p:spPr>
      </p:sp>
      <p:sp>
        <p:nvSpPr>
          <p:cNvPr id="12" name="Text 9"/>
          <p:cNvSpPr/>
          <p:nvPr/>
        </p:nvSpPr>
        <p:spPr>
          <a:xfrm>
            <a:off x="3483864" y="3803904"/>
            <a:ext cx="2194560" cy="310896"/>
          </a:xfrm>
          <a:prstGeom prst="rect">
            <a:avLst/>
          </a:prstGeom>
          <a:noFill/>
          <a:ln/>
        </p:spPr>
        <p:txBody>
          <a:bodyPr wrap="square" lIns="0" tIns="0" rIns="0" bIns="0" rtlCol="0" anchor="ctr"/>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0,9915</a:t>
            </a:r>
            <a:endParaRPr lang="en-US" sz="1700" dirty="0"/>
          </a:p>
        </p:txBody>
      </p:sp>
      <p:sp>
        <p:nvSpPr>
          <p:cNvPr id="13" name="Text 10"/>
          <p:cNvSpPr/>
          <p:nvPr/>
        </p:nvSpPr>
        <p:spPr>
          <a:xfrm>
            <a:off x="3483864" y="4096512"/>
            <a:ext cx="2249424" cy="329184"/>
          </a:xfrm>
          <a:prstGeom prst="rect">
            <a:avLst/>
          </a:prstGeom>
          <a:noFill/>
          <a:ln/>
        </p:spPr>
        <p:txBody>
          <a:bodyPr wrap="square" lIns="0" tIns="0" rIns="0" bIns="0" rtlCol="0" anchor="t"/>
          <a:lstStyle/>
          <a:p>
            <a:pPr indent="0" marL="0">
              <a:lnSpc>
                <a:spcPct val="110000"/>
              </a:lnSpc>
              <a:buNone/>
            </a:pPr>
            <a:r>
              <a:rPr lang="en-US" sz="800" dirty="0">
                <a:solidFill>
                  <a:srgbClr val="CBE8EF"/>
                </a:solidFill>
                <a:latin typeface="Segoe UI" pitchFamily="34" charset="0"/>
                <a:ea typeface="Segoe UI" pitchFamily="34" charset="-122"/>
                <a:cs typeface="Segoe UI" pitchFamily="34" charset="-120"/>
              </a:rPr>
              <a:t>Specificity — gần như không báo động giả</a:t>
            </a:r>
            <a:endParaRPr lang="en-US" sz="800" dirty="0"/>
          </a:p>
        </p:txBody>
      </p:sp>
      <p:sp>
        <p:nvSpPr>
          <p:cNvPr id="14" name="Shape 11"/>
          <p:cNvSpPr/>
          <p:nvPr/>
        </p:nvSpPr>
        <p:spPr>
          <a:xfrm>
            <a:off x="6099048" y="3712464"/>
            <a:ext cx="2615184" cy="822960"/>
          </a:xfrm>
          <a:prstGeom prst="roundRect">
            <a:avLst>
              <a:gd name="adj" fmla="val 6667"/>
            </a:avLst>
          </a:prstGeom>
          <a:solidFill>
            <a:srgbClr val="065A82"/>
          </a:solidFill>
          <a:ln w="9525">
            <a:solidFill>
              <a:srgbClr val="065A82"/>
            </a:solidFill>
            <a:prstDash val="solid"/>
          </a:ln>
        </p:spPr>
      </p:sp>
      <p:sp>
        <p:nvSpPr>
          <p:cNvPr id="15" name="Text 12"/>
          <p:cNvSpPr/>
          <p:nvPr/>
        </p:nvSpPr>
        <p:spPr>
          <a:xfrm>
            <a:off x="6281928" y="3803904"/>
            <a:ext cx="2194560" cy="310896"/>
          </a:xfrm>
          <a:prstGeom prst="rect">
            <a:avLst/>
          </a:prstGeom>
          <a:noFill/>
          <a:ln/>
        </p:spPr>
        <p:txBody>
          <a:bodyPr wrap="square" lIns="0" tIns="0" rIns="0" bIns="0" rtlCol="0" anchor="ctr"/>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2.556</a:t>
            </a:r>
            <a:endParaRPr lang="en-US" sz="1700" dirty="0"/>
          </a:p>
        </p:txBody>
      </p:sp>
      <p:sp>
        <p:nvSpPr>
          <p:cNvPr id="16" name="Text 13"/>
          <p:cNvSpPr/>
          <p:nvPr/>
        </p:nvSpPr>
        <p:spPr>
          <a:xfrm>
            <a:off x="6281928" y="4096512"/>
            <a:ext cx="2249424" cy="329184"/>
          </a:xfrm>
          <a:prstGeom prst="rect">
            <a:avLst/>
          </a:prstGeom>
          <a:noFill/>
          <a:ln/>
        </p:spPr>
        <p:txBody>
          <a:bodyPr wrap="square" lIns="0" tIns="0" rIns="0" bIns="0" rtlCol="0" anchor="t"/>
          <a:lstStyle/>
          <a:p>
            <a:pPr indent="0" marL="0">
              <a:lnSpc>
                <a:spcPct val="110000"/>
              </a:lnSpc>
              <a:buNone/>
            </a:pPr>
            <a:r>
              <a:rPr lang="en-US" sz="800" dirty="0">
                <a:solidFill>
                  <a:srgbClr val="CBE8EF"/>
                </a:solidFill>
                <a:latin typeface="Segoe UI" pitchFamily="34" charset="0"/>
                <a:ea typeface="Segoe UI" pitchFamily="34" charset="-122"/>
                <a:cs typeface="Segoe UI" pitchFamily="34" charset="-120"/>
              </a:rPr>
              <a:t>lát não lành kiểm chứng dương tính giả</a:t>
            </a:r>
            <a:endParaRPr lang="en-US" sz="800" dirty="0"/>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12"/>
                                        </p:tgtEl>
                                        <p:attrNameLst>
                                          <p:attrName>style.visibility</p:attrName>
                                        </p:attrNameLst>
                                      </p:cBhvr>
                                      <p:to>
                                        <p:strVal val="visible"/>
                                      </p:to>
                                    </p:set>
                                    <p:animEffect transition="in" filter="fade">
                                      <p:cBhvr>
                                        <p:cTn id="103" dur="400"/>
                                        <p:tgtEl>
                                          <p:spTgt spid="12"/>
                                        </p:tgtEl>
                                      </p:cBhvr>
                                    </p:animEffect>
                                  </p:childTnLst>
                                </p:cTn>
                              </p:par>
                              <p:par>
                                <p:cTn id="104" presetID="10" presetClass="entr" presetSubtype="0" fill="hold" grpId="0" nodeType="withEffect">
                                  <p:stCondLst>
                                    <p:cond delay="28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56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56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400"/>
                                        <p:tgtEl>
                                          <p:spTgt spid="9"/>
                                        </p:tgtEl>
                                      </p:cBhvr>
                                    </p:animEffect>
                                  </p:childTnLst>
                                </p:cTn>
                              </p:par>
                              <p:par>
                                <p:cTn id="113" presetID="10" presetClass="entr" presetSubtype="0" fill="hold" grpId="0" nodeType="withEffect">
                                  <p:stCondLst>
                                    <p:cond delay="560"/>
                                  </p:stCondLst>
                                  <p:childTnLst>
                                    <p:set>
                                      <p:cBhvr>
                                        <p:cTn id="114" dur="1" fill="hold">
                                          <p:stCondLst>
                                            <p:cond delay="0"/>
                                          </p:stCondLst>
                                        </p:cTn>
                                        <p:tgtEl>
                                          <p:spTgt spid="11"/>
                                        </p:tgtEl>
                                        <p:attrNameLst>
                                          <p:attrName>style.visibility</p:attrName>
                                        </p:attrNameLst>
                                      </p:cBhvr>
                                      <p:to>
                                        <p:strVal val="visible"/>
                                      </p:to>
                                    </p:set>
                                    <p:animEffect transition="in" filter="fade">
                                      <p:cBhvr>
                                        <p:cTn id="115" dur="400"/>
                                        <p:tgtEl>
                                          <p:spTgt spid="11"/>
                                        </p:tgtEl>
                                      </p:cBhvr>
                                    </p:animEffect>
                                  </p:childTnLst>
                                </p:cTn>
                              </p:par>
                              <p:par>
                                <p:cTn id="116" presetID="10" presetClass="entr" presetSubtype="0" fill="hold" grpId="0" nodeType="withEffect">
                                  <p:stCondLst>
                                    <p:cond delay="560"/>
                                  </p:stCondLst>
                                  <p:childTnLst>
                                    <p:set>
                                      <p:cBhvr>
                                        <p:cTn id="117" dur="1" fill="hold">
                                          <p:stCondLst>
                                            <p:cond delay="0"/>
                                          </p:stCondLst>
                                        </p:cTn>
                                        <p:tgtEl>
                                          <p:spTgt spid="12"/>
                                        </p:tgtEl>
                                        <p:attrNameLst>
                                          <p:attrName>style.visibility</p:attrName>
                                        </p:attrNameLst>
                                      </p:cBhvr>
                                      <p:to>
                                        <p:strVal val="visible"/>
                                      </p:to>
                                    </p:set>
                                    <p:animEffect transition="in" filter="fade">
                                      <p:cBhvr>
                                        <p:cTn id="118" dur="400"/>
                                        <p:tgtEl>
                                          <p:spTgt spid="12"/>
                                        </p:tgtEl>
                                      </p:cBhvr>
                                    </p:animEffect>
                                  </p:childTnLst>
                                </p:cTn>
                              </p:par>
                              <p:par>
                                <p:cTn id="119" presetID="10" presetClass="entr" presetSubtype="0" fill="hold" grpId="0" nodeType="withEffect">
                                  <p:stCondLst>
                                    <p:cond delay="560"/>
                                  </p:stCondLst>
                                  <p:childTnLst>
                                    <p:set>
                                      <p:cBhvr>
                                        <p:cTn id="120" dur="1" fill="hold">
                                          <p:stCondLst>
                                            <p:cond delay="0"/>
                                          </p:stCondLst>
                                        </p:cTn>
                                        <p:tgtEl>
                                          <p:spTgt spid="14"/>
                                        </p:tgtEl>
                                        <p:attrNameLst>
                                          <p:attrName>style.visibility</p:attrName>
                                        </p:attrNameLst>
                                      </p:cBhvr>
                                      <p:to>
                                        <p:strVal val="visible"/>
                                      </p:to>
                                    </p:set>
                                    <p:animEffect transition="in" filter="fade">
                                      <p:cBhvr>
                                        <p:cTn id="121" dur="400"/>
                                        <p:tgtEl>
                                          <p:spTgt spid="14"/>
                                        </p:tgtEl>
                                      </p:cBhvr>
                                    </p:animEffect>
                                  </p:childTnLst>
                                </p:cTn>
                              </p:par>
                              <p:par>
                                <p:cTn id="122" presetID="10" presetClass="entr" presetSubtype="0" fill="hold" grpId="0" nodeType="withEffect">
                                  <p:stCondLst>
                                    <p:cond delay="560"/>
                                  </p:stCondLst>
                                  <p:childTnLst>
                                    <p:set>
                                      <p:cBhvr>
                                        <p:cTn id="123" dur="1" fill="hold">
                                          <p:stCondLst>
                                            <p:cond delay="0"/>
                                          </p:stCondLst>
                                        </p:cTn>
                                        <p:tgtEl>
                                          <p:spTgt spid="15"/>
                                        </p:tgtEl>
                                        <p:attrNameLst>
                                          <p:attrName>style.visibility</p:attrName>
                                        </p:attrNameLst>
                                      </p:cBhvr>
                                      <p:to>
                                        <p:strVal val="visible"/>
                                      </p:to>
                                    </p:set>
                                    <p:animEffect transition="in" filter="fade">
                                      <p:cBhvr>
                                        <p:cTn id="124" dur="400"/>
                                        <p:tgtEl>
                                          <p:spTgt spid="15"/>
                                        </p:tgtEl>
                                      </p:cBhvr>
                                    </p:animEffect>
                                  </p:childTnLst>
                                </p:cTn>
                              </p:par>
                              <p:par>
                                <p:cTn id="125" presetID="10" presetClass="entr" presetSubtype="0" fill="hold" grpId="0" nodeType="withEffect">
                                  <p:stCondLst>
                                    <p:cond delay="840"/>
                                  </p:stCondLst>
                                  <p:childTnLst>
                                    <p:set>
                                      <p:cBhvr>
                                        <p:cTn id="126" dur="1" fill="hold">
                                          <p:stCondLst>
                                            <p:cond delay="0"/>
                                          </p:stCondLst>
                                        </p:cTn>
                                        <p:tgtEl>
                                          <p:spTgt spid="10"/>
                                        </p:tgtEl>
                                        <p:attrNameLst>
                                          <p:attrName>style.visibility</p:attrName>
                                        </p:attrNameLst>
                                      </p:cBhvr>
                                      <p:to>
                                        <p:strVal val="visible"/>
                                      </p:to>
                                    </p:set>
                                    <p:animEffect transition="in" filter="fade">
                                      <p:cBhvr>
                                        <p:cTn id="127" dur="400"/>
                                        <p:tgtEl>
                                          <p:spTgt spid="10"/>
                                        </p:tgtEl>
                                      </p:cBhvr>
                                    </p:animEffect>
                                  </p:childTnLst>
                                </p:cTn>
                              </p:par>
                              <p:par>
                                <p:cTn id="128" presetID="10" presetClass="entr" presetSubtype="0" fill="hold" grpId="0" nodeType="withEffect">
                                  <p:stCondLst>
                                    <p:cond delay="84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00"/>
                                        <p:tgtEl>
                                          <p:spTgt spid="13"/>
                                        </p:tgtEl>
                                      </p:cBhvr>
                                    </p:animEffect>
                                  </p:childTnLst>
                                </p:cTn>
                              </p:par>
                              <p:par>
                                <p:cTn id="131" presetID="10" presetClass="entr" presetSubtype="0" fill="hold" grpId="0" nodeType="withEffect">
                                  <p:stCondLst>
                                    <p:cond delay="840"/>
                                  </p:stCondLst>
                                  <p:childTnLst>
                                    <p:set>
                                      <p:cBhvr>
                                        <p:cTn id="132" dur="1" fill="hold">
                                          <p:stCondLst>
                                            <p:cond delay="0"/>
                                          </p:stCondLst>
                                        </p:cTn>
                                        <p:tgtEl>
                                          <p:spTgt spid="16"/>
                                        </p:tgtEl>
                                        <p:attrNameLst>
                                          <p:attrName>style.visibility</p:attrName>
                                        </p:attrNameLst>
                                      </p:cBhvr>
                                      <p:to>
                                        <p:strVal val="visible"/>
                                      </p:to>
                                    </p:set>
                                    <p:animEffect transition="in" filter="fade">
                                      <p:cBhvr>
                                        <p:cTn id="1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11  ·  PHÂN TÍCH ĐỊNH LƯỢNG</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Phân bố chỉ số và đối sánh trực quan</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12 / 20</a:t>
            </a:r>
            <a:endParaRPr lang="en-US" sz="800" dirty="0"/>
          </a:p>
        </p:txBody>
      </p:sp>
      <p:sp>
        <p:nvSpPr>
          <p:cNvPr id="6" name="Shape 4"/>
          <p:cNvSpPr/>
          <p:nvPr/>
        </p:nvSpPr>
        <p:spPr>
          <a:xfrm>
            <a:off x="502920" y="1243584"/>
            <a:ext cx="4041648" cy="804672"/>
          </a:xfrm>
          <a:prstGeom prst="roundRect">
            <a:avLst>
              <a:gd name="adj" fmla="val 6818"/>
            </a:avLst>
          </a:prstGeom>
          <a:solidFill>
            <a:srgbClr val="FFFFFF"/>
          </a:solidFill>
          <a:ln w="9525">
            <a:solidFill>
              <a:srgbClr val="D1E3E8"/>
            </a:solidFill>
            <a:prstDash val="solid"/>
          </a:ln>
          <a:effectLst>
            <a:outerShdw sx="100000" sy="100000" kx="0" ky="0" algn="bl" rotWithShape="0" blurRad="5.327859789484111e+135" dist="2.6639298947420556e+135" dir="4.297676999371057e+159">
              <a:srgbClr val="0B2B3C">
                <a:alpha val="9.999999999999999e+163"/>
              </a:srgbClr>
            </a:outerShdw>
          </a:effectLst>
        </p:spPr>
      </p:sp>
      <p:sp>
        <p:nvSpPr>
          <p:cNvPr id="7" name="Text 5"/>
          <p:cNvSpPr/>
          <p:nvPr/>
        </p:nvSpPr>
        <p:spPr>
          <a:xfrm>
            <a:off x="685800" y="1353312"/>
            <a:ext cx="3657600" cy="201168"/>
          </a:xfrm>
          <a:prstGeom prst="rect">
            <a:avLst/>
          </a:prstGeom>
          <a:noFill/>
          <a:ln/>
        </p:spPr>
        <p:txBody>
          <a:bodyPr wrap="square" lIns="0" tIns="0" rIns="0" bIns="0" rtlCol="0" anchor="ctr"/>
          <a:lstStyle/>
          <a:p>
            <a:pPr indent="0" marL="0">
              <a:buNone/>
            </a:pPr>
            <a:r>
              <a:rPr lang="en-US" sz="1000" dirty="0">
                <a:solidFill>
                  <a:srgbClr val="21295C"/>
                </a:solidFill>
                <a:latin typeface="Segoe UI Semibold" pitchFamily="34" charset="0"/>
                <a:ea typeface="Segoe UI Semibold" pitchFamily="34" charset="-122"/>
                <a:cs typeface="Segoe UI Semibold" pitchFamily="34" charset="-120"/>
              </a:rPr>
              <a:t>Trung vị Dice</a:t>
            </a:r>
            <a:endParaRPr lang="en-US" sz="1000" dirty="0"/>
          </a:p>
        </p:txBody>
      </p:sp>
      <p:sp>
        <p:nvSpPr>
          <p:cNvPr id="8" name="Text 6"/>
          <p:cNvSpPr/>
          <p:nvPr/>
        </p:nvSpPr>
        <p:spPr>
          <a:xfrm>
            <a:off x="685800" y="1572768"/>
            <a:ext cx="3675888" cy="384048"/>
          </a:xfrm>
          <a:prstGeom prst="rect">
            <a:avLst/>
          </a:prstGeom>
          <a:noFill/>
          <a:ln/>
        </p:spPr>
        <p:txBody>
          <a:bodyPr wrap="square" lIns="0" tIns="0" rIns="0" bIns="0" rtlCol="0" anchor="t"/>
          <a:lstStyle/>
          <a:p>
            <a:pPr indent="0" marL="0">
              <a:lnSpc>
                <a:spcPct val="115000"/>
              </a:lnSpc>
              <a:buNone/>
            </a:pPr>
            <a:r>
              <a:rPr lang="en-US" sz="850" dirty="0">
                <a:solidFill>
                  <a:srgbClr val="5F7186"/>
                </a:solidFill>
                <a:latin typeface="Segoe UI" pitchFamily="34" charset="0"/>
                <a:ea typeface="Segoe UI" pitchFamily="34" charset="-122"/>
                <a:cs typeface="Segoe UI" pitchFamily="34" charset="-120"/>
              </a:rPr>
              <a:t>0,41 (Watershed) so với 0,14 (Region Growing)</a:t>
            </a:r>
            <a:endParaRPr lang="en-US" sz="850" dirty="0"/>
          </a:p>
        </p:txBody>
      </p:sp>
      <p:sp>
        <p:nvSpPr>
          <p:cNvPr id="9" name="Shape 7"/>
          <p:cNvSpPr/>
          <p:nvPr/>
        </p:nvSpPr>
        <p:spPr>
          <a:xfrm>
            <a:off x="502920" y="2176272"/>
            <a:ext cx="4041648" cy="804672"/>
          </a:xfrm>
          <a:prstGeom prst="roundRect">
            <a:avLst>
              <a:gd name="adj" fmla="val 6818"/>
            </a:avLst>
          </a:prstGeom>
          <a:solidFill>
            <a:srgbClr val="FFFFFF"/>
          </a:solidFill>
          <a:ln w="9525">
            <a:solidFill>
              <a:srgbClr val="D1E3E8"/>
            </a:solidFill>
            <a:prstDash val="solid"/>
          </a:ln>
          <a:effectLst>
            <a:outerShdw sx="100000" sy="100000" kx="0" ky="0" algn="bl" rotWithShape="0" blurRad="6.766381932644821e+139" dist="3.3831909663224106e+139" dir="2.5786061996226343e+164">
              <a:srgbClr val="0B2B3C">
                <a:alpha val="1e+169"/>
              </a:srgbClr>
            </a:outerShdw>
          </a:effectLst>
        </p:spPr>
      </p:sp>
      <p:sp>
        <p:nvSpPr>
          <p:cNvPr id="10" name="Text 8"/>
          <p:cNvSpPr/>
          <p:nvPr/>
        </p:nvSpPr>
        <p:spPr>
          <a:xfrm>
            <a:off x="685800" y="2286000"/>
            <a:ext cx="3657600" cy="201168"/>
          </a:xfrm>
          <a:prstGeom prst="rect">
            <a:avLst/>
          </a:prstGeom>
          <a:noFill/>
          <a:ln/>
        </p:spPr>
        <p:txBody>
          <a:bodyPr wrap="square" lIns="0" tIns="0" rIns="0" bIns="0" rtlCol="0" anchor="ctr"/>
          <a:lstStyle/>
          <a:p>
            <a:pPr indent="0" marL="0">
              <a:buNone/>
            </a:pPr>
            <a:r>
              <a:rPr lang="en-US" sz="1000" dirty="0">
                <a:solidFill>
                  <a:srgbClr val="21295C"/>
                </a:solidFill>
                <a:latin typeface="Segoe UI Semibold" pitchFamily="34" charset="0"/>
                <a:ea typeface="Segoe UI Semibold" pitchFamily="34" charset="-122"/>
                <a:cs typeface="Segoe UI Semibold" pitchFamily="34" charset="-120"/>
              </a:rPr>
              <a:t>Độ phân tán</a:t>
            </a:r>
            <a:endParaRPr lang="en-US" sz="1000" dirty="0"/>
          </a:p>
        </p:txBody>
      </p:sp>
      <p:sp>
        <p:nvSpPr>
          <p:cNvPr id="11" name="Text 9"/>
          <p:cNvSpPr/>
          <p:nvPr/>
        </p:nvSpPr>
        <p:spPr>
          <a:xfrm>
            <a:off x="685800" y="2505456"/>
            <a:ext cx="3675888" cy="384048"/>
          </a:xfrm>
          <a:prstGeom prst="rect">
            <a:avLst/>
          </a:prstGeom>
          <a:noFill/>
          <a:ln/>
        </p:spPr>
        <p:txBody>
          <a:bodyPr wrap="square" lIns="0" tIns="0" rIns="0" bIns="0" rtlCol="0" anchor="t"/>
          <a:lstStyle/>
          <a:p>
            <a:pPr indent="0" marL="0">
              <a:lnSpc>
                <a:spcPct val="115000"/>
              </a:lnSpc>
              <a:buNone/>
            </a:pPr>
            <a:r>
              <a:rPr lang="en-US" sz="850" dirty="0">
                <a:solidFill>
                  <a:srgbClr val="5F7186"/>
                </a:solidFill>
                <a:latin typeface="Segoe UI" pitchFamily="34" charset="0"/>
                <a:ea typeface="Segoe UI" pitchFamily="34" charset="-122"/>
                <a:cs typeface="Segoe UI" pitchFamily="34" charset="-120"/>
              </a:rPr>
              <a:t>Hộp của Watershed tập trung hơn, ít ngoại lai suy giảm</a:t>
            </a:r>
            <a:endParaRPr lang="en-US" sz="850" dirty="0"/>
          </a:p>
        </p:txBody>
      </p:sp>
      <p:sp>
        <p:nvSpPr>
          <p:cNvPr id="12" name="Shape 10"/>
          <p:cNvSpPr/>
          <p:nvPr/>
        </p:nvSpPr>
        <p:spPr>
          <a:xfrm>
            <a:off x="502920" y="3108960"/>
            <a:ext cx="4041648" cy="804672"/>
          </a:xfrm>
          <a:prstGeom prst="roundRect">
            <a:avLst>
              <a:gd name="adj" fmla="val 6818"/>
            </a:avLst>
          </a:prstGeom>
          <a:solidFill>
            <a:srgbClr val="FFFFFF"/>
          </a:solidFill>
          <a:ln w="9525">
            <a:solidFill>
              <a:srgbClr val="D1E3E8"/>
            </a:solidFill>
            <a:prstDash val="solid"/>
          </a:ln>
          <a:effectLst>
            <a:outerShdw sx="100000" sy="100000" kx="0" ky="0" algn="bl" rotWithShape="0" blurRad="8.593305054458923e+143" dist="4.296652527229462e+143" dir="1.5471637197735807e+169">
              <a:srgbClr val="0B2B3C">
                <a:alpha val="9.999999999999998e+173"/>
              </a:srgbClr>
            </a:outerShdw>
          </a:effectLst>
        </p:spPr>
      </p:sp>
      <p:sp>
        <p:nvSpPr>
          <p:cNvPr id="13" name="Text 11"/>
          <p:cNvSpPr/>
          <p:nvPr/>
        </p:nvSpPr>
        <p:spPr>
          <a:xfrm>
            <a:off x="685800" y="3218688"/>
            <a:ext cx="3657600" cy="201168"/>
          </a:xfrm>
          <a:prstGeom prst="rect">
            <a:avLst/>
          </a:prstGeom>
          <a:noFill/>
          <a:ln/>
        </p:spPr>
        <p:txBody>
          <a:bodyPr wrap="square" lIns="0" tIns="0" rIns="0" bIns="0" rtlCol="0" anchor="ctr"/>
          <a:lstStyle/>
          <a:p>
            <a:pPr indent="0" marL="0">
              <a:buNone/>
            </a:pPr>
            <a:r>
              <a:rPr lang="en-US" sz="1000" dirty="0">
                <a:solidFill>
                  <a:srgbClr val="21295C"/>
                </a:solidFill>
                <a:latin typeface="Segoe UI Semibold" pitchFamily="34" charset="0"/>
                <a:ea typeface="Segoe UI Semibold" pitchFamily="34" charset="-122"/>
                <a:cs typeface="Segoe UI Semibold" pitchFamily="34" charset="-120"/>
              </a:rPr>
              <a:t>Điểm sụp</a:t>
            </a:r>
            <a:endParaRPr lang="en-US" sz="1000" dirty="0"/>
          </a:p>
        </p:txBody>
      </p:sp>
      <p:sp>
        <p:nvSpPr>
          <p:cNvPr id="14" name="Text 12"/>
          <p:cNvSpPr/>
          <p:nvPr/>
        </p:nvSpPr>
        <p:spPr>
          <a:xfrm>
            <a:off x="685800" y="3438144"/>
            <a:ext cx="3675888" cy="384048"/>
          </a:xfrm>
          <a:prstGeom prst="rect">
            <a:avLst/>
          </a:prstGeom>
          <a:noFill/>
          <a:ln/>
        </p:spPr>
        <p:txBody>
          <a:bodyPr wrap="square" lIns="0" tIns="0" rIns="0" bIns="0" rtlCol="0" anchor="t"/>
          <a:lstStyle/>
          <a:p>
            <a:pPr indent="0" marL="0">
              <a:lnSpc>
                <a:spcPct val="115000"/>
              </a:lnSpc>
              <a:buNone/>
            </a:pPr>
            <a:r>
              <a:rPr lang="en-US" sz="850" dirty="0">
                <a:solidFill>
                  <a:srgbClr val="5F7186"/>
                </a:solidFill>
                <a:latin typeface="Segoe UI" pitchFamily="34" charset="0"/>
                <a:ea typeface="Segoe UI" pitchFamily="34" charset="-122"/>
                <a:cs typeface="Segoe UI" pitchFamily="34" charset="-120"/>
              </a:rPr>
              <a:t>Region Growing về 0 ở nhiều ca u nhỏ do lệch hạt giống</a:t>
            </a:r>
            <a:endParaRPr lang="en-US" sz="850" dirty="0"/>
          </a:p>
        </p:txBody>
      </p:sp>
      <p:sp>
        <p:nvSpPr>
          <p:cNvPr id="15" name="Shape 13"/>
          <p:cNvSpPr/>
          <p:nvPr/>
        </p:nvSpPr>
        <p:spPr>
          <a:xfrm>
            <a:off x="502920" y="4059936"/>
            <a:ext cx="4041648" cy="566928"/>
          </a:xfrm>
          <a:prstGeom prst="roundRect">
            <a:avLst>
              <a:gd name="adj" fmla="val 9677"/>
            </a:avLst>
          </a:prstGeom>
          <a:solidFill>
            <a:srgbClr val="E3F1F4"/>
          </a:solidFill>
          <a:ln w="9525">
            <a:solidFill>
              <a:srgbClr val="D1E3E8"/>
            </a:solidFill>
            <a:prstDash val="solid"/>
          </a:ln>
        </p:spPr>
      </p:sp>
      <p:sp>
        <p:nvSpPr>
          <p:cNvPr id="16" name="Text 14"/>
          <p:cNvSpPr/>
          <p:nvPr/>
        </p:nvSpPr>
        <p:spPr>
          <a:xfrm>
            <a:off x="685800" y="4059936"/>
            <a:ext cx="3703320" cy="566928"/>
          </a:xfrm>
          <a:prstGeom prst="rect">
            <a:avLst/>
          </a:prstGeom>
          <a:noFill/>
          <a:ln/>
        </p:spPr>
        <p:txBody>
          <a:bodyPr wrap="square" lIns="0" tIns="0" rIns="0" bIns="0" rtlCol="0" anchor="ctr"/>
          <a:lstStyle/>
          <a:p>
            <a:pPr indent="0" marL="0">
              <a:buNone/>
            </a:pPr>
            <a:r>
              <a:rPr lang="en-US" sz="900" dirty="0">
                <a:solidFill>
                  <a:srgbClr val="065A82"/>
                </a:solidFill>
                <a:latin typeface="Segoe UI Semibold" pitchFamily="34" charset="0"/>
                <a:ea typeface="Segoe UI Semibold" pitchFamily="34" charset="-122"/>
                <a:cs typeface="Segoe UI Semibold" pitchFamily="34" charset="-120"/>
              </a:rPr>
              <a:t>Kết luận: Watershed ổn định hơn khi mở rộng quy mô dữ liệu.</a:t>
            </a:r>
            <a:endParaRPr lang="en-US" sz="900" dirty="0"/>
          </a:p>
        </p:txBody>
      </p:sp>
      <p:pic>
        <p:nvPicPr>
          <p:cNvPr id="17" name="Image 0" descr="C:\Users\xpaga\Documents\xlas\reports\figures\benchmark_metrics_comparison.png">    </p:cNvPr>
          <p:cNvPicPr>
            <a:picLocks noChangeAspect="1"/>
          </p:cNvPicPr>
          <p:nvPr/>
        </p:nvPicPr>
        <p:blipFill>
          <a:blip r:embed="rId1"/>
          <a:stretch>
            <a:fillRect/>
          </a:stretch>
        </p:blipFill>
        <p:spPr>
          <a:xfrm>
            <a:off x="4828032" y="1243584"/>
            <a:ext cx="3822192" cy="1413010"/>
          </a:xfrm>
          <a:prstGeom prst="rect">
            <a:avLst/>
          </a:prstGeom>
        </p:spPr>
      </p:pic>
      <p:sp>
        <p:nvSpPr>
          <p:cNvPr id="18" name="Text 15"/>
          <p:cNvSpPr/>
          <p:nvPr/>
        </p:nvSpPr>
        <p:spPr>
          <a:xfrm>
            <a:off x="4828032" y="2688336"/>
            <a:ext cx="3822192" cy="201168"/>
          </a:xfrm>
          <a:prstGeom prst="rect">
            <a:avLst/>
          </a:prstGeom>
          <a:noFill/>
          <a:ln/>
        </p:spPr>
        <p:txBody>
          <a:bodyPr wrap="square" lIns="0" tIns="0" rIns="0" bIns="0" rtlCol="0" anchor="ctr"/>
          <a:lstStyle/>
          <a:p>
            <a:pPr algn="ctr" indent="0" marL="0">
              <a:buNone/>
            </a:pPr>
            <a:r>
              <a:rPr lang="en-US" sz="800" i="1" dirty="0">
                <a:solidFill>
                  <a:srgbClr val="5F7186"/>
                </a:solidFill>
                <a:latin typeface="Segoe UI" pitchFamily="34" charset="0"/>
                <a:ea typeface="Segoe UI" pitchFamily="34" charset="-122"/>
                <a:cs typeface="Segoe UI" pitchFamily="34" charset="-120"/>
              </a:rPr>
              <a:t>Hình 6.1: Phân bố Dice, IoU, Sensitivity và so sánh trên 20 ca tiêu biểu</a:t>
            </a:r>
            <a:endParaRPr lang="en-US" sz="800" dirty="0"/>
          </a:p>
        </p:txBody>
      </p:sp>
      <p:pic>
        <p:nvPicPr>
          <p:cNvPr id="19" name="Image 1" descr="C:\Users\xpaga\Documents\xlas\reports\figures\benchmark_distribution.png">    </p:cNvPr>
          <p:cNvPicPr>
            <a:picLocks noChangeAspect="1"/>
          </p:cNvPicPr>
          <p:nvPr/>
        </p:nvPicPr>
        <p:blipFill>
          <a:blip r:embed="rId2"/>
          <a:stretch>
            <a:fillRect/>
          </a:stretch>
        </p:blipFill>
        <p:spPr>
          <a:xfrm>
            <a:off x="4828032" y="2962656"/>
            <a:ext cx="3822192" cy="985863"/>
          </a:xfrm>
          <a:prstGeom prst="rect">
            <a:avLst/>
          </a:prstGeom>
        </p:spPr>
      </p:pic>
      <p:sp>
        <p:nvSpPr>
          <p:cNvPr id="20" name="Text 16"/>
          <p:cNvSpPr/>
          <p:nvPr/>
        </p:nvSpPr>
        <p:spPr>
          <a:xfrm>
            <a:off x="4828032" y="4023360"/>
            <a:ext cx="3822192" cy="201168"/>
          </a:xfrm>
          <a:prstGeom prst="rect">
            <a:avLst/>
          </a:prstGeom>
          <a:noFill/>
          <a:ln/>
        </p:spPr>
        <p:txBody>
          <a:bodyPr wrap="square" lIns="0" tIns="0" rIns="0" bIns="0" rtlCol="0" anchor="ctr"/>
          <a:lstStyle/>
          <a:p>
            <a:pPr algn="ctr" indent="0" marL="0">
              <a:buNone/>
            </a:pPr>
            <a:r>
              <a:rPr lang="en-US" sz="800" i="1" dirty="0">
                <a:solidFill>
                  <a:srgbClr val="5F7186"/>
                </a:solidFill>
                <a:latin typeface="Segoe UI" pitchFamily="34" charset="0"/>
                <a:ea typeface="Segoe UI" pitchFamily="34" charset="-122"/>
                <a:cs typeface="Segoe UI" pitchFamily="34" charset="-120"/>
              </a:rPr>
              <a:t>Hình 6.2: Bốn ca thất bại điển hình — Dice = 0 ở cả hai phương pháp</a:t>
            </a:r>
            <a:endParaRPr lang="en-US" sz="800" dirty="0"/>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7"/>
                                        </p:tgtEl>
                                        <p:attrNameLst>
                                          <p:attrName>style.visibility</p:attrName>
                                        </p:attrNameLst>
                                      </p:cBhvr>
                                      <p:to>
                                        <p:strVal val="visible"/>
                                      </p:to>
                                    </p:set>
                                    <p:animEffect transition="in" filter="fade">
                                      <p:cBhvr>
                                        <p:cTn id="112" dur="400"/>
                                        <p:tgtEl>
                                          <p:spTgt spid="17"/>
                                        </p:tgtEl>
                                      </p:cBhvr>
                                    </p:animEffect>
                                  </p:childTnLst>
                                </p:cTn>
                              </p:par>
                              <p:par>
                                <p:cTn id="113" presetID="10" presetClass="entr" presetSubtype="0" fill="hold" grpId="0" nodeType="withEffect">
                                  <p:stCondLst>
                                    <p:cond delay="280"/>
                                  </p:stCondLst>
                                  <p:childTnLst>
                                    <p:set>
                                      <p:cBhvr>
                                        <p:cTn id="114" dur="1" fill="hold">
                                          <p:stCondLst>
                                            <p:cond delay="0"/>
                                          </p:stCondLst>
                                        </p:cTn>
                                        <p:tgtEl>
                                          <p:spTgt spid="9"/>
                                        </p:tgtEl>
                                        <p:attrNameLst>
                                          <p:attrName>style.visibility</p:attrName>
                                        </p:attrNameLst>
                                      </p:cBhvr>
                                      <p:to>
                                        <p:strVal val="visible"/>
                                      </p:to>
                                    </p:set>
                                    <p:animEffect transition="in" filter="fade">
                                      <p:cBhvr>
                                        <p:cTn id="115" dur="400"/>
                                        <p:tgtEl>
                                          <p:spTgt spid="9"/>
                                        </p:tgtEl>
                                      </p:cBhvr>
                                    </p:animEffect>
                                  </p:childTnLst>
                                </p:cTn>
                              </p:par>
                              <p:par>
                                <p:cTn id="116" presetID="10" presetClass="entr" presetSubtype="0" fill="hold" grpId="0" nodeType="withEffect">
                                  <p:stCondLst>
                                    <p:cond delay="280"/>
                                  </p:stCondLst>
                                  <p:childTnLst>
                                    <p:set>
                                      <p:cBhvr>
                                        <p:cTn id="117" dur="1" fill="hold">
                                          <p:stCondLst>
                                            <p:cond delay="0"/>
                                          </p:stCondLst>
                                        </p:cTn>
                                        <p:tgtEl>
                                          <p:spTgt spid="10"/>
                                        </p:tgtEl>
                                        <p:attrNameLst>
                                          <p:attrName>style.visibility</p:attrName>
                                        </p:attrNameLst>
                                      </p:cBhvr>
                                      <p:to>
                                        <p:strVal val="visible"/>
                                      </p:to>
                                    </p:set>
                                    <p:animEffect transition="in" filter="fade">
                                      <p:cBhvr>
                                        <p:cTn id="118" dur="400"/>
                                        <p:tgtEl>
                                          <p:spTgt spid="10"/>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1"/>
                                        </p:tgtEl>
                                        <p:attrNameLst>
                                          <p:attrName>style.visibility</p:attrName>
                                        </p:attrNameLst>
                                      </p:cBhvr>
                                      <p:to>
                                        <p:strVal val="visible"/>
                                      </p:to>
                                    </p:set>
                                    <p:animEffect transition="in" filter="fade">
                                      <p:cBhvr>
                                        <p:cTn id="121" dur="400"/>
                                        <p:tgtEl>
                                          <p:spTgt spid="11"/>
                                        </p:tgtEl>
                                      </p:cBhvr>
                                    </p:animEffect>
                                  </p:childTnLst>
                                </p:cTn>
                              </p:par>
                              <p:par>
                                <p:cTn id="122" presetID="10" presetClass="entr" presetSubtype="0" fill="hold" grpId="0" nodeType="withEffect">
                                  <p:stCondLst>
                                    <p:cond delay="560"/>
                                  </p:stCondLst>
                                  <p:childTnLst>
                                    <p:set>
                                      <p:cBhvr>
                                        <p:cTn id="123" dur="1" fill="hold">
                                          <p:stCondLst>
                                            <p:cond delay="0"/>
                                          </p:stCondLst>
                                        </p:cTn>
                                        <p:tgtEl>
                                          <p:spTgt spid="18"/>
                                        </p:tgtEl>
                                        <p:attrNameLst>
                                          <p:attrName>style.visibility</p:attrName>
                                        </p:attrNameLst>
                                      </p:cBhvr>
                                      <p:to>
                                        <p:strVal val="visible"/>
                                      </p:to>
                                    </p:set>
                                    <p:animEffect transition="in" filter="fade">
                                      <p:cBhvr>
                                        <p:cTn id="124" dur="400"/>
                                        <p:tgtEl>
                                          <p:spTgt spid="18"/>
                                        </p:tgtEl>
                                      </p:cBhvr>
                                    </p:animEffect>
                                  </p:childTnLst>
                                </p:cTn>
                              </p:par>
                              <p:par>
                                <p:cTn id="125" presetID="10" presetClass="entr" presetSubtype="0" fill="hold" grpId="0" nodeType="withEffect">
                                  <p:stCondLst>
                                    <p:cond delay="560"/>
                                  </p:stCondLst>
                                  <p:childTnLst>
                                    <p:set>
                                      <p:cBhvr>
                                        <p:cTn id="126" dur="1" fill="hold">
                                          <p:stCondLst>
                                            <p:cond delay="0"/>
                                          </p:stCondLst>
                                        </p:cTn>
                                        <p:tgtEl>
                                          <p:spTgt spid="19"/>
                                        </p:tgtEl>
                                        <p:attrNameLst>
                                          <p:attrName>style.visibility</p:attrName>
                                        </p:attrNameLst>
                                      </p:cBhvr>
                                      <p:to>
                                        <p:strVal val="visible"/>
                                      </p:to>
                                    </p:set>
                                    <p:animEffect transition="in" filter="fade">
                                      <p:cBhvr>
                                        <p:cTn id="127" dur="400"/>
                                        <p:tgtEl>
                                          <p:spTgt spid="19"/>
                                        </p:tgtEl>
                                      </p:cBhvr>
                                    </p:animEffect>
                                  </p:childTnLst>
                                </p:cTn>
                              </p:par>
                              <p:par>
                                <p:cTn id="128" presetID="10" presetClass="entr" presetSubtype="0" fill="hold" grpId="0" nodeType="withEffect">
                                  <p:stCondLst>
                                    <p:cond delay="840"/>
                                  </p:stCondLst>
                                  <p:childTnLst>
                                    <p:set>
                                      <p:cBhvr>
                                        <p:cTn id="129" dur="1" fill="hold">
                                          <p:stCondLst>
                                            <p:cond delay="0"/>
                                          </p:stCondLst>
                                        </p:cTn>
                                        <p:tgtEl>
                                          <p:spTgt spid="12"/>
                                        </p:tgtEl>
                                        <p:attrNameLst>
                                          <p:attrName>style.visibility</p:attrName>
                                        </p:attrNameLst>
                                      </p:cBhvr>
                                      <p:to>
                                        <p:strVal val="visible"/>
                                      </p:to>
                                    </p:set>
                                    <p:animEffect transition="in" filter="fade">
                                      <p:cBhvr>
                                        <p:cTn id="130" dur="400"/>
                                        <p:tgtEl>
                                          <p:spTgt spid="12"/>
                                        </p:tgtEl>
                                      </p:cBhvr>
                                    </p:animEffect>
                                  </p:childTnLst>
                                </p:cTn>
                              </p:par>
                              <p:par>
                                <p:cTn id="131" presetID="10" presetClass="entr" presetSubtype="0" fill="hold" grpId="0" nodeType="withEffect">
                                  <p:stCondLst>
                                    <p:cond delay="840"/>
                                  </p:stCondLst>
                                  <p:childTnLst>
                                    <p:set>
                                      <p:cBhvr>
                                        <p:cTn id="132" dur="1" fill="hold">
                                          <p:stCondLst>
                                            <p:cond delay="0"/>
                                          </p:stCondLst>
                                        </p:cTn>
                                        <p:tgtEl>
                                          <p:spTgt spid="13"/>
                                        </p:tgtEl>
                                        <p:attrNameLst>
                                          <p:attrName>style.visibility</p:attrName>
                                        </p:attrNameLst>
                                      </p:cBhvr>
                                      <p:to>
                                        <p:strVal val="visible"/>
                                      </p:to>
                                    </p:set>
                                    <p:animEffect transition="in" filter="fade">
                                      <p:cBhvr>
                                        <p:cTn id="133" dur="400"/>
                                        <p:tgtEl>
                                          <p:spTgt spid="13"/>
                                        </p:tgtEl>
                                      </p:cBhvr>
                                    </p:animEffect>
                                  </p:childTnLst>
                                </p:cTn>
                              </p:par>
                              <p:par>
                                <p:cTn id="134" presetID="10" presetClass="entr" presetSubtype="0" fill="hold" grpId="0" nodeType="withEffect">
                                  <p:stCondLst>
                                    <p:cond delay="1120"/>
                                  </p:stCondLst>
                                  <p:childTnLst>
                                    <p:set>
                                      <p:cBhvr>
                                        <p:cTn id="135" dur="1" fill="hold">
                                          <p:stCondLst>
                                            <p:cond delay="0"/>
                                          </p:stCondLst>
                                        </p:cTn>
                                        <p:tgtEl>
                                          <p:spTgt spid="14"/>
                                        </p:tgtEl>
                                        <p:attrNameLst>
                                          <p:attrName>style.visibility</p:attrName>
                                        </p:attrNameLst>
                                      </p:cBhvr>
                                      <p:to>
                                        <p:strVal val="visible"/>
                                      </p:to>
                                    </p:set>
                                    <p:animEffect transition="in" filter="fade">
                                      <p:cBhvr>
                                        <p:cTn id="136" dur="400"/>
                                        <p:tgtEl>
                                          <p:spTgt spid="14"/>
                                        </p:tgtEl>
                                      </p:cBhvr>
                                    </p:animEffect>
                                  </p:childTnLst>
                                </p:cTn>
                              </p:par>
                              <p:par>
                                <p:cTn id="137" presetID="10" presetClass="entr" presetSubtype="0" fill="hold" grpId="0" nodeType="withEffect">
                                  <p:stCondLst>
                                    <p:cond delay="1400"/>
                                  </p:stCondLst>
                                  <p:childTnLst>
                                    <p:set>
                                      <p:cBhvr>
                                        <p:cTn id="138" dur="1" fill="hold">
                                          <p:stCondLst>
                                            <p:cond delay="0"/>
                                          </p:stCondLst>
                                        </p:cTn>
                                        <p:tgtEl>
                                          <p:spTgt spid="15"/>
                                        </p:tgtEl>
                                        <p:attrNameLst>
                                          <p:attrName>style.visibility</p:attrName>
                                        </p:attrNameLst>
                                      </p:cBhvr>
                                      <p:to>
                                        <p:strVal val="visible"/>
                                      </p:to>
                                    </p:set>
                                    <p:animEffect transition="in" filter="fade">
                                      <p:cBhvr>
                                        <p:cTn id="139" dur="400"/>
                                        <p:tgtEl>
                                          <p:spTgt spid="15"/>
                                        </p:tgtEl>
                                      </p:cBhvr>
                                    </p:animEffect>
                                  </p:childTnLst>
                                </p:cTn>
                              </p:par>
                              <p:par>
                                <p:cTn id="140" presetID="10" presetClass="entr" presetSubtype="0" fill="hold" grpId="0" nodeType="withEffect">
                                  <p:stCondLst>
                                    <p:cond delay="1400"/>
                                  </p:stCondLst>
                                  <p:childTnLst>
                                    <p:set>
                                      <p:cBhvr>
                                        <p:cTn id="141" dur="1" fill="hold">
                                          <p:stCondLst>
                                            <p:cond delay="0"/>
                                          </p:stCondLst>
                                        </p:cTn>
                                        <p:tgtEl>
                                          <p:spTgt spid="16"/>
                                        </p:tgtEl>
                                        <p:attrNameLst>
                                          <p:attrName>style.visibility</p:attrName>
                                        </p:attrNameLst>
                                      </p:cBhvr>
                                      <p:to>
                                        <p:strVal val="visible"/>
                                      </p:to>
                                    </p:set>
                                    <p:animEffect transition="in" filter="fade">
                                      <p:cBhvr>
                                        <p:cTn id="142" dur="400"/>
                                        <p:tgtEl>
                                          <p:spTgt spid="16"/>
                                        </p:tgtEl>
                                      </p:cBhvr>
                                    </p:animEffect>
                                  </p:childTnLst>
                                </p:cTn>
                              </p:par>
                              <p:par>
                                <p:cTn id="143" presetID="10" presetClass="entr" presetSubtype="0" fill="hold" grpId="0" nodeType="withEffect">
                                  <p:stCondLst>
                                    <p:cond delay="140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12  ·  TỐI ƯU SIÊU THAM SỐ</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Khảo sát độ nhạy tham số phân đoạn Watershed</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13 / 20</a:t>
            </a:r>
            <a:endParaRPr lang="en-US" sz="800" dirty="0"/>
          </a:p>
        </p:txBody>
      </p:sp>
      <p:pic>
        <p:nvPicPr>
          <p:cNvPr id="6" name="Image 0" descr="C:\Users\xpaga\Documents\xlas\reports\figures\watershed_param_sensitivity.png">    </p:cNvPr>
          <p:cNvPicPr>
            <a:picLocks noChangeAspect="1"/>
          </p:cNvPicPr>
          <p:nvPr/>
        </p:nvPicPr>
        <p:blipFill>
          <a:blip r:embed="rId1"/>
          <a:stretch>
            <a:fillRect/>
          </a:stretch>
        </p:blipFill>
        <p:spPr>
          <a:xfrm>
            <a:off x="502920" y="1298448"/>
            <a:ext cx="4681728" cy="1832379"/>
          </a:xfrm>
          <a:prstGeom prst="rect">
            <a:avLst/>
          </a:prstGeom>
        </p:spPr>
      </p:pic>
      <p:sp>
        <p:nvSpPr>
          <p:cNvPr id="7" name="Text 4"/>
          <p:cNvSpPr/>
          <p:nvPr/>
        </p:nvSpPr>
        <p:spPr>
          <a:xfrm>
            <a:off x="502920" y="3346704"/>
            <a:ext cx="4681728" cy="201168"/>
          </a:xfrm>
          <a:prstGeom prst="rect">
            <a:avLst/>
          </a:prstGeom>
          <a:noFill/>
          <a:ln/>
        </p:spPr>
        <p:txBody>
          <a:bodyPr wrap="square" lIns="0" tIns="0" rIns="0" bIns="0" rtlCol="0" anchor="ctr"/>
          <a:lstStyle/>
          <a:p>
            <a:pPr algn="ctr" indent="0" marL="0">
              <a:buNone/>
            </a:pPr>
            <a:r>
              <a:rPr lang="en-US" sz="800" i="1" dirty="0">
                <a:solidFill>
                  <a:srgbClr val="5F7186"/>
                </a:solidFill>
                <a:latin typeface="Segoe UI" pitchFamily="34" charset="0"/>
                <a:ea typeface="Segoe UI" pitchFamily="34" charset="-122"/>
                <a:cs typeface="Segoe UI" pitchFamily="34" charset="-120"/>
              </a:rPr>
              <a:t>Hình 5.1: Khảo sát dist_thresh_ratio trên 30 lát cắt có u</a:t>
            </a:r>
            <a:endParaRPr lang="en-US" sz="800" dirty="0"/>
          </a:p>
        </p:txBody>
      </p:sp>
      <p:sp>
        <p:nvSpPr>
          <p:cNvPr id="8" name="Shape 5"/>
          <p:cNvSpPr/>
          <p:nvPr/>
        </p:nvSpPr>
        <p:spPr>
          <a:xfrm>
            <a:off x="502920" y="3639312"/>
            <a:ext cx="4681728" cy="969264"/>
          </a:xfrm>
          <a:prstGeom prst="roundRect">
            <a:avLst>
              <a:gd name="adj" fmla="val 5660"/>
            </a:avLst>
          </a:prstGeom>
          <a:solidFill>
            <a:srgbClr val="FFFFFF"/>
          </a:solidFill>
          <a:ln w="9525">
            <a:solidFill>
              <a:srgbClr val="D1E3E8"/>
            </a:solidFill>
            <a:prstDash val="solid"/>
          </a:ln>
          <a:effectLst>
            <a:outerShdw sx="100000" sy="100000" kx="0" ky="0" algn="bl" rotWithShape="0" blurRad="1.0913497419162833e+148" dist="5.4567487095814166e+147" dir="9.282982318641485e+173">
              <a:srgbClr val="0B2B3C">
                <a:alpha val="9.999999999999998e+178"/>
              </a:srgbClr>
            </a:outerShdw>
          </a:effectLst>
        </p:spPr>
      </p:sp>
      <p:sp>
        <p:nvSpPr>
          <p:cNvPr id="9" name="Text 6"/>
          <p:cNvSpPr/>
          <p:nvPr/>
        </p:nvSpPr>
        <p:spPr>
          <a:xfrm>
            <a:off x="704088" y="3730752"/>
            <a:ext cx="1828800" cy="182880"/>
          </a:xfrm>
          <a:prstGeom prst="rect">
            <a:avLst/>
          </a:prstGeom>
          <a:noFill/>
          <a:ln/>
        </p:spPr>
        <p:txBody>
          <a:bodyPr wrap="square" lIns="0" tIns="0" rIns="0" bIns="0" rtlCol="0" anchor="ctr"/>
          <a:lstStyle/>
          <a:p>
            <a:pPr indent="0" marL="0">
              <a:buNone/>
            </a:pPr>
            <a:r>
              <a:rPr lang="en-US" sz="850" spc="110" kern="0" dirty="0">
                <a:solidFill>
                  <a:srgbClr val="028090"/>
                </a:solidFill>
                <a:latin typeface="Segoe UI Semibold" pitchFamily="34" charset="0"/>
                <a:ea typeface="Segoe UI Semibold" pitchFamily="34" charset="-122"/>
                <a:cs typeface="Segoe UI Semibold" pitchFamily="34" charset="-120"/>
              </a:rPr>
              <a:t>NHẬN XÉT</a:t>
            </a:r>
            <a:endParaRPr lang="en-US" sz="850" dirty="0"/>
          </a:p>
        </p:txBody>
      </p:sp>
      <p:sp>
        <p:nvSpPr>
          <p:cNvPr id="10" name="Text 7"/>
          <p:cNvSpPr/>
          <p:nvPr/>
        </p:nvSpPr>
        <p:spPr>
          <a:xfrm>
            <a:off x="704088" y="3931920"/>
            <a:ext cx="4279392" cy="566928"/>
          </a:xfrm>
          <a:prstGeom prst="rect">
            <a:avLst/>
          </a:prstGeom>
          <a:noFill/>
          <a:ln/>
        </p:spPr>
        <p:txBody>
          <a:bodyPr wrap="square" lIns="0" tIns="0" rIns="0" bIns="0" rtlCol="0" anchor="t"/>
          <a:lstStyle/>
          <a:p>
            <a:pPr indent="0" marL="0">
              <a:lnSpc>
                <a:spcPct val="115000"/>
              </a:lnSpc>
              <a:buNone/>
            </a:pPr>
            <a:r>
              <a:rPr lang="en-US" sz="850" dirty="0">
                <a:solidFill>
                  <a:srgbClr val="1E293B"/>
                </a:solidFill>
                <a:latin typeface="Segoe UI" pitchFamily="34" charset="0"/>
                <a:ea typeface="Segoe UI" pitchFamily="34" charset="-122"/>
                <a:cs typeface="Segoe UI" pitchFamily="34" charset="-120"/>
              </a:rPr>
              <a:t>Dice đạt cực đại tại 0,4 và giảm nhẹ ở hai biên; Specificity giữ gần 1,0 trên toàn dải khảo sát.</a:t>
            </a:r>
            <a:endParaRPr lang="en-US" sz="850" dirty="0"/>
          </a:p>
        </p:txBody>
      </p:sp>
      <p:sp>
        <p:nvSpPr>
          <p:cNvPr id="11" name="Shape 8"/>
          <p:cNvSpPr/>
          <p:nvPr/>
        </p:nvSpPr>
        <p:spPr>
          <a:xfrm>
            <a:off x="5394960" y="1298448"/>
            <a:ext cx="3246120" cy="932688"/>
          </a:xfrm>
          <a:prstGeom prst="roundRect">
            <a:avLst>
              <a:gd name="adj" fmla="val 5882"/>
            </a:avLst>
          </a:prstGeom>
          <a:solidFill>
            <a:srgbClr val="FFFFFF"/>
          </a:solidFill>
          <a:ln w="9525">
            <a:solidFill>
              <a:srgbClr val="D1E3E8"/>
            </a:solidFill>
            <a:prstDash val="solid"/>
          </a:ln>
          <a:effectLst>
            <a:outerShdw sx="100000" sy="100000" kx="0" ky="0" algn="bl" rotWithShape="0" blurRad="1.38601417223368e+152" dist="6.9300708611684e+151" dir="5.569789391184891e+178">
              <a:srgbClr val="0B2B3C">
                <a:alpha val="9.999999999999998e+183"/>
              </a:srgbClr>
            </a:outerShdw>
          </a:effectLst>
        </p:spPr>
      </p:sp>
      <p:sp>
        <p:nvSpPr>
          <p:cNvPr id="12" name="Text 9"/>
          <p:cNvSpPr/>
          <p:nvPr/>
        </p:nvSpPr>
        <p:spPr>
          <a:xfrm>
            <a:off x="5541264" y="1389888"/>
            <a:ext cx="2926080" cy="182880"/>
          </a:xfrm>
          <a:prstGeom prst="rect">
            <a:avLst/>
          </a:prstGeom>
          <a:noFill/>
          <a:ln/>
        </p:spPr>
        <p:txBody>
          <a:bodyPr wrap="square" lIns="0" tIns="0" rIns="0" bIns="0" rtlCol="0" anchor="ctr"/>
          <a:lstStyle/>
          <a:p>
            <a:pPr indent="0" marL="0">
              <a:buNone/>
            </a:pPr>
            <a:r>
              <a:rPr lang="en-US" sz="850" dirty="0">
                <a:solidFill>
                  <a:srgbClr val="028090"/>
                </a:solidFill>
                <a:latin typeface="Courier New" pitchFamily="34" charset="0"/>
                <a:ea typeface="Courier New" pitchFamily="34" charset="-122"/>
                <a:cs typeface="Courier New" pitchFamily="34" charset="-120"/>
              </a:rPr>
              <a:t>dist_thresh_ratio</a:t>
            </a:r>
            <a:endParaRPr lang="en-US" sz="850" dirty="0"/>
          </a:p>
        </p:txBody>
      </p:sp>
      <p:sp>
        <p:nvSpPr>
          <p:cNvPr id="13" name="Text 10"/>
          <p:cNvSpPr/>
          <p:nvPr/>
        </p:nvSpPr>
        <p:spPr>
          <a:xfrm>
            <a:off x="5541264" y="1572768"/>
            <a:ext cx="2926080" cy="237744"/>
          </a:xfrm>
          <a:prstGeom prst="rect">
            <a:avLst/>
          </a:prstGeom>
          <a:noFill/>
          <a:ln/>
        </p:spPr>
        <p:txBody>
          <a:bodyPr wrap="square" lIns="0" tIns="0" rIns="0" bIns="0" rtlCol="0" anchor="ctr"/>
          <a:lstStyle/>
          <a:p>
            <a:pPr indent="0" marL="0">
              <a:buNone/>
            </a:pPr>
            <a:r>
              <a:rPr lang="en-US" sz="1200" dirty="0">
                <a:solidFill>
                  <a:srgbClr val="065A82"/>
                </a:solidFill>
                <a:latin typeface="Segoe UI Semibold" pitchFamily="34" charset="0"/>
                <a:ea typeface="Segoe UI Semibold" pitchFamily="34" charset="-122"/>
                <a:cs typeface="Segoe UI Semibold" pitchFamily="34" charset="-120"/>
              </a:rPr>
              <a:t>0,2 → 0,6</a:t>
            </a:r>
            <a:endParaRPr lang="en-US" sz="1200" dirty="0"/>
          </a:p>
        </p:txBody>
      </p:sp>
      <p:sp>
        <p:nvSpPr>
          <p:cNvPr id="14" name="Text 11"/>
          <p:cNvSpPr/>
          <p:nvPr/>
        </p:nvSpPr>
        <p:spPr>
          <a:xfrm>
            <a:off x="5541264" y="1828800"/>
            <a:ext cx="2926080" cy="365760"/>
          </a:xfrm>
          <a:prstGeom prst="rect">
            <a:avLst/>
          </a:prstGeom>
          <a:noFill/>
          <a:ln/>
        </p:spPr>
        <p:txBody>
          <a:bodyPr wrap="square" lIns="0" tIns="0" rIns="0" bIns="0" rtlCol="0" anchor="t"/>
          <a:lstStyle/>
          <a:p>
            <a:pPr indent="0" marL="0">
              <a:lnSpc>
                <a:spcPct val="110000"/>
              </a:lnSpc>
              <a:buNone/>
            </a:pPr>
            <a:r>
              <a:rPr lang="en-US" sz="800" dirty="0">
                <a:solidFill>
                  <a:srgbClr val="5F7186"/>
                </a:solidFill>
                <a:latin typeface="Segoe UI" pitchFamily="34" charset="0"/>
                <a:ea typeface="Segoe UI" pitchFamily="34" charset="-122"/>
                <a:cs typeface="Segoe UI" pitchFamily="34" charset="-120"/>
              </a:rPr>
              <a:t>Khảo sát 5 mốc; ngưỡng càng cao thì hạt giống càng thưa, u nhỏ dễ mất đỉnh EDT.</a:t>
            </a:r>
            <a:endParaRPr lang="en-US" sz="800" dirty="0"/>
          </a:p>
        </p:txBody>
      </p:sp>
      <p:sp>
        <p:nvSpPr>
          <p:cNvPr id="15" name="Shape 12"/>
          <p:cNvSpPr/>
          <p:nvPr/>
        </p:nvSpPr>
        <p:spPr>
          <a:xfrm>
            <a:off x="5394960" y="2377440"/>
            <a:ext cx="3246120" cy="932688"/>
          </a:xfrm>
          <a:prstGeom prst="roundRect">
            <a:avLst>
              <a:gd name="adj" fmla="val 5882"/>
            </a:avLst>
          </a:prstGeom>
          <a:solidFill>
            <a:srgbClr val="FFFFFF"/>
          </a:solidFill>
          <a:ln w="9525">
            <a:solidFill>
              <a:srgbClr val="D1E3E8"/>
            </a:solidFill>
            <a:prstDash val="solid"/>
          </a:ln>
          <a:effectLst>
            <a:outerShdw sx="100000" sy="100000" kx="0" ky="0" algn="bl" rotWithShape="0" blurRad="1.7602379987367734e+156" dist="8.801189993683867e+155" dir="3.3418736347109347e+183">
              <a:srgbClr val="0B2B3C">
                <a:alpha val="9.999999999999998e+188"/>
              </a:srgbClr>
            </a:outerShdw>
          </a:effectLst>
        </p:spPr>
      </p:sp>
      <p:sp>
        <p:nvSpPr>
          <p:cNvPr id="16" name="Text 13"/>
          <p:cNvSpPr/>
          <p:nvPr/>
        </p:nvSpPr>
        <p:spPr>
          <a:xfrm>
            <a:off x="5541264" y="2468880"/>
            <a:ext cx="2926080" cy="182880"/>
          </a:xfrm>
          <a:prstGeom prst="rect">
            <a:avLst/>
          </a:prstGeom>
          <a:noFill/>
          <a:ln/>
        </p:spPr>
        <p:txBody>
          <a:bodyPr wrap="square" lIns="0" tIns="0" rIns="0" bIns="0" rtlCol="0" anchor="ctr"/>
          <a:lstStyle/>
          <a:p>
            <a:pPr indent="0" marL="0">
              <a:buNone/>
            </a:pPr>
            <a:r>
              <a:rPr lang="en-US" sz="850" dirty="0">
                <a:solidFill>
                  <a:srgbClr val="028090"/>
                </a:solidFill>
                <a:latin typeface="Courier New" pitchFamily="34" charset="0"/>
                <a:ea typeface="Courier New" pitchFamily="34" charset="-122"/>
                <a:cs typeface="Courier New" pitchFamily="34" charset="-120"/>
              </a:rPr>
              <a:t>min_tumor_area</a:t>
            </a:r>
            <a:endParaRPr lang="en-US" sz="850" dirty="0"/>
          </a:p>
        </p:txBody>
      </p:sp>
      <p:sp>
        <p:nvSpPr>
          <p:cNvPr id="17" name="Text 14"/>
          <p:cNvSpPr/>
          <p:nvPr/>
        </p:nvSpPr>
        <p:spPr>
          <a:xfrm>
            <a:off x="5541264" y="2651760"/>
            <a:ext cx="2926080" cy="237744"/>
          </a:xfrm>
          <a:prstGeom prst="rect">
            <a:avLst/>
          </a:prstGeom>
          <a:noFill/>
          <a:ln/>
        </p:spPr>
        <p:txBody>
          <a:bodyPr wrap="square" lIns="0" tIns="0" rIns="0" bIns="0" rtlCol="0" anchor="ctr"/>
          <a:lstStyle/>
          <a:p>
            <a:pPr indent="0" marL="0">
              <a:buNone/>
            </a:pPr>
            <a:r>
              <a:rPr lang="en-US" sz="1200" dirty="0">
                <a:solidFill>
                  <a:srgbClr val="065A82"/>
                </a:solidFill>
                <a:latin typeface="Segoe UI Semibold" pitchFamily="34" charset="0"/>
                <a:ea typeface="Segoe UI Semibold" pitchFamily="34" charset="-122"/>
                <a:cs typeface="Segoe UI Semibold" pitchFamily="34" charset="-120"/>
              </a:rPr>
              <a:t>20 → 100 px</a:t>
            </a:r>
            <a:endParaRPr lang="en-US" sz="1200" dirty="0"/>
          </a:p>
        </p:txBody>
      </p:sp>
      <p:sp>
        <p:nvSpPr>
          <p:cNvPr id="18" name="Text 15"/>
          <p:cNvSpPr/>
          <p:nvPr/>
        </p:nvSpPr>
        <p:spPr>
          <a:xfrm>
            <a:off x="5541264" y="2907792"/>
            <a:ext cx="2926080" cy="365760"/>
          </a:xfrm>
          <a:prstGeom prst="rect">
            <a:avLst/>
          </a:prstGeom>
          <a:noFill/>
          <a:ln/>
        </p:spPr>
        <p:txBody>
          <a:bodyPr wrap="square" lIns="0" tIns="0" rIns="0" bIns="0" rtlCol="0" anchor="t"/>
          <a:lstStyle/>
          <a:p>
            <a:pPr indent="0" marL="0">
              <a:lnSpc>
                <a:spcPct val="110000"/>
              </a:lnSpc>
              <a:buNone/>
            </a:pPr>
            <a:r>
              <a:rPr lang="en-US" sz="800" dirty="0">
                <a:solidFill>
                  <a:srgbClr val="5F7186"/>
                </a:solidFill>
                <a:latin typeface="Segoe UI" pitchFamily="34" charset="0"/>
                <a:ea typeface="Segoe UI" pitchFamily="34" charset="-122"/>
                <a:cs typeface="Segoe UI" pitchFamily="34" charset="-120"/>
              </a:rPr>
              <a:t>Ngưỡng lọc đảo nhiễu; quá lớn sẽ cắt tỉa cả u nhỏ dưới 1,5% diện tích não.</a:t>
            </a:r>
            <a:endParaRPr lang="en-US" sz="800" dirty="0"/>
          </a:p>
        </p:txBody>
      </p:sp>
      <p:sp>
        <p:nvSpPr>
          <p:cNvPr id="19" name="Shape 16"/>
          <p:cNvSpPr/>
          <p:nvPr/>
        </p:nvSpPr>
        <p:spPr>
          <a:xfrm>
            <a:off x="5394960" y="3456432"/>
            <a:ext cx="3246120" cy="1152144"/>
          </a:xfrm>
          <a:prstGeom prst="roundRect">
            <a:avLst>
              <a:gd name="adj" fmla="val 4762"/>
            </a:avLst>
          </a:prstGeom>
          <a:solidFill>
            <a:srgbClr val="065A82"/>
          </a:solidFill>
          <a:ln w="9525">
            <a:solidFill>
              <a:srgbClr val="065A82"/>
            </a:solidFill>
            <a:prstDash val="solid"/>
          </a:ln>
          <a:effectLst>
            <a:outerShdw sx="100000" sy="100000" kx="0" ky="0" algn="bl" rotWithShape="0" blurRad="2.235502258395702e+160" dist="1.117751129197851e+160" dir="2.0051241808265608e+188">
              <a:srgbClr val="0B2B3C">
                <a:alpha val="9.999999999999998e+193"/>
              </a:srgbClr>
            </a:outerShdw>
          </a:effectLst>
        </p:spPr>
      </p:sp>
      <p:sp>
        <p:nvSpPr>
          <p:cNvPr id="20" name="Text 17"/>
          <p:cNvSpPr/>
          <p:nvPr/>
        </p:nvSpPr>
        <p:spPr>
          <a:xfrm>
            <a:off x="5541264" y="3547872"/>
            <a:ext cx="2926080" cy="182880"/>
          </a:xfrm>
          <a:prstGeom prst="rect">
            <a:avLst/>
          </a:prstGeom>
          <a:noFill/>
          <a:ln/>
        </p:spPr>
        <p:txBody>
          <a:bodyPr wrap="square" lIns="0" tIns="0" rIns="0" bIns="0" rtlCol="0" anchor="ctr"/>
          <a:lstStyle/>
          <a:p>
            <a:pPr indent="0" marL="0">
              <a:buNone/>
            </a:pPr>
            <a:r>
              <a:rPr lang="en-US" sz="850" spc="120" kern="0" dirty="0">
                <a:solidFill>
                  <a:srgbClr val="9FE8DC"/>
                </a:solidFill>
                <a:latin typeface="Segoe UI Semibold" pitchFamily="34" charset="0"/>
                <a:ea typeface="Segoe UI Semibold" pitchFamily="34" charset="-122"/>
                <a:cs typeface="Segoe UI Semibold" pitchFamily="34" charset="-120"/>
              </a:rPr>
              <a:t>ĐIỂM NGỌT TỐI ƯU</a:t>
            </a:r>
            <a:endParaRPr lang="en-US" sz="850" dirty="0"/>
          </a:p>
        </p:txBody>
      </p:sp>
      <p:sp>
        <p:nvSpPr>
          <p:cNvPr id="21" name="Text 18"/>
          <p:cNvSpPr/>
          <p:nvPr/>
        </p:nvSpPr>
        <p:spPr>
          <a:xfrm>
            <a:off x="5541264" y="3749040"/>
            <a:ext cx="2926080" cy="237744"/>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dist_thresh_ratio = 0,4</a:t>
            </a:r>
            <a:endParaRPr lang="en-US" sz="1400" dirty="0"/>
          </a:p>
        </p:txBody>
      </p:sp>
      <p:sp>
        <p:nvSpPr>
          <p:cNvPr id="22" name="Text 19"/>
          <p:cNvSpPr/>
          <p:nvPr/>
        </p:nvSpPr>
        <p:spPr>
          <a:xfrm>
            <a:off x="5541264" y="3986784"/>
            <a:ext cx="2926080" cy="237744"/>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min_tumor_area = 50 px</a:t>
            </a:r>
            <a:endParaRPr lang="en-US" sz="1400" dirty="0"/>
          </a:p>
        </p:txBody>
      </p:sp>
      <p:sp>
        <p:nvSpPr>
          <p:cNvPr id="23" name="Text 20"/>
          <p:cNvSpPr/>
          <p:nvPr/>
        </p:nvSpPr>
        <p:spPr>
          <a:xfrm>
            <a:off x="5541264" y="4242816"/>
            <a:ext cx="2926080" cy="274320"/>
          </a:xfrm>
          <a:prstGeom prst="rect">
            <a:avLst/>
          </a:prstGeom>
          <a:noFill/>
          <a:ln/>
        </p:spPr>
        <p:txBody>
          <a:bodyPr wrap="square" lIns="0" tIns="0" rIns="0" bIns="0" rtlCol="0" anchor="ctr"/>
          <a:lstStyle/>
          <a:p>
            <a:pPr indent="0" marL="0">
              <a:buNone/>
            </a:pPr>
            <a:r>
              <a:rPr lang="en-US" sz="850" dirty="0">
                <a:solidFill>
                  <a:srgbClr val="CBE8EF"/>
                </a:solidFill>
                <a:latin typeface="Segoe UI" pitchFamily="34" charset="0"/>
                <a:ea typeface="Segoe UI" pitchFamily="34" charset="-122"/>
                <a:cs typeface="Segoe UI" pitchFamily="34" charset="-120"/>
              </a:rPr>
              <a:t>Trùng khớp giá trị mặc định của hệ thống.</a:t>
            </a:r>
            <a:endParaRPr lang="en-US" sz="850" dirty="0"/>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1"/>
                                        </p:tgtEl>
                                        <p:attrNameLst>
                                          <p:attrName>style.visibility</p:attrName>
                                        </p:attrNameLst>
                                      </p:cBhvr>
                                      <p:to>
                                        <p:strVal val="visible"/>
                                      </p:to>
                                    </p:set>
                                    <p:animEffect transition="in" filter="fade">
                                      <p:cBhvr>
                                        <p:cTn id="106" dur="400"/>
                                        <p:tgtEl>
                                          <p:spTgt spid="1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fade">
                                      <p:cBhvr>
                                        <p:cTn id="109" dur="400"/>
                                        <p:tgtEl>
                                          <p:spTgt spid="1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3"/>
                                        </p:tgtEl>
                                        <p:attrNameLst>
                                          <p:attrName>style.visibility</p:attrName>
                                        </p:attrNameLst>
                                      </p:cBhvr>
                                      <p:to>
                                        <p:strVal val="visible"/>
                                      </p:to>
                                    </p:set>
                                    <p:animEffect transition="in" filter="fade">
                                      <p:cBhvr>
                                        <p:cTn id="112" dur="400"/>
                                        <p:tgtEl>
                                          <p:spTgt spid="13"/>
                                        </p:tgtEl>
                                      </p:cBhvr>
                                    </p:animEffect>
                                  </p:childTnLst>
                                </p:cTn>
                              </p:par>
                              <p:par>
                                <p:cTn id="113" presetID="10" presetClass="entr" presetSubtype="0" fill="hold" grpId="0" nodeType="withEffect">
                                  <p:stCondLst>
                                    <p:cond delay="280"/>
                                  </p:stCondLst>
                                  <p:childTnLst>
                                    <p:set>
                                      <p:cBhvr>
                                        <p:cTn id="114" dur="1" fill="hold">
                                          <p:stCondLst>
                                            <p:cond delay="0"/>
                                          </p:stCondLst>
                                        </p:cTn>
                                        <p:tgtEl>
                                          <p:spTgt spid="14"/>
                                        </p:tgtEl>
                                        <p:attrNameLst>
                                          <p:attrName>style.visibility</p:attrName>
                                        </p:attrNameLst>
                                      </p:cBhvr>
                                      <p:to>
                                        <p:strVal val="visible"/>
                                      </p:to>
                                    </p:set>
                                    <p:animEffect transition="in" filter="fade">
                                      <p:cBhvr>
                                        <p:cTn id="115" dur="400"/>
                                        <p:tgtEl>
                                          <p:spTgt spid="14"/>
                                        </p:tgtEl>
                                      </p:cBhvr>
                                    </p:animEffect>
                                  </p:childTnLst>
                                </p:cTn>
                              </p:par>
                              <p:par>
                                <p:cTn id="116" presetID="10" presetClass="entr" presetSubtype="0" fill="hold" grpId="0" nodeType="withEffect">
                                  <p:stCondLst>
                                    <p:cond delay="560"/>
                                  </p:stCondLst>
                                  <p:childTnLst>
                                    <p:set>
                                      <p:cBhvr>
                                        <p:cTn id="117" dur="1" fill="hold">
                                          <p:stCondLst>
                                            <p:cond delay="0"/>
                                          </p:stCondLst>
                                        </p:cTn>
                                        <p:tgtEl>
                                          <p:spTgt spid="15"/>
                                        </p:tgtEl>
                                        <p:attrNameLst>
                                          <p:attrName>style.visibility</p:attrName>
                                        </p:attrNameLst>
                                      </p:cBhvr>
                                      <p:to>
                                        <p:strVal val="visible"/>
                                      </p:to>
                                    </p:set>
                                    <p:animEffect transition="in" filter="fade">
                                      <p:cBhvr>
                                        <p:cTn id="118" dur="400"/>
                                        <p:tgtEl>
                                          <p:spTgt spid="15"/>
                                        </p:tgtEl>
                                      </p:cBhvr>
                                    </p:animEffect>
                                  </p:childTnLst>
                                </p:cTn>
                              </p:par>
                              <p:par>
                                <p:cTn id="119" presetID="10" presetClass="entr" presetSubtype="0" fill="hold" grpId="0" nodeType="withEffect">
                                  <p:stCondLst>
                                    <p:cond delay="560"/>
                                  </p:stCondLst>
                                  <p:childTnLst>
                                    <p:set>
                                      <p:cBhvr>
                                        <p:cTn id="120" dur="1" fill="hold">
                                          <p:stCondLst>
                                            <p:cond delay="0"/>
                                          </p:stCondLst>
                                        </p:cTn>
                                        <p:tgtEl>
                                          <p:spTgt spid="16"/>
                                        </p:tgtEl>
                                        <p:attrNameLst>
                                          <p:attrName>style.visibility</p:attrName>
                                        </p:attrNameLst>
                                      </p:cBhvr>
                                      <p:to>
                                        <p:strVal val="visible"/>
                                      </p:to>
                                    </p:set>
                                    <p:animEffect transition="in" filter="fade">
                                      <p:cBhvr>
                                        <p:cTn id="121" dur="400"/>
                                        <p:tgtEl>
                                          <p:spTgt spid="16"/>
                                        </p:tgtEl>
                                      </p:cBhvr>
                                    </p:animEffect>
                                  </p:childTnLst>
                                </p:cTn>
                              </p:par>
                              <p:par>
                                <p:cTn id="122" presetID="10" presetClass="entr" presetSubtype="0" fill="hold" grpId="0" nodeType="withEffect">
                                  <p:stCondLst>
                                    <p:cond delay="840"/>
                                  </p:stCondLst>
                                  <p:childTnLst>
                                    <p:set>
                                      <p:cBhvr>
                                        <p:cTn id="123" dur="1" fill="hold">
                                          <p:stCondLst>
                                            <p:cond delay="0"/>
                                          </p:stCondLst>
                                        </p:cTn>
                                        <p:tgtEl>
                                          <p:spTgt spid="17"/>
                                        </p:tgtEl>
                                        <p:attrNameLst>
                                          <p:attrName>style.visibility</p:attrName>
                                        </p:attrNameLst>
                                      </p:cBhvr>
                                      <p:to>
                                        <p:strVal val="visible"/>
                                      </p:to>
                                    </p:set>
                                    <p:animEffect transition="in" filter="fade">
                                      <p:cBhvr>
                                        <p:cTn id="124" dur="400"/>
                                        <p:tgtEl>
                                          <p:spTgt spid="17"/>
                                        </p:tgtEl>
                                      </p:cBhvr>
                                    </p:animEffect>
                                  </p:childTnLst>
                                </p:cTn>
                              </p:par>
                              <p:par>
                                <p:cTn id="125" presetID="10" presetClass="entr" presetSubtype="0" fill="hold" grpId="0" nodeType="withEffect">
                                  <p:stCondLst>
                                    <p:cond delay="840"/>
                                  </p:stCondLst>
                                  <p:childTnLst>
                                    <p:set>
                                      <p:cBhvr>
                                        <p:cTn id="126" dur="1" fill="hold">
                                          <p:stCondLst>
                                            <p:cond delay="0"/>
                                          </p:stCondLst>
                                        </p:cTn>
                                        <p:tgtEl>
                                          <p:spTgt spid="18"/>
                                        </p:tgtEl>
                                        <p:attrNameLst>
                                          <p:attrName>style.visibility</p:attrName>
                                        </p:attrNameLst>
                                      </p:cBhvr>
                                      <p:to>
                                        <p:strVal val="visible"/>
                                      </p:to>
                                    </p:set>
                                    <p:animEffect transition="in" filter="fade">
                                      <p:cBhvr>
                                        <p:cTn id="127" dur="400"/>
                                        <p:tgtEl>
                                          <p:spTgt spid="18"/>
                                        </p:tgtEl>
                                      </p:cBhvr>
                                    </p:animEffect>
                                  </p:childTnLst>
                                </p:cTn>
                              </p:par>
                              <p:par>
                                <p:cTn id="128" presetID="10" presetClass="entr" presetSubtype="0" fill="hold" grpId="0" nodeType="withEffect">
                                  <p:stCondLst>
                                    <p:cond delay="1120"/>
                                  </p:stCondLst>
                                  <p:childTnLst>
                                    <p:set>
                                      <p:cBhvr>
                                        <p:cTn id="129" dur="1" fill="hold">
                                          <p:stCondLst>
                                            <p:cond delay="0"/>
                                          </p:stCondLst>
                                        </p:cTn>
                                        <p:tgtEl>
                                          <p:spTgt spid="7"/>
                                        </p:tgtEl>
                                        <p:attrNameLst>
                                          <p:attrName>style.visibility</p:attrName>
                                        </p:attrNameLst>
                                      </p:cBhvr>
                                      <p:to>
                                        <p:strVal val="visible"/>
                                      </p:to>
                                    </p:set>
                                    <p:animEffect transition="in" filter="fade">
                                      <p:cBhvr>
                                        <p:cTn id="130" dur="400"/>
                                        <p:tgtEl>
                                          <p:spTgt spid="7"/>
                                        </p:tgtEl>
                                      </p:cBhvr>
                                    </p:animEffect>
                                  </p:childTnLst>
                                </p:cTn>
                              </p:par>
                              <p:par>
                                <p:cTn id="131" presetID="10" presetClass="entr" presetSubtype="0" fill="hold" grpId="0" nodeType="withEffect">
                                  <p:stCondLst>
                                    <p:cond delay="1400"/>
                                  </p:stCondLst>
                                  <p:childTnLst>
                                    <p:set>
                                      <p:cBhvr>
                                        <p:cTn id="132" dur="1" fill="hold">
                                          <p:stCondLst>
                                            <p:cond delay="0"/>
                                          </p:stCondLst>
                                        </p:cTn>
                                        <p:tgtEl>
                                          <p:spTgt spid="8"/>
                                        </p:tgtEl>
                                        <p:attrNameLst>
                                          <p:attrName>style.visibility</p:attrName>
                                        </p:attrNameLst>
                                      </p:cBhvr>
                                      <p:to>
                                        <p:strVal val="visible"/>
                                      </p:to>
                                    </p:set>
                                    <p:animEffect transition="in" filter="fade">
                                      <p:cBhvr>
                                        <p:cTn id="133" dur="400"/>
                                        <p:tgtEl>
                                          <p:spTgt spid="8"/>
                                        </p:tgtEl>
                                      </p:cBhvr>
                                    </p:animEffect>
                                  </p:childTnLst>
                                </p:cTn>
                              </p:par>
                              <p:par>
                                <p:cTn id="134" presetID="10" presetClass="entr" presetSubtype="0" fill="hold" grpId="0" nodeType="withEffect">
                                  <p:stCondLst>
                                    <p:cond delay="1400"/>
                                  </p:stCondLst>
                                  <p:childTnLst>
                                    <p:set>
                                      <p:cBhvr>
                                        <p:cTn id="135" dur="1" fill="hold">
                                          <p:stCondLst>
                                            <p:cond delay="0"/>
                                          </p:stCondLst>
                                        </p:cTn>
                                        <p:tgtEl>
                                          <p:spTgt spid="9"/>
                                        </p:tgtEl>
                                        <p:attrNameLst>
                                          <p:attrName>style.visibility</p:attrName>
                                        </p:attrNameLst>
                                      </p:cBhvr>
                                      <p:to>
                                        <p:strVal val="visible"/>
                                      </p:to>
                                    </p:set>
                                    <p:animEffect transition="in" filter="fade">
                                      <p:cBhvr>
                                        <p:cTn id="136" dur="400"/>
                                        <p:tgtEl>
                                          <p:spTgt spid="9"/>
                                        </p:tgtEl>
                                      </p:cBhvr>
                                    </p:animEffect>
                                  </p:childTnLst>
                                </p:cTn>
                              </p:par>
                              <p:par>
                                <p:cTn id="137" presetID="10" presetClass="entr" presetSubtype="0" fill="hold" grpId="0" nodeType="withEffect">
                                  <p:stCondLst>
                                    <p:cond delay="1400"/>
                                  </p:stCondLst>
                                  <p:childTnLst>
                                    <p:set>
                                      <p:cBhvr>
                                        <p:cTn id="138" dur="1" fill="hold">
                                          <p:stCondLst>
                                            <p:cond delay="0"/>
                                          </p:stCondLst>
                                        </p:cTn>
                                        <p:tgtEl>
                                          <p:spTgt spid="19"/>
                                        </p:tgtEl>
                                        <p:attrNameLst>
                                          <p:attrName>style.visibility</p:attrName>
                                        </p:attrNameLst>
                                      </p:cBhvr>
                                      <p:to>
                                        <p:strVal val="visible"/>
                                      </p:to>
                                    </p:set>
                                    <p:animEffect transition="in" filter="fade">
                                      <p:cBhvr>
                                        <p:cTn id="139" dur="400"/>
                                        <p:tgtEl>
                                          <p:spTgt spid="19"/>
                                        </p:tgtEl>
                                      </p:cBhvr>
                                    </p:animEffect>
                                  </p:childTnLst>
                                </p:cTn>
                              </p:par>
                              <p:par>
                                <p:cTn id="140" presetID="10" presetClass="entr" presetSubtype="0" fill="hold" grpId="0" nodeType="withEffect">
                                  <p:stCondLst>
                                    <p:cond delay="1400"/>
                                  </p:stCondLst>
                                  <p:childTnLst>
                                    <p:set>
                                      <p:cBhvr>
                                        <p:cTn id="141" dur="1" fill="hold">
                                          <p:stCondLst>
                                            <p:cond delay="0"/>
                                          </p:stCondLst>
                                        </p:cTn>
                                        <p:tgtEl>
                                          <p:spTgt spid="20"/>
                                        </p:tgtEl>
                                        <p:attrNameLst>
                                          <p:attrName>style.visibility</p:attrName>
                                        </p:attrNameLst>
                                      </p:cBhvr>
                                      <p:to>
                                        <p:strVal val="visible"/>
                                      </p:to>
                                    </p:set>
                                    <p:animEffect transition="in" filter="fade">
                                      <p:cBhvr>
                                        <p:cTn id="142" dur="400"/>
                                        <p:tgtEl>
                                          <p:spTgt spid="20"/>
                                        </p:tgtEl>
                                      </p:cBhvr>
                                    </p:animEffect>
                                  </p:childTnLst>
                                </p:cTn>
                              </p:par>
                              <p:par>
                                <p:cTn id="143" presetID="10" presetClass="entr" presetSubtype="0" fill="hold" grpId="0" nodeType="withEffect">
                                  <p:stCondLst>
                                    <p:cond delay="1400"/>
                                  </p:stCondLst>
                                  <p:childTnLst>
                                    <p:set>
                                      <p:cBhvr>
                                        <p:cTn id="144" dur="1" fill="hold">
                                          <p:stCondLst>
                                            <p:cond delay="0"/>
                                          </p:stCondLst>
                                        </p:cTn>
                                        <p:tgtEl>
                                          <p:spTgt spid="21"/>
                                        </p:tgtEl>
                                        <p:attrNameLst>
                                          <p:attrName>style.visibility</p:attrName>
                                        </p:attrNameLst>
                                      </p:cBhvr>
                                      <p:to>
                                        <p:strVal val="visible"/>
                                      </p:to>
                                    </p:set>
                                    <p:animEffect transition="in" filter="fade">
                                      <p:cBhvr>
                                        <p:cTn id="14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13  ·  GIỚI HẠN PHƯƠNG PHÁP</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Phân tích ca thất bại và biện pháp khắc phục</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14 / 20</a:t>
            </a:r>
            <a:endParaRPr lang="en-US" sz="800" dirty="0"/>
          </a:p>
        </p:txBody>
      </p:sp>
      <p:sp>
        <p:nvSpPr>
          <p:cNvPr id="6" name="Shape 4"/>
          <p:cNvSpPr/>
          <p:nvPr/>
        </p:nvSpPr>
        <p:spPr>
          <a:xfrm>
            <a:off x="502920" y="1243584"/>
            <a:ext cx="4023360" cy="1097280"/>
          </a:xfrm>
          <a:prstGeom prst="roundRect">
            <a:avLst>
              <a:gd name="adj" fmla="val 5000"/>
            </a:avLst>
          </a:prstGeom>
          <a:solidFill>
            <a:srgbClr val="FDF3E3"/>
          </a:solidFill>
          <a:ln w="9525">
            <a:solidFill>
              <a:srgbClr val="F0D9B5"/>
            </a:solidFill>
            <a:prstDash val="solid"/>
          </a:ln>
          <a:effectLst>
            <a:outerShdw sx="100000" sy="100000" kx="0" ky="0" algn="bl" rotWithShape="0" blurRad="2.8390878681625417e+164" dist="1.4195439340812709e+164" dir="1.2030745084959364e+193">
              <a:srgbClr val="0B2B3C">
                <a:alpha val="9.999999999999999e+198"/>
              </a:srgbClr>
            </a:outerShdw>
          </a:effectLst>
        </p:spPr>
      </p:sp>
      <p:sp>
        <p:nvSpPr>
          <p:cNvPr id="7" name="Text 5"/>
          <p:cNvSpPr/>
          <p:nvPr/>
        </p:nvSpPr>
        <p:spPr>
          <a:xfrm>
            <a:off x="704088" y="1353312"/>
            <a:ext cx="3566160" cy="182880"/>
          </a:xfrm>
          <a:prstGeom prst="rect">
            <a:avLst/>
          </a:prstGeom>
          <a:noFill/>
          <a:ln/>
        </p:spPr>
        <p:txBody>
          <a:bodyPr wrap="square" lIns="0" tIns="0" rIns="0" bIns="0" rtlCol="0" anchor="ctr"/>
          <a:lstStyle/>
          <a:p>
            <a:pPr indent="0" marL="0">
              <a:buNone/>
            </a:pPr>
            <a:r>
              <a:rPr lang="en-US" sz="800" spc="110" kern="0" dirty="0">
                <a:solidFill>
                  <a:srgbClr val="B45309"/>
                </a:solidFill>
                <a:latin typeface="Segoe UI Semibold" pitchFamily="34" charset="0"/>
                <a:ea typeface="Segoe UI Semibold" pitchFamily="34" charset="-122"/>
                <a:cs typeface="Segoe UI Semibold" pitchFamily="34" charset="-120"/>
              </a:rPr>
              <a:t>CA 1  ·  U VI THỂ</a:t>
            </a:r>
            <a:endParaRPr lang="en-US" sz="800" dirty="0"/>
          </a:p>
        </p:txBody>
      </p:sp>
      <p:sp>
        <p:nvSpPr>
          <p:cNvPr id="8" name="Text 6"/>
          <p:cNvSpPr/>
          <p:nvPr/>
        </p:nvSpPr>
        <p:spPr>
          <a:xfrm>
            <a:off x="704088" y="1554480"/>
            <a:ext cx="3621024" cy="219456"/>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Khối u nhỏ dưới 1,5% diện tích sọ</a:t>
            </a:r>
            <a:endParaRPr lang="en-US" sz="1050" dirty="0"/>
          </a:p>
        </p:txBody>
      </p:sp>
      <p:sp>
        <p:nvSpPr>
          <p:cNvPr id="9" name="Text 7"/>
          <p:cNvSpPr/>
          <p:nvPr/>
        </p:nvSpPr>
        <p:spPr>
          <a:xfrm>
            <a:off x="704088" y="1792224"/>
            <a:ext cx="3621024" cy="475488"/>
          </a:xfrm>
          <a:prstGeom prst="rect">
            <a:avLst/>
          </a:prstGeom>
          <a:noFill/>
          <a:ln/>
        </p:spPr>
        <p:txBody>
          <a:bodyPr wrap="square" lIns="0" tIns="0" rIns="0" bIns="0" rtlCol="0" anchor="t"/>
          <a:lstStyle/>
          <a:p>
            <a:pPr indent="0" marL="0">
              <a:lnSpc>
                <a:spcPct val="115000"/>
              </a:lnSpc>
              <a:buNone/>
            </a:pPr>
            <a:r>
              <a:rPr lang="en-US" sz="850" dirty="0">
                <a:solidFill>
                  <a:srgbClr val="1E293B"/>
                </a:solidFill>
                <a:latin typeface="Segoe UI" pitchFamily="34" charset="0"/>
                <a:ea typeface="Segoe UI" pitchFamily="34" charset="-122"/>
                <a:cs typeface="Segoe UI" pitchFamily="34" charset="-120"/>
              </a:rPr>
              <a:t>Bộ lọc diện tích cắt tỉa nhầm, hoặc biến đổi khoảng cách EDT không hình thành đỉnh cực đại nên không sinh được hạt giống.</a:t>
            </a:r>
            <a:endParaRPr lang="en-US" sz="850" dirty="0"/>
          </a:p>
        </p:txBody>
      </p:sp>
      <p:sp>
        <p:nvSpPr>
          <p:cNvPr id="10" name="Shape 8"/>
          <p:cNvSpPr/>
          <p:nvPr/>
        </p:nvSpPr>
        <p:spPr>
          <a:xfrm>
            <a:off x="502920" y="2487168"/>
            <a:ext cx="4023360" cy="1097280"/>
          </a:xfrm>
          <a:prstGeom prst="roundRect">
            <a:avLst>
              <a:gd name="adj" fmla="val 5000"/>
            </a:avLst>
          </a:prstGeom>
          <a:solidFill>
            <a:srgbClr val="FDF3E3"/>
          </a:solidFill>
          <a:ln w="9525">
            <a:solidFill>
              <a:srgbClr val="F0D9B5"/>
            </a:solidFill>
            <a:prstDash val="solid"/>
          </a:ln>
          <a:effectLst>
            <a:outerShdw sx="100000" sy="100000" kx="0" ky="0" algn="bl" rotWithShape="0" blurRad="3.605641592566428e+168" dist="1.802820796283214e+168" dir="7.218447050975619e+197">
              <a:srgbClr val="0B2B3C">
                <a:alpha val="9.999999999999998e+203"/>
              </a:srgbClr>
            </a:outerShdw>
          </a:effectLst>
        </p:spPr>
      </p:sp>
      <p:sp>
        <p:nvSpPr>
          <p:cNvPr id="11" name="Text 9"/>
          <p:cNvSpPr/>
          <p:nvPr/>
        </p:nvSpPr>
        <p:spPr>
          <a:xfrm>
            <a:off x="704088" y="2596896"/>
            <a:ext cx="3566160" cy="182880"/>
          </a:xfrm>
          <a:prstGeom prst="rect">
            <a:avLst/>
          </a:prstGeom>
          <a:noFill/>
          <a:ln/>
        </p:spPr>
        <p:txBody>
          <a:bodyPr wrap="square" lIns="0" tIns="0" rIns="0" bIns="0" rtlCol="0" anchor="ctr"/>
          <a:lstStyle/>
          <a:p>
            <a:pPr indent="0" marL="0">
              <a:buNone/>
            </a:pPr>
            <a:r>
              <a:rPr lang="en-US" sz="800" spc="110" kern="0" dirty="0">
                <a:solidFill>
                  <a:srgbClr val="B45309"/>
                </a:solidFill>
                <a:latin typeface="Segoe UI Semibold" pitchFamily="34" charset="0"/>
                <a:ea typeface="Segoe UI Semibold" pitchFamily="34" charset="-122"/>
                <a:cs typeface="Segoe UI Semibold" pitchFamily="34" charset="-120"/>
              </a:rPr>
              <a:t>CA 2  ·  PHÙ NỀO LAN RỘNG</a:t>
            </a:r>
            <a:endParaRPr lang="en-US" sz="800" dirty="0"/>
          </a:p>
        </p:txBody>
      </p:sp>
      <p:sp>
        <p:nvSpPr>
          <p:cNvPr id="12" name="Text 10"/>
          <p:cNvSpPr/>
          <p:nvPr/>
        </p:nvSpPr>
        <p:spPr>
          <a:xfrm>
            <a:off x="704088" y="2798064"/>
            <a:ext cx="3621024" cy="219456"/>
          </a:xfrm>
          <a:prstGeom prst="rect">
            <a:avLst/>
          </a:prstGeom>
          <a:noFill/>
          <a:ln/>
        </p:spPr>
        <p:txBody>
          <a:bodyPr wrap="square" lIns="0" tIns="0" rIns="0" bIns="0" rtlCol="0" anchor="ctr"/>
          <a:lstStyle/>
          <a:p>
            <a:pPr indent="0" marL="0">
              <a:buNone/>
            </a:pPr>
            <a:r>
              <a:rPr lang="en-US" sz="1050" dirty="0">
                <a:solidFill>
                  <a:srgbClr val="21295C"/>
                </a:solidFill>
                <a:latin typeface="Segoe UI Semibold" pitchFamily="34" charset="0"/>
                <a:ea typeface="Segoe UI Semibold" pitchFamily="34" charset="-122"/>
                <a:cs typeface="Segoe UI Semibold" pitchFamily="34" charset="-120"/>
              </a:rPr>
              <a:t>Vasogenic Edema bao quanh u</a:t>
            </a:r>
            <a:endParaRPr lang="en-US" sz="1050" dirty="0"/>
          </a:p>
        </p:txBody>
      </p:sp>
      <p:sp>
        <p:nvSpPr>
          <p:cNvPr id="13" name="Text 11"/>
          <p:cNvSpPr/>
          <p:nvPr/>
        </p:nvSpPr>
        <p:spPr>
          <a:xfrm>
            <a:off x="704088" y="3035808"/>
            <a:ext cx="3621024" cy="475488"/>
          </a:xfrm>
          <a:prstGeom prst="rect">
            <a:avLst/>
          </a:prstGeom>
          <a:noFill/>
          <a:ln/>
        </p:spPr>
        <p:txBody>
          <a:bodyPr wrap="square" lIns="0" tIns="0" rIns="0" bIns="0" rtlCol="0" anchor="t"/>
          <a:lstStyle/>
          <a:p>
            <a:pPr indent="0" marL="0">
              <a:lnSpc>
                <a:spcPct val="115000"/>
              </a:lnSpc>
              <a:buNone/>
            </a:pPr>
            <a:r>
              <a:rPr lang="en-US" sz="850" dirty="0">
                <a:solidFill>
                  <a:srgbClr val="1E293B"/>
                </a:solidFill>
                <a:latin typeface="Segoe UI" pitchFamily="34" charset="0"/>
                <a:ea typeface="Segoe UI" pitchFamily="34" charset="-122"/>
                <a:cs typeface="Segoe UI" pitchFamily="34" charset="-120"/>
              </a:rPr>
              <a:t>Gradient ranh giới mờ khiến Watershed under-segmentation, hoặc hạt giống rò rỉ sang vùng phù nề (leakage).</a:t>
            </a:r>
            <a:endParaRPr lang="en-US" sz="850" dirty="0"/>
          </a:p>
        </p:txBody>
      </p:sp>
      <p:sp>
        <p:nvSpPr>
          <p:cNvPr id="14" name="Shape 12"/>
          <p:cNvSpPr/>
          <p:nvPr/>
        </p:nvSpPr>
        <p:spPr>
          <a:xfrm>
            <a:off x="4754880" y="1243584"/>
            <a:ext cx="3886200" cy="2340864"/>
          </a:xfrm>
          <a:prstGeom prst="roundRect">
            <a:avLst>
              <a:gd name="adj" fmla="val 2344"/>
            </a:avLst>
          </a:prstGeom>
          <a:solidFill>
            <a:srgbClr val="FFFFFF"/>
          </a:solidFill>
          <a:ln w="9525">
            <a:solidFill>
              <a:srgbClr val="D1E3E8"/>
            </a:solidFill>
            <a:prstDash val="solid"/>
          </a:ln>
          <a:effectLst>
            <a:outerShdw sx="100000" sy="100000" kx="0" ky="0" algn="bl" rotWithShape="0" blurRad="4.579164822559364e+172" dist="2.289582411279682e+172" dir="4.3310682305853715e+202">
              <a:srgbClr val="0B2B3C">
                <a:alpha val="9.999999999999999e+208"/>
              </a:srgbClr>
            </a:outerShdw>
          </a:effectLst>
        </p:spPr>
      </p:sp>
      <p:sp>
        <p:nvSpPr>
          <p:cNvPr id="15" name="Text 13"/>
          <p:cNvSpPr/>
          <p:nvPr/>
        </p:nvSpPr>
        <p:spPr>
          <a:xfrm>
            <a:off x="4956048" y="1353312"/>
            <a:ext cx="3474720" cy="182880"/>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BIỆN PHÁP ĐÃ ÁP DỤNG</a:t>
            </a:r>
            <a:endParaRPr lang="en-US" sz="850" dirty="0"/>
          </a:p>
        </p:txBody>
      </p:sp>
      <p:sp>
        <p:nvSpPr>
          <p:cNvPr id="16" name="Text 14"/>
          <p:cNvSpPr/>
          <p:nvPr/>
        </p:nvSpPr>
        <p:spPr>
          <a:xfrm>
            <a:off x="4956048" y="1627632"/>
            <a:ext cx="3493008" cy="1280160"/>
          </a:xfrm>
          <a:prstGeom prst="rect">
            <a:avLst/>
          </a:prstGeom>
          <a:noFill/>
          <a:ln/>
        </p:spPr>
        <p:txBody>
          <a:bodyPr wrap="square" lIns="0" tIns="0" rIns="0" bIns="0" rtlCol="0" anchor="t"/>
          <a:lstStyle/>
          <a:p>
            <a:pPr marL="342900" indent="-342900">
              <a:lnSpc>
                <a:spcPct val="125000"/>
              </a:lnSpc>
              <a:spcAft>
                <a:spcPts val="800"/>
              </a:spcAft>
              <a:buSzPct val="100000"/>
              <a:buChar char="●"/>
            </a:pPr>
            <a:r>
              <a:rPr lang="en-US" sz="950" dirty="0">
                <a:solidFill>
                  <a:srgbClr val="1E293B"/>
                </a:solidFill>
                <a:latin typeface="Segoe UI" pitchFamily="34" charset="0"/>
                <a:ea typeface="Segoe UI" pitchFamily="34" charset="-122"/>
                <a:cs typeface="Segoe UI" pitchFamily="34" charset="-120"/>
              </a:rPr>
              <a:t>Bilateral Filter bảo toàn độ dốc biên, tránh nhòe ranh giới u</a:t>
            </a:r>
            <a:endParaRPr lang="en-US" sz="950" dirty="0"/>
          </a:p>
          <a:p>
            <a:pPr marL="342900" indent="-342900">
              <a:lnSpc>
                <a:spcPct val="125000"/>
              </a:lnSpc>
              <a:spcAft>
                <a:spcPts val="800"/>
              </a:spcAft>
              <a:buSzPct val="100000"/>
              <a:buChar char="●"/>
            </a:pPr>
            <a:r>
              <a:rPr lang="en-US" sz="950" dirty="0">
                <a:solidFill>
                  <a:srgbClr val="1E293B"/>
                </a:solidFill>
                <a:latin typeface="Segoe UI" pitchFamily="34" charset="0"/>
                <a:ea typeface="Segoe UI" pitchFamily="34" charset="-122"/>
                <a:cs typeface="Segoe UI" pitchFamily="34" charset="-120"/>
              </a:rPr>
              <a:t>Điều chỉnh dung sai phân vị thích ứng theo phân bố cường độ</a:t>
            </a:r>
            <a:endParaRPr lang="en-US" sz="950" dirty="0"/>
          </a:p>
          <a:p>
            <a:pPr marL="342900" indent="-342900">
              <a:lnSpc>
                <a:spcPct val="125000"/>
              </a:lnSpc>
              <a:spcAft>
                <a:spcPts val="800"/>
              </a:spcAft>
              <a:buSzPct val="100000"/>
              <a:buChar char="●"/>
            </a:pPr>
            <a:r>
              <a:rPr lang="en-US" sz="950" dirty="0">
                <a:solidFill>
                  <a:srgbClr val="1E293B"/>
                </a:solidFill>
                <a:latin typeface="Segoe UI" pitchFamily="34" charset="0"/>
                <a:ea typeface="Segoe UI" pitchFamily="34" charset="-122"/>
                <a:cs typeface="Segoe UI" pitchFamily="34" charset="-120"/>
              </a:rPr>
              <a:t>Lọc đảo nhiễu theo ngưỡng diện tích thay vì diện tích tuyệt đối</a:t>
            </a:r>
            <a:endParaRPr lang="en-US" sz="950" dirty="0"/>
          </a:p>
        </p:txBody>
      </p:sp>
      <p:sp>
        <p:nvSpPr>
          <p:cNvPr id="17" name="Shape 15"/>
          <p:cNvSpPr/>
          <p:nvPr/>
        </p:nvSpPr>
        <p:spPr>
          <a:xfrm>
            <a:off x="4754880" y="3712464"/>
            <a:ext cx="3886200" cy="896112"/>
          </a:xfrm>
          <a:prstGeom prst="roundRect">
            <a:avLst>
              <a:gd name="adj" fmla="val 6122"/>
            </a:avLst>
          </a:prstGeom>
          <a:solidFill>
            <a:srgbClr val="F0F7F9"/>
          </a:solidFill>
          <a:ln w="9525">
            <a:solidFill>
              <a:srgbClr val="D1E3E8"/>
            </a:solidFill>
            <a:prstDash val="solid"/>
          </a:ln>
        </p:spPr>
      </p:sp>
      <p:sp>
        <p:nvSpPr>
          <p:cNvPr id="18" name="Text 16"/>
          <p:cNvSpPr/>
          <p:nvPr/>
        </p:nvSpPr>
        <p:spPr>
          <a:xfrm>
            <a:off x="4956048" y="3803904"/>
            <a:ext cx="3474720" cy="201168"/>
          </a:xfrm>
          <a:prstGeom prst="rect">
            <a:avLst/>
          </a:prstGeom>
          <a:noFill/>
          <a:ln/>
        </p:spPr>
        <p:txBody>
          <a:bodyPr wrap="square" lIns="0" tIns="0" rIns="0" bIns="0" rtlCol="0" anchor="ctr"/>
          <a:lstStyle/>
          <a:p>
            <a:pPr indent="0" marL="0">
              <a:buNone/>
            </a:pPr>
            <a:r>
              <a:rPr lang="en-US" sz="950" dirty="0">
                <a:solidFill>
                  <a:srgbClr val="065A82"/>
                </a:solidFill>
                <a:latin typeface="Segoe UI Semibold" pitchFamily="34" charset="0"/>
                <a:ea typeface="Segoe UI Semibold" pitchFamily="34" charset="-122"/>
                <a:cs typeface="Segoe UI Semibold" pitchFamily="34" charset="-120"/>
              </a:rPr>
              <a:t>Định hướng khắc phục triệt để</a:t>
            </a:r>
            <a:endParaRPr lang="en-US" sz="950" dirty="0"/>
          </a:p>
        </p:txBody>
      </p:sp>
      <p:sp>
        <p:nvSpPr>
          <p:cNvPr id="19" name="Text 17"/>
          <p:cNvSpPr/>
          <p:nvPr/>
        </p:nvSpPr>
        <p:spPr>
          <a:xfrm>
            <a:off x="4956048" y="4023360"/>
            <a:ext cx="3493008" cy="475488"/>
          </a:xfrm>
          <a:prstGeom prst="rect">
            <a:avLst/>
          </a:prstGeom>
          <a:noFill/>
          <a:ln/>
        </p:spPr>
        <p:txBody>
          <a:bodyPr wrap="square" lIns="0" tIns="0" rIns="0" bIns="0" rtlCol="0" anchor="t"/>
          <a:lstStyle/>
          <a:p>
            <a:pPr indent="0" marL="0">
              <a:lnSpc>
                <a:spcPct val="115000"/>
              </a:lnSpc>
              <a:buNone/>
            </a:pPr>
            <a:r>
              <a:rPr lang="en-US" sz="850" dirty="0">
                <a:solidFill>
                  <a:srgbClr val="5F7186"/>
                </a:solidFill>
                <a:latin typeface="Segoe UI" pitchFamily="34" charset="0"/>
                <a:ea typeface="Segoe UI" pitchFamily="34" charset="-122"/>
                <a:cs typeface="Segoe UI" pitchFamily="34" charset="-120"/>
              </a:rPr>
              <a:t>Bổ sung đặc trưng kết cấu GLCM hoặc ngưỡng thích ứng cục bộ cho vùng u mờ.</a:t>
            </a:r>
            <a:endParaRPr lang="en-US" sz="850" dirty="0"/>
          </a:p>
        </p:txBody>
      </p:sp>
    </p:spTree>
  </p:cSld>
  <p:clrMapOvr>
    <a:masterClrMapping/>
  </p:clrMapOvr>
  <p:transition spd="med">
    <p:blinds dir="horz"/>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4"/>
                                        </p:tgtEl>
                                        <p:attrNameLst>
                                          <p:attrName>style.visibility</p:attrName>
                                        </p:attrNameLst>
                                      </p:cBhvr>
                                      <p:to>
                                        <p:strVal val="visible"/>
                                      </p:to>
                                    </p:set>
                                    <p:animEffect transition="in" filter="fade">
                                      <p:cBhvr>
                                        <p:cTn id="112" dur="400"/>
                                        <p:tgtEl>
                                          <p:spTgt spid="1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5"/>
                                        </p:tgtEl>
                                        <p:attrNameLst>
                                          <p:attrName>style.visibility</p:attrName>
                                        </p:attrNameLst>
                                      </p:cBhvr>
                                      <p:to>
                                        <p:strVal val="visible"/>
                                      </p:to>
                                    </p:set>
                                    <p:animEffect transition="in" filter="fade">
                                      <p:cBhvr>
                                        <p:cTn id="115" dur="400"/>
                                        <p:tgtEl>
                                          <p:spTgt spid="15"/>
                                        </p:tgtEl>
                                      </p:cBhvr>
                                    </p:animEffect>
                                  </p:childTnLst>
                                </p:cTn>
                              </p:par>
                              <p:par>
                                <p:cTn id="116" presetID="10" presetClass="entr" presetSubtype="0" fill="hold" grpId="0" nodeType="withEffect">
                                  <p:stCondLst>
                                    <p:cond delay="28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00"/>
                                        <p:tgtEl>
                                          <p:spTgt spid="9"/>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6"/>
                                        </p:tgtEl>
                                        <p:attrNameLst>
                                          <p:attrName>style.visibility</p:attrName>
                                        </p:attrNameLst>
                                      </p:cBhvr>
                                      <p:to>
                                        <p:strVal val="visible"/>
                                      </p:to>
                                    </p:set>
                                    <p:animEffect transition="in" filter="fade">
                                      <p:cBhvr>
                                        <p:cTn id="121" dur="400"/>
                                        <p:tgtEl>
                                          <p:spTgt spid="16"/>
                                        </p:tgtEl>
                                      </p:cBhvr>
                                    </p:animEffect>
                                  </p:childTnLst>
                                </p:cTn>
                              </p:par>
                              <p:par>
                                <p:cTn id="122" presetID="10" presetClass="entr" presetSubtype="0" fill="hold" grpId="0" nodeType="withEffect">
                                  <p:stCondLst>
                                    <p:cond delay="560"/>
                                  </p:stCondLst>
                                  <p:childTnLst>
                                    <p:set>
                                      <p:cBhvr>
                                        <p:cTn id="123" dur="1" fill="hold">
                                          <p:stCondLst>
                                            <p:cond delay="0"/>
                                          </p:stCondLst>
                                        </p:cTn>
                                        <p:tgtEl>
                                          <p:spTgt spid="10"/>
                                        </p:tgtEl>
                                        <p:attrNameLst>
                                          <p:attrName>style.visibility</p:attrName>
                                        </p:attrNameLst>
                                      </p:cBhvr>
                                      <p:to>
                                        <p:strVal val="visible"/>
                                      </p:to>
                                    </p:set>
                                    <p:animEffect transition="in" filter="fade">
                                      <p:cBhvr>
                                        <p:cTn id="124" dur="400"/>
                                        <p:tgtEl>
                                          <p:spTgt spid="10"/>
                                        </p:tgtEl>
                                      </p:cBhvr>
                                    </p:animEffect>
                                  </p:childTnLst>
                                </p:cTn>
                              </p:par>
                              <p:par>
                                <p:cTn id="125" presetID="10" presetClass="entr" presetSubtype="0" fill="hold" grpId="0" nodeType="withEffect">
                                  <p:stCondLst>
                                    <p:cond delay="840"/>
                                  </p:stCondLst>
                                  <p:childTnLst>
                                    <p:set>
                                      <p:cBhvr>
                                        <p:cTn id="126" dur="1" fill="hold">
                                          <p:stCondLst>
                                            <p:cond delay="0"/>
                                          </p:stCondLst>
                                        </p:cTn>
                                        <p:tgtEl>
                                          <p:spTgt spid="11"/>
                                        </p:tgtEl>
                                        <p:attrNameLst>
                                          <p:attrName>style.visibility</p:attrName>
                                        </p:attrNameLst>
                                      </p:cBhvr>
                                      <p:to>
                                        <p:strVal val="visible"/>
                                      </p:to>
                                    </p:set>
                                    <p:animEffect transition="in" filter="fade">
                                      <p:cBhvr>
                                        <p:cTn id="127" dur="400"/>
                                        <p:tgtEl>
                                          <p:spTgt spid="11"/>
                                        </p:tgtEl>
                                      </p:cBhvr>
                                    </p:animEffect>
                                  </p:childTnLst>
                                </p:cTn>
                              </p:par>
                              <p:par>
                                <p:cTn id="128" presetID="10" presetClass="entr" presetSubtype="0" fill="hold" grpId="0" nodeType="withEffect">
                                  <p:stCondLst>
                                    <p:cond delay="840"/>
                                  </p:stCondLst>
                                  <p:childTnLst>
                                    <p:set>
                                      <p:cBhvr>
                                        <p:cTn id="129" dur="1" fill="hold">
                                          <p:stCondLst>
                                            <p:cond delay="0"/>
                                          </p:stCondLst>
                                        </p:cTn>
                                        <p:tgtEl>
                                          <p:spTgt spid="12"/>
                                        </p:tgtEl>
                                        <p:attrNameLst>
                                          <p:attrName>style.visibility</p:attrName>
                                        </p:attrNameLst>
                                      </p:cBhvr>
                                      <p:to>
                                        <p:strVal val="visible"/>
                                      </p:to>
                                    </p:set>
                                    <p:animEffect transition="in" filter="fade">
                                      <p:cBhvr>
                                        <p:cTn id="130" dur="400"/>
                                        <p:tgtEl>
                                          <p:spTgt spid="12"/>
                                        </p:tgtEl>
                                      </p:cBhvr>
                                    </p:animEffect>
                                  </p:childTnLst>
                                </p:cTn>
                              </p:par>
                              <p:par>
                                <p:cTn id="131" presetID="10" presetClass="entr" presetSubtype="0" fill="hold" grpId="0" nodeType="withEffect">
                                  <p:stCondLst>
                                    <p:cond delay="1120"/>
                                  </p:stCondLst>
                                  <p:childTnLst>
                                    <p:set>
                                      <p:cBhvr>
                                        <p:cTn id="132" dur="1" fill="hold">
                                          <p:stCondLst>
                                            <p:cond delay="0"/>
                                          </p:stCondLst>
                                        </p:cTn>
                                        <p:tgtEl>
                                          <p:spTgt spid="13"/>
                                        </p:tgtEl>
                                        <p:attrNameLst>
                                          <p:attrName>style.visibility</p:attrName>
                                        </p:attrNameLst>
                                      </p:cBhvr>
                                      <p:to>
                                        <p:strVal val="visible"/>
                                      </p:to>
                                    </p:set>
                                    <p:animEffect transition="in" filter="fade">
                                      <p:cBhvr>
                                        <p:cTn id="133" dur="400"/>
                                        <p:tgtEl>
                                          <p:spTgt spid="13"/>
                                        </p:tgtEl>
                                      </p:cBhvr>
                                    </p:animEffect>
                                  </p:childTnLst>
                                </p:cTn>
                              </p:par>
                              <p:par>
                                <p:cTn id="134" presetID="10" presetClass="entr" presetSubtype="0" fill="hold" grpId="0" nodeType="withEffect">
                                  <p:stCondLst>
                                    <p:cond delay="1400"/>
                                  </p:stCondLst>
                                  <p:childTnLst>
                                    <p:set>
                                      <p:cBhvr>
                                        <p:cTn id="135" dur="1" fill="hold">
                                          <p:stCondLst>
                                            <p:cond delay="0"/>
                                          </p:stCondLst>
                                        </p:cTn>
                                        <p:tgtEl>
                                          <p:spTgt spid="17"/>
                                        </p:tgtEl>
                                        <p:attrNameLst>
                                          <p:attrName>style.visibility</p:attrName>
                                        </p:attrNameLst>
                                      </p:cBhvr>
                                      <p:to>
                                        <p:strVal val="visible"/>
                                      </p:to>
                                    </p:set>
                                    <p:animEffect transition="in" filter="fade">
                                      <p:cBhvr>
                                        <p:cTn id="136" dur="400"/>
                                        <p:tgtEl>
                                          <p:spTgt spid="17"/>
                                        </p:tgtEl>
                                      </p:cBhvr>
                                    </p:animEffect>
                                  </p:childTnLst>
                                </p:cTn>
                              </p:par>
                              <p:par>
                                <p:cTn id="137" presetID="10" presetClass="entr" presetSubtype="0" fill="hold" grpId="0" nodeType="withEffect">
                                  <p:stCondLst>
                                    <p:cond delay="1400"/>
                                  </p:stCondLst>
                                  <p:childTnLst>
                                    <p:set>
                                      <p:cBhvr>
                                        <p:cTn id="138" dur="1" fill="hold">
                                          <p:stCondLst>
                                            <p:cond delay="0"/>
                                          </p:stCondLst>
                                        </p:cTn>
                                        <p:tgtEl>
                                          <p:spTgt spid="18"/>
                                        </p:tgtEl>
                                        <p:attrNameLst>
                                          <p:attrName>style.visibility</p:attrName>
                                        </p:attrNameLst>
                                      </p:cBhvr>
                                      <p:to>
                                        <p:strVal val="visible"/>
                                      </p:to>
                                    </p:set>
                                    <p:animEffect transition="in" filter="fade">
                                      <p:cBhvr>
                                        <p:cTn id="139"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14  ·  ỨNG DỤNG DEMO</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Web Demo tương tác Streamlit cho bác sĩ X-quang</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15 / 20</a:t>
            </a:r>
            <a:endParaRPr lang="en-US" sz="800" dirty="0"/>
          </a:p>
        </p:txBody>
      </p:sp>
      <p:sp>
        <p:nvSpPr>
          <p:cNvPr id="6" name="Shape 4"/>
          <p:cNvSpPr/>
          <p:nvPr/>
        </p:nvSpPr>
        <p:spPr>
          <a:xfrm>
            <a:off x="502920" y="1225296"/>
            <a:ext cx="4846320" cy="3310128"/>
          </a:xfrm>
          <a:prstGeom prst="roundRect">
            <a:avLst>
              <a:gd name="adj" fmla="val 1657"/>
            </a:avLst>
          </a:prstGeom>
          <a:solidFill>
            <a:srgbClr val="FFFFFF"/>
          </a:solidFill>
          <a:ln w="9525">
            <a:solidFill>
              <a:srgbClr val="D1E3E8"/>
            </a:solidFill>
            <a:prstDash val="solid"/>
          </a:ln>
          <a:effectLst>
            <a:outerShdw sx="100000" sy="100000" kx="0" ky="0" algn="bl" rotWithShape="0" blurRad="5.815539324650392e+176" dist="2.907769662325196e+176" dir="2.598640938351223e+207">
              <a:srgbClr val="0B2B3C">
                <a:alpha val="9.999999999999998e+213"/>
              </a:srgbClr>
            </a:outerShdw>
          </a:effectLst>
        </p:spPr>
      </p:sp>
      <p:sp>
        <p:nvSpPr>
          <p:cNvPr id="7" name="Shape 5"/>
          <p:cNvSpPr/>
          <p:nvPr/>
        </p:nvSpPr>
        <p:spPr>
          <a:xfrm>
            <a:off x="521208" y="1243584"/>
            <a:ext cx="4809744" cy="310896"/>
          </a:xfrm>
          <a:prstGeom prst="roundRect">
            <a:avLst>
              <a:gd name="adj" fmla="val 11765"/>
            </a:avLst>
          </a:prstGeom>
          <a:solidFill>
            <a:srgbClr val="21295C"/>
          </a:solidFill>
          <a:ln w="9525">
            <a:solidFill>
              <a:srgbClr val="21295C"/>
            </a:solidFill>
            <a:prstDash val="solid"/>
          </a:ln>
        </p:spPr>
      </p:sp>
      <p:sp>
        <p:nvSpPr>
          <p:cNvPr id="8" name="Shape 6"/>
          <p:cNvSpPr/>
          <p:nvPr/>
        </p:nvSpPr>
        <p:spPr>
          <a:xfrm>
            <a:off x="667512" y="1335024"/>
            <a:ext cx="109728" cy="109728"/>
          </a:xfrm>
          <a:prstGeom prst="ellipse">
            <a:avLst/>
          </a:prstGeom>
          <a:solidFill>
            <a:srgbClr val="E26D6D"/>
          </a:solidFill>
          <a:ln w="6350">
            <a:solidFill>
              <a:srgbClr val="E26D6D"/>
            </a:solidFill>
            <a:prstDash val="solid"/>
          </a:ln>
        </p:spPr>
      </p:sp>
      <p:sp>
        <p:nvSpPr>
          <p:cNvPr id="9" name="Shape 7"/>
          <p:cNvSpPr/>
          <p:nvPr/>
        </p:nvSpPr>
        <p:spPr>
          <a:xfrm>
            <a:off x="832104" y="1335024"/>
            <a:ext cx="109728" cy="109728"/>
          </a:xfrm>
          <a:prstGeom prst="ellipse">
            <a:avLst/>
          </a:prstGeom>
          <a:solidFill>
            <a:srgbClr val="E3B341"/>
          </a:solidFill>
          <a:ln w="6350">
            <a:solidFill>
              <a:srgbClr val="E3B341"/>
            </a:solidFill>
            <a:prstDash val="solid"/>
          </a:ln>
        </p:spPr>
      </p:sp>
      <p:sp>
        <p:nvSpPr>
          <p:cNvPr id="10" name="Shape 8"/>
          <p:cNvSpPr/>
          <p:nvPr/>
        </p:nvSpPr>
        <p:spPr>
          <a:xfrm>
            <a:off x="996696" y="1335024"/>
            <a:ext cx="109728" cy="109728"/>
          </a:xfrm>
          <a:prstGeom prst="ellipse">
            <a:avLst/>
          </a:prstGeom>
          <a:solidFill>
            <a:srgbClr val="57B894"/>
          </a:solidFill>
          <a:ln w="6350">
            <a:solidFill>
              <a:srgbClr val="57B894"/>
            </a:solidFill>
            <a:prstDash val="solid"/>
          </a:ln>
        </p:spPr>
      </p:sp>
      <p:sp>
        <p:nvSpPr>
          <p:cNvPr id="11" name="Text 9"/>
          <p:cNvSpPr/>
          <p:nvPr/>
        </p:nvSpPr>
        <p:spPr>
          <a:xfrm>
            <a:off x="1197864" y="1243584"/>
            <a:ext cx="3840480" cy="310896"/>
          </a:xfrm>
          <a:prstGeom prst="rect">
            <a:avLst/>
          </a:prstGeom>
          <a:noFill/>
          <a:ln/>
        </p:spPr>
        <p:txBody>
          <a:bodyPr wrap="square" lIns="0" tIns="0" rIns="0" bIns="0" rtlCol="0" anchor="ctr"/>
          <a:lstStyle/>
          <a:p>
            <a:pPr indent="0" marL="0">
              <a:buNone/>
            </a:pPr>
            <a:r>
              <a:rPr lang="en-US" sz="800" dirty="0">
                <a:solidFill>
                  <a:srgbClr val="CBE8EF"/>
                </a:solidFill>
                <a:latin typeface="Segoe UI" pitchFamily="34" charset="0"/>
                <a:ea typeface="Segoe UI" pitchFamily="34" charset="-122"/>
                <a:cs typeface="Segoe UI" pitchFamily="34" charset="-120"/>
              </a:rPr>
              <a:t>Brain Tumor MRI Segmentation  ·  Streamlit</a:t>
            </a:r>
            <a:endParaRPr lang="en-US" sz="800" dirty="0"/>
          </a:p>
        </p:txBody>
      </p:sp>
      <p:sp>
        <p:nvSpPr>
          <p:cNvPr id="12" name="Shape 10"/>
          <p:cNvSpPr/>
          <p:nvPr/>
        </p:nvSpPr>
        <p:spPr>
          <a:xfrm>
            <a:off x="521208" y="1554480"/>
            <a:ext cx="1417320" cy="2962656"/>
          </a:xfrm>
          <a:prstGeom prst="rect">
            <a:avLst/>
          </a:prstGeom>
          <a:solidFill>
            <a:srgbClr val="F0F7F9"/>
          </a:solidFill>
          <a:ln w="9525">
            <a:solidFill>
              <a:srgbClr val="D1E3E8"/>
            </a:solidFill>
            <a:prstDash val="solid"/>
          </a:ln>
        </p:spPr>
      </p:sp>
      <p:sp>
        <p:nvSpPr>
          <p:cNvPr id="13" name="Text 11"/>
          <p:cNvSpPr/>
          <p:nvPr/>
        </p:nvSpPr>
        <p:spPr>
          <a:xfrm>
            <a:off x="649224" y="1645920"/>
            <a:ext cx="1143000" cy="164592"/>
          </a:xfrm>
          <a:prstGeom prst="rect">
            <a:avLst/>
          </a:prstGeom>
          <a:noFill/>
          <a:ln/>
        </p:spPr>
        <p:txBody>
          <a:bodyPr wrap="square" lIns="0" tIns="0" rIns="0" bIns="0" rtlCol="0" anchor="ctr"/>
          <a:lstStyle/>
          <a:p>
            <a:pPr indent="0" marL="0">
              <a:buNone/>
            </a:pPr>
            <a:r>
              <a:rPr lang="en-US" sz="700" spc="100" kern="0" dirty="0">
                <a:solidFill>
                  <a:srgbClr val="028090"/>
                </a:solidFill>
                <a:latin typeface="Segoe UI Semibold" pitchFamily="34" charset="0"/>
                <a:ea typeface="Segoe UI Semibold" pitchFamily="34" charset="-122"/>
                <a:cs typeface="Segoe UI Semibold" pitchFamily="34" charset="-120"/>
              </a:rPr>
              <a:t>TẢI ẢNH</a:t>
            </a:r>
            <a:endParaRPr lang="en-US" sz="700" dirty="0"/>
          </a:p>
        </p:txBody>
      </p:sp>
      <p:sp>
        <p:nvSpPr>
          <p:cNvPr id="14" name="Shape 12"/>
          <p:cNvSpPr/>
          <p:nvPr/>
        </p:nvSpPr>
        <p:spPr>
          <a:xfrm>
            <a:off x="621792" y="1828800"/>
            <a:ext cx="1216152" cy="292608"/>
          </a:xfrm>
          <a:prstGeom prst="roundRect">
            <a:avLst>
              <a:gd name="adj" fmla="val 12500"/>
            </a:avLst>
          </a:prstGeom>
          <a:solidFill>
            <a:srgbClr val="FFFFFF"/>
          </a:solidFill>
          <a:ln w="9525">
            <a:solidFill>
              <a:srgbClr val="D1E3E8"/>
            </a:solidFill>
            <a:prstDash val="solid"/>
          </a:ln>
        </p:spPr>
      </p:sp>
      <p:sp>
        <p:nvSpPr>
          <p:cNvPr id="15" name="Text 13"/>
          <p:cNvSpPr/>
          <p:nvPr/>
        </p:nvSpPr>
        <p:spPr>
          <a:xfrm>
            <a:off x="713232" y="1828800"/>
            <a:ext cx="1033272" cy="292608"/>
          </a:xfrm>
          <a:prstGeom prst="rect">
            <a:avLst/>
          </a:prstGeom>
          <a:noFill/>
          <a:ln/>
        </p:spPr>
        <p:txBody>
          <a:bodyPr wrap="square" lIns="0" tIns="0" rIns="0" bIns="0" rtlCol="0" anchor="ctr"/>
          <a:lstStyle/>
          <a:p>
            <a:pPr algn="ctr" indent="0" marL="0">
              <a:buNone/>
            </a:pPr>
            <a:r>
              <a:rPr lang="en-US" sz="750" b="1" dirty="0">
                <a:solidFill>
                  <a:srgbClr val="065A82"/>
                </a:solidFill>
                <a:latin typeface="Segoe UI" pitchFamily="34" charset="0"/>
                <a:ea typeface="Segoe UI" pitchFamily="34" charset="-122"/>
                <a:cs typeface="Segoe UI" pitchFamily="34" charset="-120"/>
              </a:rPr>
              <a:t>Chọn tệp MRI</a:t>
            </a:r>
            <a:endParaRPr lang="en-US" sz="750" dirty="0"/>
          </a:p>
        </p:txBody>
      </p:sp>
      <p:sp>
        <p:nvSpPr>
          <p:cNvPr id="16" name="Text 14"/>
          <p:cNvSpPr/>
          <p:nvPr/>
        </p:nvSpPr>
        <p:spPr>
          <a:xfrm>
            <a:off x="649224" y="2231136"/>
            <a:ext cx="1143000" cy="164592"/>
          </a:xfrm>
          <a:prstGeom prst="rect">
            <a:avLst/>
          </a:prstGeom>
          <a:noFill/>
          <a:ln/>
        </p:spPr>
        <p:txBody>
          <a:bodyPr wrap="square" lIns="0" tIns="0" rIns="0" bIns="0" rtlCol="0" anchor="ctr"/>
          <a:lstStyle/>
          <a:p>
            <a:pPr indent="0" marL="0">
              <a:buNone/>
            </a:pPr>
            <a:r>
              <a:rPr lang="en-US" sz="700" spc="100" kern="0" dirty="0">
                <a:solidFill>
                  <a:srgbClr val="028090"/>
                </a:solidFill>
                <a:latin typeface="Segoe UI Semibold" pitchFamily="34" charset="0"/>
                <a:ea typeface="Segoe UI Semibold" pitchFamily="34" charset="-122"/>
                <a:cs typeface="Segoe UI Semibold" pitchFamily="34" charset="-120"/>
              </a:rPr>
              <a:t>THUẬT TOÁN</a:t>
            </a:r>
            <a:endParaRPr lang="en-US" sz="700" dirty="0"/>
          </a:p>
        </p:txBody>
      </p:sp>
      <p:sp>
        <p:nvSpPr>
          <p:cNvPr id="17" name="Shape 15"/>
          <p:cNvSpPr/>
          <p:nvPr/>
        </p:nvSpPr>
        <p:spPr>
          <a:xfrm>
            <a:off x="621792" y="2414016"/>
            <a:ext cx="1216152" cy="274320"/>
          </a:xfrm>
          <a:prstGeom prst="roundRect">
            <a:avLst>
              <a:gd name="adj" fmla="val 13333"/>
            </a:avLst>
          </a:prstGeom>
          <a:solidFill>
            <a:srgbClr val="065A82"/>
          </a:solidFill>
          <a:ln w="9525">
            <a:solidFill>
              <a:srgbClr val="D1E3E8"/>
            </a:solidFill>
            <a:prstDash val="solid"/>
          </a:ln>
        </p:spPr>
      </p:sp>
      <p:sp>
        <p:nvSpPr>
          <p:cNvPr id="18" name="Text 16"/>
          <p:cNvSpPr/>
          <p:nvPr/>
        </p:nvSpPr>
        <p:spPr>
          <a:xfrm>
            <a:off x="713232" y="2414016"/>
            <a:ext cx="1033272"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Segoe UI" pitchFamily="34" charset="0"/>
                <a:ea typeface="Segoe UI" pitchFamily="34" charset="-122"/>
                <a:cs typeface="Segoe UI" pitchFamily="34" charset="-120"/>
              </a:rPr>
              <a:t>Watershed</a:t>
            </a:r>
            <a:endParaRPr lang="en-US" sz="750" dirty="0"/>
          </a:p>
        </p:txBody>
      </p:sp>
      <p:sp>
        <p:nvSpPr>
          <p:cNvPr id="19" name="Shape 17"/>
          <p:cNvSpPr/>
          <p:nvPr/>
        </p:nvSpPr>
        <p:spPr>
          <a:xfrm>
            <a:off x="621792" y="2724912"/>
            <a:ext cx="1216152" cy="274320"/>
          </a:xfrm>
          <a:prstGeom prst="roundRect">
            <a:avLst>
              <a:gd name="adj" fmla="val 13333"/>
            </a:avLst>
          </a:prstGeom>
          <a:solidFill>
            <a:srgbClr val="FFFFFF"/>
          </a:solidFill>
          <a:ln w="9525">
            <a:solidFill>
              <a:srgbClr val="D1E3E8"/>
            </a:solidFill>
            <a:prstDash val="solid"/>
          </a:ln>
        </p:spPr>
      </p:sp>
      <p:sp>
        <p:nvSpPr>
          <p:cNvPr id="20" name="Text 18"/>
          <p:cNvSpPr/>
          <p:nvPr/>
        </p:nvSpPr>
        <p:spPr>
          <a:xfrm>
            <a:off x="713232" y="2724912"/>
            <a:ext cx="1033272" cy="274320"/>
          </a:xfrm>
          <a:prstGeom prst="rect">
            <a:avLst/>
          </a:prstGeom>
          <a:noFill/>
          <a:ln/>
        </p:spPr>
        <p:txBody>
          <a:bodyPr wrap="square" lIns="0" tIns="0" rIns="0" bIns="0" rtlCol="0" anchor="ctr"/>
          <a:lstStyle/>
          <a:p>
            <a:pPr algn="ctr" indent="0" marL="0">
              <a:buNone/>
            </a:pPr>
            <a:r>
              <a:rPr lang="en-US" sz="750" b="1" dirty="0">
                <a:solidFill>
                  <a:srgbClr val="5F7186"/>
                </a:solidFill>
                <a:latin typeface="Segoe UI" pitchFamily="34" charset="0"/>
                <a:ea typeface="Segoe UI" pitchFamily="34" charset="-122"/>
                <a:cs typeface="Segoe UI" pitchFamily="34" charset="-120"/>
              </a:rPr>
              <a:t>Region Growing</a:t>
            </a:r>
            <a:endParaRPr lang="en-US" sz="750" dirty="0"/>
          </a:p>
        </p:txBody>
      </p:sp>
      <p:sp>
        <p:nvSpPr>
          <p:cNvPr id="21" name="Text 19"/>
          <p:cNvSpPr/>
          <p:nvPr/>
        </p:nvSpPr>
        <p:spPr>
          <a:xfrm>
            <a:off x="649224" y="3108960"/>
            <a:ext cx="1143000" cy="164592"/>
          </a:xfrm>
          <a:prstGeom prst="rect">
            <a:avLst/>
          </a:prstGeom>
          <a:noFill/>
          <a:ln/>
        </p:spPr>
        <p:txBody>
          <a:bodyPr wrap="square" lIns="0" tIns="0" rIns="0" bIns="0" rtlCol="0" anchor="ctr"/>
          <a:lstStyle/>
          <a:p>
            <a:pPr indent="0" marL="0">
              <a:buNone/>
            </a:pPr>
            <a:r>
              <a:rPr lang="en-US" sz="700" spc="100" kern="0" dirty="0">
                <a:solidFill>
                  <a:srgbClr val="028090"/>
                </a:solidFill>
                <a:latin typeface="Segoe UI Semibold" pitchFamily="34" charset="0"/>
                <a:ea typeface="Segoe UI Semibold" pitchFamily="34" charset="-122"/>
                <a:cs typeface="Segoe UI Semibold" pitchFamily="34" charset="-120"/>
              </a:rPr>
              <a:t>NGUỒN DỮ LIỆU</a:t>
            </a:r>
            <a:endParaRPr lang="en-US" sz="700" dirty="0"/>
          </a:p>
        </p:txBody>
      </p:sp>
      <p:sp>
        <p:nvSpPr>
          <p:cNvPr id="22" name="Shape 20"/>
          <p:cNvSpPr/>
          <p:nvPr/>
        </p:nvSpPr>
        <p:spPr>
          <a:xfrm>
            <a:off x="621792" y="3291840"/>
            <a:ext cx="1216152" cy="274320"/>
          </a:xfrm>
          <a:prstGeom prst="roundRect">
            <a:avLst>
              <a:gd name="adj" fmla="val 13333"/>
            </a:avLst>
          </a:prstGeom>
          <a:solidFill>
            <a:srgbClr val="FFFFFF"/>
          </a:solidFill>
          <a:ln w="9525">
            <a:solidFill>
              <a:srgbClr val="D1E3E8"/>
            </a:solidFill>
            <a:prstDash val="solid"/>
          </a:ln>
        </p:spPr>
      </p:sp>
      <p:sp>
        <p:nvSpPr>
          <p:cNvPr id="23" name="Text 21"/>
          <p:cNvSpPr/>
          <p:nvPr/>
        </p:nvSpPr>
        <p:spPr>
          <a:xfrm>
            <a:off x="713232" y="3291840"/>
            <a:ext cx="1033272" cy="274320"/>
          </a:xfrm>
          <a:prstGeom prst="rect">
            <a:avLst/>
          </a:prstGeom>
          <a:noFill/>
          <a:ln/>
        </p:spPr>
        <p:txBody>
          <a:bodyPr wrap="square" lIns="0" tIns="0" rIns="0" bIns="0" rtlCol="0" anchor="ctr"/>
          <a:lstStyle/>
          <a:p>
            <a:pPr algn="ctr" indent="0" marL="0">
              <a:buNone/>
            </a:pPr>
            <a:r>
              <a:rPr lang="en-US" sz="750" b="1" dirty="0">
                <a:solidFill>
                  <a:srgbClr val="5F7186"/>
                </a:solidFill>
                <a:latin typeface="Segoe UI" pitchFamily="34" charset="0"/>
                <a:ea typeface="Segoe UI" pitchFamily="34" charset="-122"/>
                <a:cs typeface="Segoe UI" pitchFamily="34" charset="-120"/>
              </a:rPr>
              <a:t>TCGA-LGG</a:t>
            </a:r>
            <a:endParaRPr lang="en-US" sz="750" dirty="0"/>
          </a:p>
        </p:txBody>
      </p:sp>
      <p:sp>
        <p:nvSpPr>
          <p:cNvPr id="24" name="Text 22"/>
          <p:cNvSpPr/>
          <p:nvPr/>
        </p:nvSpPr>
        <p:spPr>
          <a:xfrm>
            <a:off x="649224" y="4114800"/>
            <a:ext cx="1188720" cy="164592"/>
          </a:xfrm>
          <a:prstGeom prst="rect">
            <a:avLst/>
          </a:prstGeom>
          <a:noFill/>
          <a:ln/>
        </p:spPr>
        <p:txBody>
          <a:bodyPr wrap="square" lIns="0" tIns="0" rIns="0" bIns="0" rtlCol="0" anchor="ctr"/>
          <a:lstStyle/>
          <a:p>
            <a:pPr indent="0" marL="0">
              <a:buNone/>
            </a:pPr>
            <a:r>
              <a:rPr lang="en-US" sz="650" dirty="0">
                <a:solidFill>
                  <a:srgbClr val="5F7186"/>
                </a:solidFill>
                <a:latin typeface="Segoe UI" pitchFamily="34" charset="0"/>
                <a:ea typeface="Segoe UI" pitchFamily="34" charset="-122"/>
                <a:cs typeface="Segoe UI" pitchFamily="34" charset="-120"/>
              </a:rPr>
              <a:t>Light theme  ·  Tiếng Việt</a:t>
            </a:r>
            <a:endParaRPr lang="en-US" sz="650" dirty="0"/>
          </a:p>
        </p:txBody>
      </p:sp>
      <p:sp>
        <p:nvSpPr>
          <p:cNvPr id="25" name="Text 23"/>
          <p:cNvSpPr/>
          <p:nvPr/>
        </p:nvSpPr>
        <p:spPr>
          <a:xfrm>
            <a:off x="2075688" y="1627632"/>
            <a:ext cx="3200400" cy="164592"/>
          </a:xfrm>
          <a:prstGeom prst="rect">
            <a:avLst/>
          </a:prstGeom>
          <a:noFill/>
          <a:ln/>
        </p:spPr>
        <p:txBody>
          <a:bodyPr wrap="square" lIns="0" tIns="0" rIns="0" bIns="0" rtlCol="0" anchor="ctr"/>
          <a:lstStyle/>
          <a:p>
            <a:pPr indent="0" marL="0">
              <a:buNone/>
            </a:pPr>
            <a:r>
              <a:rPr lang="en-US" sz="650" spc="90" kern="0" dirty="0">
                <a:solidFill>
                  <a:srgbClr val="028090"/>
                </a:solidFill>
                <a:latin typeface="Segoe UI Semibold" pitchFamily="34" charset="0"/>
                <a:ea typeface="Segoe UI Semibold" pitchFamily="34" charset="-122"/>
                <a:cs typeface="Segoe UI Semibold" pitchFamily="34" charset="-120"/>
              </a:rPr>
              <a:t>VÙNG HIỂN THỊ 4 KHUNG SO SÁNH</a:t>
            </a:r>
            <a:endParaRPr lang="en-US" sz="650" dirty="0"/>
          </a:p>
        </p:txBody>
      </p:sp>
      <p:sp>
        <p:nvSpPr>
          <p:cNvPr id="26" name="Shape 24"/>
          <p:cNvSpPr/>
          <p:nvPr/>
        </p:nvSpPr>
        <p:spPr>
          <a:xfrm>
            <a:off x="1956816" y="1847088"/>
            <a:ext cx="1609344" cy="1005840"/>
          </a:xfrm>
          <a:prstGeom prst="roundRect">
            <a:avLst>
              <a:gd name="adj" fmla="val 3636"/>
            </a:avLst>
          </a:prstGeom>
          <a:solidFill>
            <a:srgbClr val="EBF4F6"/>
          </a:solidFill>
          <a:ln w="9525">
            <a:solidFill>
              <a:srgbClr val="D1E3E8"/>
            </a:solidFill>
            <a:prstDash val="solid"/>
          </a:ln>
        </p:spPr>
      </p:sp>
      <p:sp>
        <p:nvSpPr>
          <p:cNvPr id="27" name="Text 25"/>
          <p:cNvSpPr/>
          <p:nvPr/>
        </p:nvSpPr>
        <p:spPr>
          <a:xfrm>
            <a:off x="1956816" y="2157984"/>
            <a:ext cx="1609344" cy="237744"/>
          </a:xfrm>
          <a:prstGeom prst="rect">
            <a:avLst/>
          </a:prstGeom>
          <a:noFill/>
          <a:ln/>
        </p:spPr>
        <p:txBody>
          <a:bodyPr wrap="square" lIns="0" tIns="0" rIns="0" bIns="0" rtlCol="0" anchor="ctr"/>
          <a:lstStyle/>
          <a:p>
            <a:pPr algn="ctr" indent="0" marL="0">
              <a:buNone/>
            </a:pPr>
            <a:r>
              <a:rPr lang="en-US" sz="750" dirty="0">
                <a:solidFill>
                  <a:srgbClr val="1E293B"/>
                </a:solidFill>
                <a:latin typeface="Segoe UI Semibold" pitchFamily="34" charset="0"/>
                <a:ea typeface="Segoe UI Semibold" pitchFamily="34" charset="-122"/>
                <a:cs typeface="Segoe UI Semibold" pitchFamily="34" charset="-120"/>
              </a:rPr>
              <a:t>Ảnh gốc</a:t>
            </a:r>
            <a:endParaRPr lang="en-US" sz="750" dirty="0"/>
          </a:p>
        </p:txBody>
      </p:sp>
      <p:sp>
        <p:nvSpPr>
          <p:cNvPr id="28" name="Text 26"/>
          <p:cNvSpPr/>
          <p:nvPr/>
        </p:nvSpPr>
        <p:spPr>
          <a:xfrm>
            <a:off x="1956816" y="2395728"/>
            <a:ext cx="1609344" cy="201168"/>
          </a:xfrm>
          <a:prstGeom prst="rect">
            <a:avLst/>
          </a:prstGeom>
          <a:noFill/>
          <a:ln/>
        </p:spPr>
        <p:txBody>
          <a:bodyPr wrap="square" lIns="0" tIns="0" rIns="0" bIns="0" rtlCol="0" anchor="ctr"/>
          <a:lstStyle/>
          <a:p>
            <a:pPr algn="ctr" indent="0" marL="0">
              <a:buNone/>
            </a:pPr>
            <a:r>
              <a:rPr lang="en-US" sz="650" dirty="0">
                <a:solidFill>
                  <a:srgbClr val="5F7186"/>
                </a:solidFill>
                <a:latin typeface="Segoe UI" pitchFamily="34" charset="0"/>
                <a:ea typeface="Segoe UI" pitchFamily="34" charset="-122"/>
                <a:cs typeface="Segoe UI" pitchFamily="34" charset="-120"/>
              </a:rPr>
              <a:t>256 × 256 · FLAIR</a:t>
            </a:r>
            <a:endParaRPr lang="en-US" sz="650" dirty="0"/>
          </a:p>
        </p:txBody>
      </p:sp>
      <p:sp>
        <p:nvSpPr>
          <p:cNvPr id="29" name="Shape 27"/>
          <p:cNvSpPr/>
          <p:nvPr/>
        </p:nvSpPr>
        <p:spPr>
          <a:xfrm>
            <a:off x="3639312" y="1847088"/>
            <a:ext cx="1609344" cy="1005840"/>
          </a:xfrm>
          <a:prstGeom prst="roundRect">
            <a:avLst>
              <a:gd name="adj" fmla="val 3636"/>
            </a:avLst>
          </a:prstGeom>
          <a:solidFill>
            <a:srgbClr val="EBF4F6"/>
          </a:solidFill>
          <a:ln w="9525">
            <a:solidFill>
              <a:srgbClr val="D1E3E8"/>
            </a:solidFill>
            <a:prstDash val="solid"/>
          </a:ln>
        </p:spPr>
      </p:sp>
      <p:sp>
        <p:nvSpPr>
          <p:cNvPr id="30" name="Text 28"/>
          <p:cNvSpPr/>
          <p:nvPr/>
        </p:nvSpPr>
        <p:spPr>
          <a:xfrm>
            <a:off x="3639312" y="2157984"/>
            <a:ext cx="1609344" cy="237744"/>
          </a:xfrm>
          <a:prstGeom prst="rect">
            <a:avLst/>
          </a:prstGeom>
          <a:noFill/>
          <a:ln/>
        </p:spPr>
        <p:txBody>
          <a:bodyPr wrap="square" lIns="0" tIns="0" rIns="0" bIns="0" rtlCol="0" anchor="ctr"/>
          <a:lstStyle/>
          <a:p>
            <a:pPr algn="ctr" indent="0" marL="0">
              <a:buNone/>
            </a:pPr>
            <a:r>
              <a:rPr lang="en-US" sz="750" dirty="0">
                <a:solidFill>
                  <a:srgbClr val="1E293B"/>
                </a:solidFill>
                <a:latin typeface="Segoe UI Semibold" pitchFamily="34" charset="0"/>
                <a:ea typeface="Segoe UI Semibold" pitchFamily="34" charset="-122"/>
                <a:cs typeface="Segoe UI Semibold" pitchFamily="34" charset="-120"/>
              </a:rPr>
              <a:t>Não tách sọ</a:t>
            </a:r>
            <a:endParaRPr lang="en-US" sz="750" dirty="0"/>
          </a:p>
        </p:txBody>
      </p:sp>
      <p:sp>
        <p:nvSpPr>
          <p:cNvPr id="31" name="Text 29"/>
          <p:cNvSpPr/>
          <p:nvPr/>
        </p:nvSpPr>
        <p:spPr>
          <a:xfrm>
            <a:off x="3639312" y="2395728"/>
            <a:ext cx="1609344" cy="201168"/>
          </a:xfrm>
          <a:prstGeom prst="rect">
            <a:avLst/>
          </a:prstGeom>
          <a:noFill/>
          <a:ln/>
        </p:spPr>
        <p:txBody>
          <a:bodyPr wrap="square" lIns="0" tIns="0" rIns="0" bIns="0" rtlCol="0" anchor="ctr"/>
          <a:lstStyle/>
          <a:p>
            <a:pPr algn="ctr" indent="0" marL="0">
              <a:buNone/>
            </a:pPr>
            <a:r>
              <a:rPr lang="en-US" sz="650" dirty="0">
                <a:solidFill>
                  <a:srgbClr val="5F7186"/>
                </a:solidFill>
                <a:latin typeface="Segoe UI" pitchFamily="34" charset="0"/>
                <a:ea typeface="Segoe UI" pitchFamily="34" charset="-122"/>
                <a:cs typeface="Segoe UI" pitchFamily="34" charset="-120"/>
              </a:rPr>
              <a:t>Brain Mask</a:t>
            </a:r>
            <a:endParaRPr lang="en-US" sz="650" dirty="0"/>
          </a:p>
        </p:txBody>
      </p:sp>
      <p:sp>
        <p:nvSpPr>
          <p:cNvPr id="32" name="Shape 30"/>
          <p:cNvSpPr/>
          <p:nvPr/>
        </p:nvSpPr>
        <p:spPr>
          <a:xfrm>
            <a:off x="1956816" y="2962656"/>
            <a:ext cx="1609344" cy="1005840"/>
          </a:xfrm>
          <a:prstGeom prst="roundRect">
            <a:avLst>
              <a:gd name="adj" fmla="val 3636"/>
            </a:avLst>
          </a:prstGeom>
          <a:solidFill>
            <a:srgbClr val="EBF4F6"/>
          </a:solidFill>
          <a:ln w="9525">
            <a:solidFill>
              <a:srgbClr val="D1E3E8"/>
            </a:solidFill>
            <a:prstDash val="solid"/>
          </a:ln>
        </p:spPr>
      </p:sp>
      <p:sp>
        <p:nvSpPr>
          <p:cNvPr id="33" name="Text 31"/>
          <p:cNvSpPr/>
          <p:nvPr/>
        </p:nvSpPr>
        <p:spPr>
          <a:xfrm>
            <a:off x="1956816" y="3273552"/>
            <a:ext cx="1609344" cy="237744"/>
          </a:xfrm>
          <a:prstGeom prst="rect">
            <a:avLst/>
          </a:prstGeom>
          <a:noFill/>
          <a:ln/>
        </p:spPr>
        <p:txBody>
          <a:bodyPr wrap="square" lIns="0" tIns="0" rIns="0" bIns="0" rtlCol="0" anchor="ctr"/>
          <a:lstStyle/>
          <a:p>
            <a:pPr algn="ctr" indent="0" marL="0">
              <a:buNone/>
            </a:pPr>
            <a:r>
              <a:rPr lang="en-US" sz="750" dirty="0">
                <a:solidFill>
                  <a:srgbClr val="1E293B"/>
                </a:solidFill>
                <a:latin typeface="Segoe UI Semibold" pitchFamily="34" charset="0"/>
                <a:ea typeface="Segoe UI Semibold" pitchFamily="34" charset="-122"/>
                <a:cs typeface="Segoe UI Semibold" pitchFamily="34" charset="-120"/>
              </a:rPr>
              <a:t>Mặt nạ u</a:t>
            </a:r>
            <a:endParaRPr lang="en-US" sz="750" dirty="0"/>
          </a:p>
        </p:txBody>
      </p:sp>
      <p:sp>
        <p:nvSpPr>
          <p:cNvPr id="34" name="Text 32"/>
          <p:cNvSpPr/>
          <p:nvPr/>
        </p:nvSpPr>
        <p:spPr>
          <a:xfrm>
            <a:off x="1956816" y="3511296"/>
            <a:ext cx="1609344" cy="201168"/>
          </a:xfrm>
          <a:prstGeom prst="rect">
            <a:avLst/>
          </a:prstGeom>
          <a:noFill/>
          <a:ln/>
        </p:spPr>
        <p:txBody>
          <a:bodyPr wrap="square" lIns="0" tIns="0" rIns="0" bIns="0" rtlCol="0" anchor="ctr"/>
          <a:lstStyle/>
          <a:p>
            <a:pPr algn="ctr" indent="0" marL="0">
              <a:buNone/>
            </a:pPr>
            <a:r>
              <a:rPr lang="en-US" sz="650" dirty="0">
                <a:solidFill>
                  <a:srgbClr val="5F7186"/>
                </a:solidFill>
                <a:latin typeface="Segoe UI" pitchFamily="34" charset="0"/>
                <a:ea typeface="Segoe UI" pitchFamily="34" charset="-122"/>
                <a:cs typeface="Segoe UI" pitchFamily="34" charset="-120"/>
              </a:rPr>
              <a:t>Mặt nạ nhị phân</a:t>
            </a:r>
            <a:endParaRPr lang="en-US" sz="650" dirty="0"/>
          </a:p>
        </p:txBody>
      </p:sp>
      <p:sp>
        <p:nvSpPr>
          <p:cNvPr id="35" name="Shape 33"/>
          <p:cNvSpPr/>
          <p:nvPr/>
        </p:nvSpPr>
        <p:spPr>
          <a:xfrm>
            <a:off x="3639312" y="2962656"/>
            <a:ext cx="1609344" cy="1005840"/>
          </a:xfrm>
          <a:prstGeom prst="roundRect">
            <a:avLst>
              <a:gd name="adj" fmla="val 3636"/>
            </a:avLst>
          </a:prstGeom>
          <a:solidFill>
            <a:srgbClr val="EBF4F6"/>
          </a:solidFill>
          <a:ln w="9525">
            <a:solidFill>
              <a:srgbClr val="D1E3E8"/>
            </a:solidFill>
            <a:prstDash val="solid"/>
          </a:ln>
        </p:spPr>
      </p:sp>
      <p:sp>
        <p:nvSpPr>
          <p:cNvPr id="36" name="Text 34"/>
          <p:cNvSpPr/>
          <p:nvPr/>
        </p:nvSpPr>
        <p:spPr>
          <a:xfrm>
            <a:off x="3639312" y="3273552"/>
            <a:ext cx="1609344" cy="237744"/>
          </a:xfrm>
          <a:prstGeom prst="rect">
            <a:avLst/>
          </a:prstGeom>
          <a:noFill/>
          <a:ln/>
        </p:spPr>
        <p:txBody>
          <a:bodyPr wrap="square" lIns="0" tIns="0" rIns="0" bIns="0" rtlCol="0" anchor="ctr"/>
          <a:lstStyle/>
          <a:p>
            <a:pPr algn="ctr" indent="0" marL="0">
              <a:buNone/>
            </a:pPr>
            <a:r>
              <a:rPr lang="en-US" sz="750" dirty="0">
                <a:solidFill>
                  <a:srgbClr val="1E293B"/>
                </a:solidFill>
                <a:latin typeface="Segoe UI Semibold" pitchFamily="34" charset="0"/>
                <a:ea typeface="Segoe UI Semibold" pitchFamily="34" charset="-122"/>
                <a:cs typeface="Segoe UI Semibold" pitchFamily="34" charset="-120"/>
              </a:rPr>
              <a:t>Bounding Box</a:t>
            </a:r>
            <a:endParaRPr lang="en-US" sz="750" dirty="0"/>
          </a:p>
        </p:txBody>
      </p:sp>
      <p:sp>
        <p:nvSpPr>
          <p:cNvPr id="37" name="Text 35"/>
          <p:cNvSpPr/>
          <p:nvPr/>
        </p:nvSpPr>
        <p:spPr>
          <a:xfrm>
            <a:off x="3639312" y="3511296"/>
            <a:ext cx="1609344" cy="201168"/>
          </a:xfrm>
          <a:prstGeom prst="rect">
            <a:avLst/>
          </a:prstGeom>
          <a:noFill/>
          <a:ln/>
        </p:spPr>
        <p:txBody>
          <a:bodyPr wrap="square" lIns="0" tIns="0" rIns="0" bIns="0" rtlCol="0" anchor="ctr"/>
          <a:lstStyle/>
          <a:p>
            <a:pPr algn="ctr" indent="0" marL="0">
              <a:buNone/>
            </a:pPr>
            <a:r>
              <a:rPr lang="en-US" sz="650" dirty="0">
                <a:solidFill>
                  <a:srgbClr val="5F7186"/>
                </a:solidFill>
                <a:latin typeface="Segoe UI" pitchFamily="34" charset="0"/>
                <a:ea typeface="Segoe UI" pitchFamily="34" charset="-122"/>
                <a:cs typeface="Segoe UI" pitchFamily="34" charset="-120"/>
              </a:rPr>
              <a:t>Tâm khối u</a:t>
            </a:r>
            <a:endParaRPr lang="en-US" sz="650" dirty="0"/>
          </a:p>
        </p:txBody>
      </p:sp>
      <p:sp>
        <p:nvSpPr>
          <p:cNvPr id="38" name="Shape 36"/>
          <p:cNvSpPr/>
          <p:nvPr/>
        </p:nvSpPr>
        <p:spPr>
          <a:xfrm>
            <a:off x="1956816" y="4114800"/>
            <a:ext cx="3291840" cy="274320"/>
          </a:xfrm>
          <a:prstGeom prst="roundRect">
            <a:avLst>
              <a:gd name="adj" fmla="val 20000"/>
            </a:avLst>
          </a:prstGeom>
          <a:solidFill>
            <a:srgbClr val="E3F1F4"/>
          </a:solidFill>
          <a:ln w="9525">
            <a:solidFill>
              <a:srgbClr val="D1E3E8"/>
            </a:solidFill>
            <a:prstDash val="solid"/>
          </a:ln>
        </p:spPr>
      </p:sp>
      <p:sp>
        <p:nvSpPr>
          <p:cNvPr id="39" name="Text 37"/>
          <p:cNvSpPr/>
          <p:nvPr/>
        </p:nvSpPr>
        <p:spPr>
          <a:xfrm>
            <a:off x="2048256" y="4114800"/>
            <a:ext cx="3108960" cy="274320"/>
          </a:xfrm>
          <a:prstGeom prst="rect">
            <a:avLst/>
          </a:prstGeom>
          <a:noFill/>
          <a:ln/>
        </p:spPr>
        <p:txBody>
          <a:bodyPr wrap="square" lIns="0" tIns="0" rIns="0" bIns="0" rtlCol="0" anchor="ctr"/>
          <a:lstStyle/>
          <a:p>
            <a:pPr algn="ctr" indent="0" marL="0">
              <a:buNone/>
            </a:pPr>
            <a:r>
              <a:rPr lang="en-US" sz="700" dirty="0">
                <a:solidFill>
                  <a:srgbClr val="065A82"/>
                </a:solidFill>
                <a:latin typeface="Segoe UI Semibold" pitchFamily="34" charset="0"/>
                <a:ea typeface="Segoe UI Semibold" pitchFamily="34" charset="-122"/>
                <a:cs typeface="Segoe UI Semibold" pitchFamily="34" charset="-120"/>
              </a:rPr>
              <a:t>KPI: Diện tích  ·  Độ tròn  ·  Thời gian xử lý</a:t>
            </a:r>
            <a:endParaRPr lang="en-US" sz="700" dirty="0"/>
          </a:p>
        </p:txBody>
      </p:sp>
      <p:sp>
        <p:nvSpPr>
          <p:cNvPr id="40" name="Shape 38"/>
          <p:cNvSpPr/>
          <p:nvPr/>
        </p:nvSpPr>
        <p:spPr>
          <a:xfrm>
            <a:off x="5541264" y="1225296"/>
            <a:ext cx="3099816" cy="749808"/>
          </a:xfrm>
          <a:prstGeom prst="roundRect">
            <a:avLst>
              <a:gd name="adj" fmla="val 7317"/>
            </a:avLst>
          </a:prstGeom>
          <a:solidFill>
            <a:srgbClr val="FFFFFF"/>
          </a:solidFill>
          <a:ln w="9525">
            <a:solidFill>
              <a:srgbClr val="D1E3E8"/>
            </a:solidFill>
            <a:prstDash val="solid"/>
          </a:ln>
          <a:effectLst>
            <a:outerShdw sx="100000" sy="100000" kx="0" ky="0" algn="bl" rotWithShape="0" blurRad="7.385734942305998e+180" dist="3.692867471152999e+180" dir="1.5591845630107338e+212">
              <a:srgbClr val="0B2B3C">
                <a:alpha val="9.999999999999998e+218"/>
              </a:srgbClr>
            </a:outerShdw>
          </a:effectLst>
        </p:spPr>
      </p:sp>
      <p:sp>
        <p:nvSpPr>
          <p:cNvPr id="41" name="Text 39"/>
          <p:cNvSpPr/>
          <p:nvPr/>
        </p:nvSpPr>
        <p:spPr>
          <a:xfrm>
            <a:off x="5687568" y="1316736"/>
            <a:ext cx="2798064" cy="201168"/>
          </a:xfrm>
          <a:prstGeom prst="rect">
            <a:avLst/>
          </a:prstGeom>
          <a:noFill/>
          <a:ln/>
        </p:spPr>
        <p:txBody>
          <a:bodyPr wrap="square" lIns="0" tIns="0" rIns="0" bIns="0" rtlCol="0" anchor="ctr"/>
          <a:lstStyle/>
          <a:p>
            <a:pPr indent="0" marL="0">
              <a:buNone/>
            </a:pPr>
            <a:r>
              <a:rPr lang="en-US" sz="1000" dirty="0">
                <a:solidFill>
                  <a:srgbClr val="21295C"/>
                </a:solidFill>
                <a:latin typeface="Segoe UI Semibold" pitchFamily="34" charset="0"/>
                <a:ea typeface="Segoe UI Semibold" pitchFamily="34" charset="-122"/>
                <a:cs typeface="Segoe UI Semibold" pitchFamily="34" charset="-120"/>
              </a:rPr>
              <a:t>Giao diện sáng, tiếng Việt</a:t>
            </a:r>
            <a:endParaRPr lang="en-US" sz="1000" dirty="0"/>
          </a:p>
        </p:txBody>
      </p:sp>
      <p:sp>
        <p:nvSpPr>
          <p:cNvPr id="42" name="Text 40"/>
          <p:cNvSpPr/>
          <p:nvPr/>
        </p:nvSpPr>
        <p:spPr>
          <a:xfrm>
            <a:off x="5687568" y="1536192"/>
            <a:ext cx="2798064" cy="365760"/>
          </a:xfrm>
          <a:prstGeom prst="rect">
            <a:avLst/>
          </a:prstGeom>
          <a:noFill/>
          <a:ln/>
        </p:spPr>
        <p:txBody>
          <a:bodyPr wrap="square" lIns="0" tIns="0" rIns="0" bIns="0" rtlCol="0" anchor="t"/>
          <a:lstStyle/>
          <a:p>
            <a:pPr indent="0" marL="0">
              <a:lnSpc>
                <a:spcPct val="115000"/>
              </a:lnSpc>
              <a:buNone/>
            </a:pPr>
            <a:r>
              <a:rPr lang="en-US" sz="850" dirty="0">
                <a:solidFill>
                  <a:srgbClr val="5F7186"/>
                </a:solidFill>
                <a:latin typeface="Segoe UI" pitchFamily="34" charset="0"/>
                <a:ea typeface="Segoe UI" pitchFamily="34" charset="-122"/>
                <a:cs typeface="Segoe UI" pitchFamily="34" charset="-120"/>
              </a:rPr>
              <a:t>Light theme trang nhã, font tiếng Việt có dấu 100%.</a:t>
            </a:r>
            <a:endParaRPr lang="en-US" sz="850" dirty="0"/>
          </a:p>
        </p:txBody>
      </p:sp>
      <p:sp>
        <p:nvSpPr>
          <p:cNvPr id="43" name="Shape 41"/>
          <p:cNvSpPr/>
          <p:nvPr/>
        </p:nvSpPr>
        <p:spPr>
          <a:xfrm>
            <a:off x="5541264" y="2084832"/>
            <a:ext cx="3099816" cy="749808"/>
          </a:xfrm>
          <a:prstGeom prst="roundRect">
            <a:avLst>
              <a:gd name="adj" fmla="val 7317"/>
            </a:avLst>
          </a:prstGeom>
          <a:solidFill>
            <a:srgbClr val="FFFFFF"/>
          </a:solidFill>
          <a:ln w="9525">
            <a:solidFill>
              <a:srgbClr val="D1E3E8"/>
            </a:solidFill>
            <a:prstDash val="solid"/>
          </a:ln>
          <a:effectLst>
            <a:outerShdw sx="100000" sy="100000" kx="0" ky="0" algn="bl" rotWithShape="0" blurRad="9.379883376728618e+184" dist="4.689941688364309e+184" dir="9.355107378064403e+216">
              <a:srgbClr val="0B2B3C">
                <a:alpha val="9.999999999999998e+223"/>
              </a:srgbClr>
            </a:outerShdw>
          </a:effectLst>
        </p:spPr>
      </p:sp>
      <p:sp>
        <p:nvSpPr>
          <p:cNvPr id="44" name="Text 42"/>
          <p:cNvSpPr/>
          <p:nvPr/>
        </p:nvSpPr>
        <p:spPr>
          <a:xfrm>
            <a:off x="5687568" y="2176272"/>
            <a:ext cx="2798064" cy="201168"/>
          </a:xfrm>
          <a:prstGeom prst="rect">
            <a:avLst/>
          </a:prstGeom>
          <a:noFill/>
          <a:ln/>
        </p:spPr>
        <p:txBody>
          <a:bodyPr wrap="square" lIns="0" tIns="0" rIns="0" bIns="0" rtlCol="0" anchor="ctr"/>
          <a:lstStyle/>
          <a:p>
            <a:pPr indent="0" marL="0">
              <a:buNone/>
            </a:pPr>
            <a:r>
              <a:rPr lang="en-US" sz="1000" dirty="0">
                <a:solidFill>
                  <a:srgbClr val="21295C"/>
                </a:solidFill>
                <a:latin typeface="Segoe UI Semibold" pitchFamily="34" charset="0"/>
                <a:ea typeface="Segoe UI Semibold" pitchFamily="34" charset="-122"/>
                <a:cs typeface="Segoe UI Semibold" pitchFamily="34" charset="-120"/>
              </a:rPr>
              <a:t>Tải ảnh tùy ý</a:t>
            </a:r>
            <a:endParaRPr lang="en-US" sz="1000" dirty="0"/>
          </a:p>
        </p:txBody>
      </p:sp>
      <p:sp>
        <p:nvSpPr>
          <p:cNvPr id="45" name="Text 43"/>
          <p:cNvSpPr/>
          <p:nvPr/>
        </p:nvSpPr>
        <p:spPr>
          <a:xfrm>
            <a:off x="5687568" y="2395728"/>
            <a:ext cx="2798064" cy="365760"/>
          </a:xfrm>
          <a:prstGeom prst="rect">
            <a:avLst/>
          </a:prstGeom>
          <a:noFill/>
          <a:ln/>
        </p:spPr>
        <p:txBody>
          <a:bodyPr wrap="square" lIns="0" tIns="0" rIns="0" bIns="0" rtlCol="0" anchor="t"/>
          <a:lstStyle/>
          <a:p>
            <a:pPr indent="0" marL="0">
              <a:lnSpc>
                <a:spcPct val="115000"/>
              </a:lnSpc>
              <a:buNone/>
            </a:pPr>
            <a:r>
              <a:rPr lang="en-US" sz="850" dirty="0">
                <a:solidFill>
                  <a:srgbClr val="5F7186"/>
                </a:solidFill>
                <a:latin typeface="Segoe UI" pitchFamily="34" charset="0"/>
                <a:ea typeface="Segoe UI" pitchFamily="34" charset="-122"/>
                <a:cs typeface="Segoe UI" pitchFamily="34" charset="-120"/>
              </a:rPr>
              <a:t>Hỗ trợ upload MRI hoặc chọn ca có sẵn trong TCGA-LGG.</a:t>
            </a:r>
            <a:endParaRPr lang="en-US" sz="850" dirty="0"/>
          </a:p>
        </p:txBody>
      </p:sp>
      <p:sp>
        <p:nvSpPr>
          <p:cNvPr id="46" name="Shape 44"/>
          <p:cNvSpPr/>
          <p:nvPr/>
        </p:nvSpPr>
        <p:spPr>
          <a:xfrm>
            <a:off x="5541264" y="2944368"/>
            <a:ext cx="3099816" cy="749808"/>
          </a:xfrm>
          <a:prstGeom prst="roundRect">
            <a:avLst>
              <a:gd name="adj" fmla="val 7317"/>
            </a:avLst>
          </a:prstGeom>
          <a:solidFill>
            <a:srgbClr val="FFFFFF"/>
          </a:solidFill>
          <a:ln w="9525">
            <a:solidFill>
              <a:srgbClr val="D1E3E8"/>
            </a:solidFill>
            <a:prstDash val="solid"/>
          </a:ln>
          <a:effectLst>
            <a:outerShdw sx="100000" sy="100000" kx="0" ky="0" algn="bl" rotWithShape="0" blurRad="1.1912451888445345e+189" dist="5.956225944222673e+188" dir="5.613064426838642e+221">
              <a:srgbClr val="0B2B3C">
                <a:alpha val="9.999999999999997e+228"/>
              </a:srgbClr>
            </a:outerShdw>
          </a:effectLst>
        </p:spPr>
      </p:sp>
      <p:sp>
        <p:nvSpPr>
          <p:cNvPr id="47" name="Text 45"/>
          <p:cNvSpPr/>
          <p:nvPr/>
        </p:nvSpPr>
        <p:spPr>
          <a:xfrm>
            <a:off x="5687568" y="3035808"/>
            <a:ext cx="2798064" cy="201168"/>
          </a:xfrm>
          <a:prstGeom prst="rect">
            <a:avLst/>
          </a:prstGeom>
          <a:noFill/>
          <a:ln/>
        </p:spPr>
        <p:txBody>
          <a:bodyPr wrap="square" lIns="0" tIns="0" rIns="0" bIns="0" rtlCol="0" anchor="ctr"/>
          <a:lstStyle/>
          <a:p>
            <a:pPr indent="0" marL="0">
              <a:buNone/>
            </a:pPr>
            <a:r>
              <a:rPr lang="en-US" sz="1000" dirty="0">
                <a:solidFill>
                  <a:srgbClr val="21295C"/>
                </a:solidFill>
                <a:latin typeface="Segoe UI Semibold" pitchFamily="34" charset="0"/>
                <a:ea typeface="Segoe UI Semibold" pitchFamily="34" charset="-122"/>
                <a:cs typeface="Segoe UI Semibold" pitchFamily="34" charset="-120"/>
              </a:rPr>
              <a:t>Chuyển thuật toán tức thì</a:t>
            </a:r>
            <a:endParaRPr lang="en-US" sz="1000" dirty="0"/>
          </a:p>
        </p:txBody>
      </p:sp>
      <p:sp>
        <p:nvSpPr>
          <p:cNvPr id="48" name="Text 46"/>
          <p:cNvSpPr/>
          <p:nvPr/>
        </p:nvSpPr>
        <p:spPr>
          <a:xfrm>
            <a:off x="5687568" y="3255264"/>
            <a:ext cx="2798064" cy="365760"/>
          </a:xfrm>
          <a:prstGeom prst="rect">
            <a:avLst/>
          </a:prstGeom>
          <a:noFill/>
          <a:ln/>
        </p:spPr>
        <p:txBody>
          <a:bodyPr wrap="square" lIns="0" tIns="0" rIns="0" bIns="0" rtlCol="0" anchor="t"/>
          <a:lstStyle/>
          <a:p>
            <a:pPr indent="0" marL="0">
              <a:lnSpc>
                <a:spcPct val="115000"/>
              </a:lnSpc>
              <a:buNone/>
            </a:pPr>
            <a:r>
              <a:rPr lang="en-US" sz="850" dirty="0">
                <a:solidFill>
                  <a:srgbClr val="5F7186"/>
                </a:solidFill>
                <a:latin typeface="Segoe UI" pitchFamily="34" charset="0"/>
                <a:ea typeface="Segoe UI" pitchFamily="34" charset="-122"/>
                <a:cs typeface="Segoe UI" pitchFamily="34" charset="-120"/>
              </a:rPr>
              <a:t>Toggle giữa Watershed và Region Growing ngay trên sidebar.</a:t>
            </a:r>
            <a:endParaRPr lang="en-US" sz="850" dirty="0"/>
          </a:p>
        </p:txBody>
      </p:sp>
      <p:sp>
        <p:nvSpPr>
          <p:cNvPr id="49" name="Shape 47"/>
          <p:cNvSpPr/>
          <p:nvPr/>
        </p:nvSpPr>
        <p:spPr>
          <a:xfrm>
            <a:off x="5541264" y="3803904"/>
            <a:ext cx="3099816" cy="749808"/>
          </a:xfrm>
          <a:prstGeom prst="roundRect">
            <a:avLst>
              <a:gd name="adj" fmla="val 7317"/>
            </a:avLst>
          </a:prstGeom>
          <a:solidFill>
            <a:srgbClr val="FFFFFF"/>
          </a:solidFill>
          <a:ln w="9525">
            <a:solidFill>
              <a:srgbClr val="D1E3E8"/>
            </a:solidFill>
            <a:prstDash val="solid"/>
          </a:ln>
          <a:effectLst>
            <a:outerShdw sx="100000" sy="100000" kx="0" ky="0" algn="bl" rotWithShape="0" blurRad="1.5128813898325588e+193" dist="7.564406949162794e+192" dir="3.367838656103185e+226">
              <a:srgbClr val="0B2B3C">
                <a:alpha val="9.999999999999997e+233"/>
              </a:srgbClr>
            </a:outerShdw>
          </a:effectLst>
        </p:spPr>
      </p:sp>
      <p:sp>
        <p:nvSpPr>
          <p:cNvPr id="50" name="Text 48"/>
          <p:cNvSpPr/>
          <p:nvPr/>
        </p:nvSpPr>
        <p:spPr>
          <a:xfrm>
            <a:off x="5687568" y="3895344"/>
            <a:ext cx="2798064" cy="201168"/>
          </a:xfrm>
          <a:prstGeom prst="rect">
            <a:avLst/>
          </a:prstGeom>
          <a:noFill/>
          <a:ln/>
        </p:spPr>
        <p:txBody>
          <a:bodyPr wrap="square" lIns="0" tIns="0" rIns="0" bIns="0" rtlCol="0" anchor="ctr"/>
          <a:lstStyle/>
          <a:p>
            <a:pPr indent="0" marL="0">
              <a:buNone/>
            </a:pPr>
            <a:r>
              <a:rPr lang="en-US" sz="1000" dirty="0">
                <a:solidFill>
                  <a:srgbClr val="21295C"/>
                </a:solidFill>
                <a:latin typeface="Segoe UI Semibold" pitchFamily="34" charset="0"/>
                <a:ea typeface="Segoe UI Semibold" pitchFamily="34" charset="-122"/>
                <a:cs typeface="Segoe UI Semibold" pitchFamily="34" charset="-120"/>
              </a:rPr>
              <a:t>Xuất kết quả</a:t>
            </a:r>
            <a:endParaRPr lang="en-US" sz="1000" dirty="0"/>
          </a:p>
        </p:txBody>
      </p:sp>
      <p:sp>
        <p:nvSpPr>
          <p:cNvPr id="51" name="Text 49"/>
          <p:cNvSpPr/>
          <p:nvPr/>
        </p:nvSpPr>
        <p:spPr>
          <a:xfrm>
            <a:off x="5687568" y="4114800"/>
            <a:ext cx="2798064" cy="365760"/>
          </a:xfrm>
          <a:prstGeom prst="rect">
            <a:avLst/>
          </a:prstGeom>
          <a:noFill/>
          <a:ln/>
        </p:spPr>
        <p:txBody>
          <a:bodyPr wrap="square" lIns="0" tIns="0" rIns="0" bIns="0" rtlCol="0" anchor="t"/>
          <a:lstStyle/>
          <a:p>
            <a:pPr indent="0" marL="0">
              <a:lnSpc>
                <a:spcPct val="115000"/>
              </a:lnSpc>
              <a:buNone/>
            </a:pPr>
            <a:r>
              <a:rPr lang="en-US" sz="850" dirty="0">
                <a:solidFill>
                  <a:srgbClr val="5F7186"/>
                </a:solidFill>
                <a:latin typeface="Segoe UI" pitchFamily="34" charset="0"/>
                <a:ea typeface="Segoe UI" pitchFamily="34" charset="-122"/>
                <a:cs typeface="Segoe UI" pitchFamily="34" charset="-120"/>
              </a:rPr>
              <a:t>Tải ảnh phân đoạn và bảng chỉ số phục vụ hồ sơ bệnh án.</a:t>
            </a:r>
            <a:endParaRPr lang="en-US" sz="850" dirty="0"/>
          </a:p>
        </p:txBody>
      </p:sp>
    </p:spTree>
  </p:cSld>
  <p:clrMapOvr>
    <a:masterClrMapping/>
  </p:clrMapOvr>
  <p:transition spd="med">
    <p:checker dir="horz"/>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fade">
                                      <p:cBhvr>
                                        <p:cTn id="109" dur="400"/>
                                        <p:tgtEl>
                                          <p:spTgt spid="1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8"/>
                                        </p:tgtEl>
                                        <p:attrNameLst>
                                          <p:attrName>style.visibility</p:attrName>
                                        </p:attrNameLst>
                                      </p:cBhvr>
                                      <p:to>
                                        <p:strVal val="visible"/>
                                      </p:to>
                                    </p:set>
                                    <p:animEffect transition="in" filter="fade">
                                      <p:cBhvr>
                                        <p:cTn id="112" dur="400"/>
                                        <p:tgtEl>
                                          <p:spTgt spid="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9"/>
                                        </p:tgtEl>
                                        <p:attrNameLst>
                                          <p:attrName>style.visibility</p:attrName>
                                        </p:attrNameLst>
                                      </p:cBhvr>
                                      <p:to>
                                        <p:strVal val="visible"/>
                                      </p:to>
                                    </p:set>
                                    <p:animEffect transition="in" filter="fade">
                                      <p:cBhvr>
                                        <p:cTn id="115" dur="400"/>
                                        <p:tgtEl>
                                          <p:spTgt spid="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
                                        </p:tgtEl>
                                        <p:attrNameLst>
                                          <p:attrName>style.visibility</p:attrName>
                                        </p:attrNameLst>
                                      </p:cBhvr>
                                      <p:to>
                                        <p:strVal val="visible"/>
                                      </p:to>
                                    </p:set>
                                    <p:animEffect transition="in" filter="fade">
                                      <p:cBhvr>
                                        <p:cTn id="118" dur="400"/>
                                        <p:tgtEl>
                                          <p:spTgt spid="1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1"/>
                                        </p:tgtEl>
                                        <p:attrNameLst>
                                          <p:attrName>style.visibility</p:attrName>
                                        </p:attrNameLst>
                                      </p:cBhvr>
                                      <p:to>
                                        <p:strVal val="visible"/>
                                      </p:to>
                                    </p:set>
                                    <p:animEffect transition="in" filter="fade">
                                      <p:cBhvr>
                                        <p:cTn id="121" dur="400"/>
                                        <p:tgtEl>
                                          <p:spTgt spid="1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fade">
                                      <p:cBhvr>
                                        <p:cTn id="124" dur="400"/>
                                        <p:tgtEl>
                                          <p:spTgt spid="40"/>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1"/>
                                        </p:tgtEl>
                                        <p:attrNameLst>
                                          <p:attrName>style.visibility</p:attrName>
                                        </p:attrNameLst>
                                      </p:cBhvr>
                                      <p:to>
                                        <p:strVal val="visible"/>
                                      </p:to>
                                    </p:set>
                                    <p:animEffect transition="in" filter="fade">
                                      <p:cBhvr>
                                        <p:cTn id="127" dur="400"/>
                                        <p:tgtEl>
                                          <p:spTgt spid="41"/>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400"/>
                                        <p:tgtEl>
                                          <p:spTgt spid="42"/>
                                        </p:tgtEl>
                                      </p:cBhvr>
                                    </p:animEffect>
                                  </p:childTnLst>
                                </p:cTn>
                              </p:par>
                              <p:par>
                                <p:cTn id="131" presetID="10" presetClass="entr" presetSubtype="0" fill="hold" grpId="0" nodeType="withEffect">
                                  <p:stCondLst>
                                    <p:cond delay="28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00"/>
                                        <p:tgtEl>
                                          <p:spTgt spid="14"/>
                                        </p:tgtEl>
                                      </p:cBhvr>
                                    </p:animEffect>
                                  </p:childTnLst>
                                </p:cTn>
                              </p:par>
                              <p:par>
                                <p:cTn id="134" presetID="10" presetClass="entr" presetSubtype="0" fill="hold" grpId="0" nodeType="withEffect">
                                  <p:stCondLst>
                                    <p:cond delay="280"/>
                                  </p:stCondLst>
                                  <p:childTnLst>
                                    <p:set>
                                      <p:cBhvr>
                                        <p:cTn id="135" dur="1" fill="hold">
                                          <p:stCondLst>
                                            <p:cond delay="0"/>
                                          </p:stCondLst>
                                        </p:cTn>
                                        <p:tgtEl>
                                          <p:spTgt spid="13"/>
                                        </p:tgtEl>
                                        <p:attrNameLst>
                                          <p:attrName>style.visibility</p:attrName>
                                        </p:attrNameLst>
                                      </p:cBhvr>
                                      <p:to>
                                        <p:strVal val="visible"/>
                                      </p:to>
                                    </p:set>
                                    <p:animEffect transition="in" filter="fade">
                                      <p:cBhvr>
                                        <p:cTn id="136" dur="400"/>
                                        <p:tgtEl>
                                          <p:spTgt spid="13"/>
                                        </p:tgtEl>
                                      </p:cBhvr>
                                    </p:animEffect>
                                  </p:childTnLst>
                                </p:cTn>
                              </p:par>
                              <p:par>
                                <p:cTn id="137" presetID="10" presetClass="entr" presetSubtype="0" fill="hold" grpId="0" nodeType="withEffect">
                                  <p:stCondLst>
                                    <p:cond delay="280"/>
                                  </p:stCondLst>
                                  <p:childTnLst>
                                    <p:set>
                                      <p:cBhvr>
                                        <p:cTn id="138" dur="1" fill="hold">
                                          <p:stCondLst>
                                            <p:cond delay="0"/>
                                          </p:stCondLst>
                                        </p:cTn>
                                        <p:tgtEl>
                                          <p:spTgt spid="15"/>
                                        </p:tgtEl>
                                        <p:attrNameLst>
                                          <p:attrName>style.visibility</p:attrName>
                                        </p:attrNameLst>
                                      </p:cBhvr>
                                      <p:to>
                                        <p:strVal val="visible"/>
                                      </p:to>
                                    </p:set>
                                    <p:animEffect transition="in" filter="fade">
                                      <p:cBhvr>
                                        <p:cTn id="139" dur="400"/>
                                        <p:tgtEl>
                                          <p:spTgt spid="15"/>
                                        </p:tgtEl>
                                      </p:cBhvr>
                                    </p:animEffect>
                                  </p:childTnLst>
                                </p:cTn>
                              </p:par>
                              <p:par>
                                <p:cTn id="140" presetID="10" presetClass="entr" presetSubtype="0" fill="hold" grpId="0" nodeType="withEffect">
                                  <p:stCondLst>
                                    <p:cond delay="280"/>
                                  </p:stCondLst>
                                  <p:childTnLst>
                                    <p:set>
                                      <p:cBhvr>
                                        <p:cTn id="141" dur="1" fill="hold">
                                          <p:stCondLst>
                                            <p:cond delay="0"/>
                                          </p:stCondLst>
                                        </p:cTn>
                                        <p:tgtEl>
                                          <p:spTgt spid="26"/>
                                        </p:tgtEl>
                                        <p:attrNameLst>
                                          <p:attrName>style.visibility</p:attrName>
                                        </p:attrNameLst>
                                      </p:cBhvr>
                                      <p:to>
                                        <p:strVal val="visible"/>
                                      </p:to>
                                    </p:set>
                                    <p:animEffect transition="in" filter="fade">
                                      <p:cBhvr>
                                        <p:cTn id="142" dur="400"/>
                                        <p:tgtEl>
                                          <p:spTgt spid="26"/>
                                        </p:tgtEl>
                                      </p:cBhvr>
                                    </p:animEffect>
                                  </p:childTnLst>
                                </p:cTn>
                              </p:par>
                              <p:par>
                                <p:cTn id="143" presetID="10" presetClass="entr" presetSubtype="0" fill="hold" grpId="0" nodeType="withEffect">
                                  <p:stCondLst>
                                    <p:cond delay="280"/>
                                  </p:stCondLst>
                                  <p:childTnLst>
                                    <p:set>
                                      <p:cBhvr>
                                        <p:cTn id="144" dur="1" fill="hold">
                                          <p:stCondLst>
                                            <p:cond delay="0"/>
                                          </p:stCondLst>
                                        </p:cTn>
                                        <p:tgtEl>
                                          <p:spTgt spid="25"/>
                                        </p:tgtEl>
                                        <p:attrNameLst>
                                          <p:attrName>style.visibility</p:attrName>
                                        </p:attrNameLst>
                                      </p:cBhvr>
                                      <p:to>
                                        <p:strVal val="visible"/>
                                      </p:to>
                                    </p:set>
                                    <p:animEffect transition="in" filter="fade">
                                      <p:cBhvr>
                                        <p:cTn id="145" dur="400"/>
                                        <p:tgtEl>
                                          <p:spTgt spid="25"/>
                                        </p:tgtEl>
                                      </p:cBhvr>
                                    </p:animEffect>
                                  </p:childTnLst>
                                </p:cTn>
                              </p:par>
                              <p:par>
                                <p:cTn id="146" presetID="10" presetClass="entr" presetSubtype="0" fill="hold" grpId="0" nodeType="withEffect">
                                  <p:stCondLst>
                                    <p:cond delay="280"/>
                                  </p:stCondLst>
                                  <p:childTnLst>
                                    <p:set>
                                      <p:cBhvr>
                                        <p:cTn id="147" dur="1" fill="hold">
                                          <p:stCondLst>
                                            <p:cond delay="0"/>
                                          </p:stCondLst>
                                        </p:cTn>
                                        <p:tgtEl>
                                          <p:spTgt spid="29"/>
                                        </p:tgtEl>
                                        <p:attrNameLst>
                                          <p:attrName>style.visibility</p:attrName>
                                        </p:attrNameLst>
                                      </p:cBhvr>
                                      <p:to>
                                        <p:strVal val="visible"/>
                                      </p:to>
                                    </p:set>
                                    <p:animEffect transition="in" filter="fade">
                                      <p:cBhvr>
                                        <p:cTn id="148" dur="400"/>
                                        <p:tgtEl>
                                          <p:spTgt spid="29"/>
                                        </p:tgtEl>
                                      </p:cBhvr>
                                    </p:animEffect>
                                  </p:childTnLst>
                                </p:cTn>
                              </p:par>
                              <p:par>
                                <p:cTn id="149" presetID="10" presetClass="entr" presetSubtype="0" fill="hold" grpId="0" nodeType="withEffect">
                                  <p:stCondLst>
                                    <p:cond delay="560"/>
                                  </p:stCondLst>
                                  <p:childTnLst>
                                    <p:set>
                                      <p:cBhvr>
                                        <p:cTn id="150" dur="1" fill="hold">
                                          <p:stCondLst>
                                            <p:cond delay="0"/>
                                          </p:stCondLst>
                                        </p:cTn>
                                        <p:tgtEl>
                                          <p:spTgt spid="17"/>
                                        </p:tgtEl>
                                        <p:attrNameLst>
                                          <p:attrName>style.visibility</p:attrName>
                                        </p:attrNameLst>
                                      </p:cBhvr>
                                      <p:to>
                                        <p:strVal val="visible"/>
                                      </p:to>
                                    </p:set>
                                    <p:animEffect transition="in" filter="fade">
                                      <p:cBhvr>
                                        <p:cTn id="151" dur="400"/>
                                        <p:tgtEl>
                                          <p:spTgt spid="17"/>
                                        </p:tgtEl>
                                      </p:cBhvr>
                                    </p:animEffect>
                                  </p:childTnLst>
                                </p:cTn>
                              </p:par>
                              <p:par>
                                <p:cTn id="152" presetID="10" presetClass="entr" presetSubtype="0" fill="hold" grpId="0" nodeType="withEffect">
                                  <p:stCondLst>
                                    <p:cond delay="560"/>
                                  </p:stCondLst>
                                  <p:childTnLst>
                                    <p:set>
                                      <p:cBhvr>
                                        <p:cTn id="153" dur="1" fill="hold">
                                          <p:stCondLst>
                                            <p:cond delay="0"/>
                                          </p:stCondLst>
                                        </p:cTn>
                                        <p:tgtEl>
                                          <p:spTgt spid="16"/>
                                        </p:tgtEl>
                                        <p:attrNameLst>
                                          <p:attrName>style.visibility</p:attrName>
                                        </p:attrNameLst>
                                      </p:cBhvr>
                                      <p:to>
                                        <p:strVal val="visible"/>
                                      </p:to>
                                    </p:set>
                                    <p:animEffect transition="in" filter="fade">
                                      <p:cBhvr>
                                        <p:cTn id="154" dur="400"/>
                                        <p:tgtEl>
                                          <p:spTgt spid="16"/>
                                        </p:tgtEl>
                                      </p:cBhvr>
                                    </p:animEffect>
                                  </p:childTnLst>
                                </p:cTn>
                              </p:par>
                              <p:par>
                                <p:cTn id="155" presetID="10" presetClass="entr" presetSubtype="0" fill="hold" grpId="0" nodeType="withEffect">
                                  <p:stCondLst>
                                    <p:cond delay="560"/>
                                  </p:stCondLst>
                                  <p:childTnLst>
                                    <p:set>
                                      <p:cBhvr>
                                        <p:cTn id="156" dur="1" fill="hold">
                                          <p:stCondLst>
                                            <p:cond delay="0"/>
                                          </p:stCondLst>
                                        </p:cTn>
                                        <p:tgtEl>
                                          <p:spTgt spid="18"/>
                                        </p:tgtEl>
                                        <p:attrNameLst>
                                          <p:attrName>style.visibility</p:attrName>
                                        </p:attrNameLst>
                                      </p:cBhvr>
                                      <p:to>
                                        <p:strVal val="visible"/>
                                      </p:to>
                                    </p:set>
                                    <p:animEffect transition="in" filter="fade">
                                      <p:cBhvr>
                                        <p:cTn id="157" dur="400"/>
                                        <p:tgtEl>
                                          <p:spTgt spid="18"/>
                                        </p:tgtEl>
                                      </p:cBhvr>
                                    </p:animEffect>
                                  </p:childTnLst>
                                </p:cTn>
                              </p:par>
                              <p:par>
                                <p:cTn id="158" presetID="10" presetClass="entr" presetSubtype="0" fill="hold" grpId="0" nodeType="withEffect">
                                  <p:stCondLst>
                                    <p:cond delay="560"/>
                                  </p:stCondLst>
                                  <p:childTnLst>
                                    <p:set>
                                      <p:cBhvr>
                                        <p:cTn id="159" dur="1" fill="hold">
                                          <p:stCondLst>
                                            <p:cond delay="0"/>
                                          </p:stCondLst>
                                        </p:cTn>
                                        <p:tgtEl>
                                          <p:spTgt spid="27"/>
                                        </p:tgtEl>
                                        <p:attrNameLst>
                                          <p:attrName>style.visibility</p:attrName>
                                        </p:attrNameLst>
                                      </p:cBhvr>
                                      <p:to>
                                        <p:strVal val="visible"/>
                                      </p:to>
                                    </p:set>
                                    <p:animEffect transition="in" filter="fade">
                                      <p:cBhvr>
                                        <p:cTn id="160" dur="400"/>
                                        <p:tgtEl>
                                          <p:spTgt spid="27"/>
                                        </p:tgtEl>
                                      </p:cBhvr>
                                    </p:animEffect>
                                  </p:childTnLst>
                                </p:cTn>
                              </p:par>
                              <p:par>
                                <p:cTn id="161" presetID="10" presetClass="entr" presetSubtype="0" fill="hold" grpId="0" nodeType="withEffect">
                                  <p:stCondLst>
                                    <p:cond delay="560"/>
                                  </p:stCondLst>
                                  <p:childTnLst>
                                    <p:set>
                                      <p:cBhvr>
                                        <p:cTn id="162" dur="1" fill="hold">
                                          <p:stCondLst>
                                            <p:cond delay="0"/>
                                          </p:stCondLst>
                                        </p:cTn>
                                        <p:tgtEl>
                                          <p:spTgt spid="28"/>
                                        </p:tgtEl>
                                        <p:attrNameLst>
                                          <p:attrName>style.visibility</p:attrName>
                                        </p:attrNameLst>
                                      </p:cBhvr>
                                      <p:to>
                                        <p:strVal val="visible"/>
                                      </p:to>
                                    </p:set>
                                    <p:animEffect transition="in" filter="fade">
                                      <p:cBhvr>
                                        <p:cTn id="163" dur="400"/>
                                        <p:tgtEl>
                                          <p:spTgt spid="28"/>
                                        </p:tgtEl>
                                      </p:cBhvr>
                                    </p:animEffect>
                                  </p:childTnLst>
                                </p:cTn>
                              </p:par>
                              <p:par>
                                <p:cTn id="164" presetID="10" presetClass="entr" presetSubtype="0" fill="hold" grpId="0" nodeType="withEffect">
                                  <p:stCondLst>
                                    <p:cond delay="560"/>
                                  </p:stCondLst>
                                  <p:childTnLst>
                                    <p:set>
                                      <p:cBhvr>
                                        <p:cTn id="165" dur="1" fill="hold">
                                          <p:stCondLst>
                                            <p:cond delay="0"/>
                                          </p:stCondLst>
                                        </p:cTn>
                                        <p:tgtEl>
                                          <p:spTgt spid="30"/>
                                        </p:tgtEl>
                                        <p:attrNameLst>
                                          <p:attrName>style.visibility</p:attrName>
                                        </p:attrNameLst>
                                      </p:cBhvr>
                                      <p:to>
                                        <p:strVal val="visible"/>
                                      </p:to>
                                    </p:set>
                                    <p:animEffect transition="in" filter="fade">
                                      <p:cBhvr>
                                        <p:cTn id="166" dur="400"/>
                                        <p:tgtEl>
                                          <p:spTgt spid="30"/>
                                        </p:tgtEl>
                                      </p:cBhvr>
                                    </p:animEffect>
                                  </p:childTnLst>
                                </p:cTn>
                              </p:par>
                              <p:par>
                                <p:cTn id="167" presetID="10" presetClass="entr" presetSubtype="0" fill="hold" grpId="0" nodeType="withEffect">
                                  <p:stCondLst>
                                    <p:cond delay="560"/>
                                  </p:stCondLst>
                                  <p:childTnLst>
                                    <p:set>
                                      <p:cBhvr>
                                        <p:cTn id="168" dur="1" fill="hold">
                                          <p:stCondLst>
                                            <p:cond delay="0"/>
                                          </p:stCondLst>
                                        </p:cTn>
                                        <p:tgtEl>
                                          <p:spTgt spid="31"/>
                                        </p:tgtEl>
                                        <p:attrNameLst>
                                          <p:attrName>style.visibility</p:attrName>
                                        </p:attrNameLst>
                                      </p:cBhvr>
                                      <p:to>
                                        <p:strVal val="visible"/>
                                      </p:to>
                                    </p:set>
                                    <p:animEffect transition="in" filter="fade">
                                      <p:cBhvr>
                                        <p:cTn id="169" dur="400"/>
                                        <p:tgtEl>
                                          <p:spTgt spid="31"/>
                                        </p:tgtEl>
                                      </p:cBhvr>
                                    </p:animEffect>
                                  </p:childTnLst>
                                </p:cTn>
                              </p:par>
                              <p:par>
                                <p:cTn id="170" presetID="10" presetClass="entr" presetSubtype="0" fill="hold" grpId="0" nodeType="withEffect">
                                  <p:stCondLst>
                                    <p:cond delay="56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400"/>
                                        <p:tgtEl>
                                          <p:spTgt spid="43"/>
                                        </p:tgtEl>
                                      </p:cBhvr>
                                    </p:animEffect>
                                  </p:childTnLst>
                                </p:cTn>
                              </p:par>
                              <p:par>
                                <p:cTn id="173" presetID="10" presetClass="entr" presetSubtype="0" fill="hold" grpId="0" nodeType="withEffect">
                                  <p:stCondLst>
                                    <p:cond delay="560"/>
                                  </p:stCondLst>
                                  <p:childTnLst>
                                    <p:set>
                                      <p:cBhvr>
                                        <p:cTn id="174" dur="1" fill="hold">
                                          <p:stCondLst>
                                            <p:cond delay="0"/>
                                          </p:stCondLst>
                                        </p:cTn>
                                        <p:tgtEl>
                                          <p:spTgt spid="44"/>
                                        </p:tgtEl>
                                        <p:attrNameLst>
                                          <p:attrName>style.visibility</p:attrName>
                                        </p:attrNameLst>
                                      </p:cBhvr>
                                      <p:to>
                                        <p:strVal val="visible"/>
                                      </p:to>
                                    </p:set>
                                    <p:animEffect transition="in" filter="fade">
                                      <p:cBhvr>
                                        <p:cTn id="175" dur="400"/>
                                        <p:tgtEl>
                                          <p:spTgt spid="44"/>
                                        </p:tgtEl>
                                      </p:cBhvr>
                                    </p:animEffect>
                                  </p:childTnLst>
                                </p:cTn>
                              </p:par>
                              <p:par>
                                <p:cTn id="176" presetID="10" presetClass="entr" presetSubtype="0" fill="hold" grpId="0" nodeType="withEffect">
                                  <p:stCondLst>
                                    <p:cond delay="560"/>
                                  </p:stCondLst>
                                  <p:childTnLst>
                                    <p:set>
                                      <p:cBhvr>
                                        <p:cTn id="177" dur="1" fill="hold">
                                          <p:stCondLst>
                                            <p:cond delay="0"/>
                                          </p:stCondLst>
                                        </p:cTn>
                                        <p:tgtEl>
                                          <p:spTgt spid="45"/>
                                        </p:tgtEl>
                                        <p:attrNameLst>
                                          <p:attrName>style.visibility</p:attrName>
                                        </p:attrNameLst>
                                      </p:cBhvr>
                                      <p:to>
                                        <p:strVal val="visible"/>
                                      </p:to>
                                    </p:set>
                                    <p:animEffect transition="in" filter="fade">
                                      <p:cBhvr>
                                        <p:cTn id="178" dur="400"/>
                                        <p:tgtEl>
                                          <p:spTgt spid="45"/>
                                        </p:tgtEl>
                                      </p:cBhvr>
                                    </p:animEffect>
                                  </p:childTnLst>
                                </p:cTn>
                              </p:par>
                              <p:par>
                                <p:cTn id="179" presetID="10" presetClass="entr" presetSubtype="0" fill="hold" grpId="0" nodeType="withEffect">
                                  <p:stCondLst>
                                    <p:cond delay="840"/>
                                  </p:stCondLst>
                                  <p:childTnLst>
                                    <p:set>
                                      <p:cBhvr>
                                        <p:cTn id="180" dur="1" fill="hold">
                                          <p:stCondLst>
                                            <p:cond delay="0"/>
                                          </p:stCondLst>
                                        </p:cTn>
                                        <p:tgtEl>
                                          <p:spTgt spid="19"/>
                                        </p:tgtEl>
                                        <p:attrNameLst>
                                          <p:attrName>style.visibility</p:attrName>
                                        </p:attrNameLst>
                                      </p:cBhvr>
                                      <p:to>
                                        <p:strVal val="visible"/>
                                      </p:to>
                                    </p:set>
                                    <p:animEffect transition="in" filter="fade">
                                      <p:cBhvr>
                                        <p:cTn id="181" dur="400"/>
                                        <p:tgtEl>
                                          <p:spTgt spid="19"/>
                                        </p:tgtEl>
                                      </p:cBhvr>
                                    </p:animEffect>
                                  </p:childTnLst>
                                </p:cTn>
                              </p:par>
                              <p:par>
                                <p:cTn id="182" presetID="10" presetClass="entr" presetSubtype="0" fill="hold" grpId="0" nodeType="withEffect">
                                  <p:stCondLst>
                                    <p:cond delay="840"/>
                                  </p:stCondLst>
                                  <p:childTnLst>
                                    <p:set>
                                      <p:cBhvr>
                                        <p:cTn id="183" dur="1" fill="hold">
                                          <p:stCondLst>
                                            <p:cond delay="0"/>
                                          </p:stCondLst>
                                        </p:cTn>
                                        <p:tgtEl>
                                          <p:spTgt spid="20"/>
                                        </p:tgtEl>
                                        <p:attrNameLst>
                                          <p:attrName>style.visibility</p:attrName>
                                        </p:attrNameLst>
                                      </p:cBhvr>
                                      <p:to>
                                        <p:strVal val="visible"/>
                                      </p:to>
                                    </p:set>
                                    <p:animEffect transition="in" filter="fade">
                                      <p:cBhvr>
                                        <p:cTn id="184" dur="400"/>
                                        <p:tgtEl>
                                          <p:spTgt spid="20"/>
                                        </p:tgtEl>
                                      </p:cBhvr>
                                    </p:animEffect>
                                  </p:childTnLst>
                                </p:cTn>
                              </p:par>
                              <p:par>
                                <p:cTn id="185" presetID="10" presetClass="entr" presetSubtype="0" fill="hold" grpId="0" nodeType="withEffect">
                                  <p:stCondLst>
                                    <p:cond delay="840"/>
                                  </p:stCondLst>
                                  <p:childTnLst>
                                    <p:set>
                                      <p:cBhvr>
                                        <p:cTn id="186" dur="1" fill="hold">
                                          <p:stCondLst>
                                            <p:cond delay="0"/>
                                          </p:stCondLst>
                                        </p:cTn>
                                        <p:tgtEl>
                                          <p:spTgt spid="32"/>
                                        </p:tgtEl>
                                        <p:attrNameLst>
                                          <p:attrName>style.visibility</p:attrName>
                                        </p:attrNameLst>
                                      </p:cBhvr>
                                      <p:to>
                                        <p:strVal val="visible"/>
                                      </p:to>
                                    </p:set>
                                    <p:animEffect transition="in" filter="fade">
                                      <p:cBhvr>
                                        <p:cTn id="187" dur="400"/>
                                        <p:tgtEl>
                                          <p:spTgt spid="32"/>
                                        </p:tgtEl>
                                      </p:cBhvr>
                                    </p:animEffect>
                                  </p:childTnLst>
                                </p:cTn>
                              </p:par>
                              <p:par>
                                <p:cTn id="188" presetID="10" presetClass="entr" presetSubtype="0" fill="hold" grpId="0" nodeType="withEffect">
                                  <p:stCondLst>
                                    <p:cond delay="840"/>
                                  </p:stCondLst>
                                  <p:childTnLst>
                                    <p:set>
                                      <p:cBhvr>
                                        <p:cTn id="189" dur="1" fill="hold">
                                          <p:stCondLst>
                                            <p:cond delay="0"/>
                                          </p:stCondLst>
                                        </p:cTn>
                                        <p:tgtEl>
                                          <p:spTgt spid="35"/>
                                        </p:tgtEl>
                                        <p:attrNameLst>
                                          <p:attrName>style.visibility</p:attrName>
                                        </p:attrNameLst>
                                      </p:cBhvr>
                                      <p:to>
                                        <p:strVal val="visible"/>
                                      </p:to>
                                    </p:set>
                                    <p:animEffect transition="in" filter="fade">
                                      <p:cBhvr>
                                        <p:cTn id="190" dur="400"/>
                                        <p:tgtEl>
                                          <p:spTgt spid="35"/>
                                        </p:tgtEl>
                                      </p:cBhvr>
                                    </p:animEffect>
                                  </p:childTnLst>
                                </p:cTn>
                              </p:par>
                              <p:par>
                                <p:cTn id="191" presetID="10" presetClass="entr" presetSubtype="0" fill="hold" grpId="0" nodeType="withEffect">
                                  <p:stCondLst>
                                    <p:cond delay="840"/>
                                  </p:stCondLst>
                                  <p:childTnLst>
                                    <p:set>
                                      <p:cBhvr>
                                        <p:cTn id="192" dur="1" fill="hold">
                                          <p:stCondLst>
                                            <p:cond delay="0"/>
                                          </p:stCondLst>
                                        </p:cTn>
                                        <p:tgtEl>
                                          <p:spTgt spid="46"/>
                                        </p:tgtEl>
                                        <p:attrNameLst>
                                          <p:attrName>style.visibility</p:attrName>
                                        </p:attrNameLst>
                                      </p:cBhvr>
                                      <p:to>
                                        <p:strVal val="visible"/>
                                      </p:to>
                                    </p:set>
                                    <p:animEffect transition="in" filter="fade">
                                      <p:cBhvr>
                                        <p:cTn id="193" dur="400"/>
                                        <p:tgtEl>
                                          <p:spTgt spid="46"/>
                                        </p:tgtEl>
                                      </p:cBhvr>
                                    </p:animEffect>
                                  </p:childTnLst>
                                </p:cTn>
                              </p:par>
                              <p:par>
                                <p:cTn id="194" presetID="10" presetClass="entr" presetSubtype="0" fill="hold" grpId="0" nodeType="withEffect">
                                  <p:stCondLst>
                                    <p:cond delay="1120"/>
                                  </p:stCondLst>
                                  <p:childTnLst>
                                    <p:set>
                                      <p:cBhvr>
                                        <p:cTn id="195" dur="1" fill="hold">
                                          <p:stCondLst>
                                            <p:cond delay="0"/>
                                          </p:stCondLst>
                                        </p:cTn>
                                        <p:tgtEl>
                                          <p:spTgt spid="22"/>
                                        </p:tgtEl>
                                        <p:attrNameLst>
                                          <p:attrName>style.visibility</p:attrName>
                                        </p:attrNameLst>
                                      </p:cBhvr>
                                      <p:to>
                                        <p:strVal val="visible"/>
                                      </p:to>
                                    </p:set>
                                    <p:animEffect transition="in" filter="fade">
                                      <p:cBhvr>
                                        <p:cTn id="196" dur="400"/>
                                        <p:tgtEl>
                                          <p:spTgt spid="22"/>
                                        </p:tgtEl>
                                      </p:cBhvr>
                                    </p:animEffect>
                                  </p:childTnLst>
                                </p:cTn>
                              </p:par>
                              <p:par>
                                <p:cTn id="197" presetID="10" presetClass="entr" presetSubtype="0" fill="hold" grpId="0" nodeType="withEffect">
                                  <p:stCondLst>
                                    <p:cond delay="1120"/>
                                  </p:stCondLst>
                                  <p:childTnLst>
                                    <p:set>
                                      <p:cBhvr>
                                        <p:cTn id="198" dur="1" fill="hold">
                                          <p:stCondLst>
                                            <p:cond delay="0"/>
                                          </p:stCondLst>
                                        </p:cTn>
                                        <p:tgtEl>
                                          <p:spTgt spid="21"/>
                                        </p:tgtEl>
                                        <p:attrNameLst>
                                          <p:attrName>style.visibility</p:attrName>
                                        </p:attrNameLst>
                                      </p:cBhvr>
                                      <p:to>
                                        <p:strVal val="visible"/>
                                      </p:to>
                                    </p:set>
                                    <p:animEffect transition="in" filter="fade">
                                      <p:cBhvr>
                                        <p:cTn id="199" dur="400"/>
                                        <p:tgtEl>
                                          <p:spTgt spid="21"/>
                                        </p:tgtEl>
                                      </p:cBhvr>
                                    </p:animEffect>
                                  </p:childTnLst>
                                </p:cTn>
                              </p:par>
                              <p:par>
                                <p:cTn id="200" presetID="10" presetClass="entr" presetSubtype="0" fill="hold" grpId="0" nodeType="withEffect">
                                  <p:stCondLst>
                                    <p:cond delay="1120"/>
                                  </p:stCondLst>
                                  <p:childTnLst>
                                    <p:set>
                                      <p:cBhvr>
                                        <p:cTn id="201" dur="1" fill="hold">
                                          <p:stCondLst>
                                            <p:cond delay="0"/>
                                          </p:stCondLst>
                                        </p:cTn>
                                        <p:tgtEl>
                                          <p:spTgt spid="23"/>
                                        </p:tgtEl>
                                        <p:attrNameLst>
                                          <p:attrName>style.visibility</p:attrName>
                                        </p:attrNameLst>
                                      </p:cBhvr>
                                      <p:to>
                                        <p:strVal val="visible"/>
                                      </p:to>
                                    </p:set>
                                    <p:animEffect transition="in" filter="fade">
                                      <p:cBhvr>
                                        <p:cTn id="202" dur="400"/>
                                        <p:tgtEl>
                                          <p:spTgt spid="23"/>
                                        </p:tgtEl>
                                      </p:cBhvr>
                                    </p:animEffect>
                                  </p:childTnLst>
                                </p:cTn>
                              </p:par>
                              <p:par>
                                <p:cTn id="203" presetID="10" presetClass="entr" presetSubtype="0" fill="hold" grpId="0" nodeType="withEffect">
                                  <p:stCondLst>
                                    <p:cond delay="1120"/>
                                  </p:stCondLst>
                                  <p:childTnLst>
                                    <p:set>
                                      <p:cBhvr>
                                        <p:cTn id="204" dur="1" fill="hold">
                                          <p:stCondLst>
                                            <p:cond delay="0"/>
                                          </p:stCondLst>
                                        </p:cTn>
                                        <p:tgtEl>
                                          <p:spTgt spid="33"/>
                                        </p:tgtEl>
                                        <p:attrNameLst>
                                          <p:attrName>style.visibility</p:attrName>
                                        </p:attrNameLst>
                                      </p:cBhvr>
                                      <p:to>
                                        <p:strVal val="visible"/>
                                      </p:to>
                                    </p:set>
                                    <p:animEffect transition="in" filter="fade">
                                      <p:cBhvr>
                                        <p:cTn id="205" dur="400"/>
                                        <p:tgtEl>
                                          <p:spTgt spid="33"/>
                                        </p:tgtEl>
                                      </p:cBhvr>
                                    </p:animEffect>
                                  </p:childTnLst>
                                </p:cTn>
                              </p:par>
                              <p:par>
                                <p:cTn id="206" presetID="10" presetClass="entr" presetSubtype="0" fill="hold" grpId="0" nodeType="withEffect">
                                  <p:stCondLst>
                                    <p:cond delay="1120"/>
                                  </p:stCondLst>
                                  <p:childTnLst>
                                    <p:set>
                                      <p:cBhvr>
                                        <p:cTn id="207" dur="1" fill="hold">
                                          <p:stCondLst>
                                            <p:cond delay="0"/>
                                          </p:stCondLst>
                                        </p:cTn>
                                        <p:tgtEl>
                                          <p:spTgt spid="36"/>
                                        </p:tgtEl>
                                        <p:attrNameLst>
                                          <p:attrName>style.visibility</p:attrName>
                                        </p:attrNameLst>
                                      </p:cBhvr>
                                      <p:to>
                                        <p:strVal val="visible"/>
                                      </p:to>
                                    </p:set>
                                    <p:animEffect transition="in" filter="fade">
                                      <p:cBhvr>
                                        <p:cTn id="208" dur="400"/>
                                        <p:tgtEl>
                                          <p:spTgt spid="36"/>
                                        </p:tgtEl>
                                      </p:cBhvr>
                                    </p:animEffect>
                                  </p:childTnLst>
                                </p:cTn>
                              </p:par>
                              <p:par>
                                <p:cTn id="209" presetID="10" presetClass="entr" presetSubtype="0" fill="hold" grpId="0" nodeType="withEffect">
                                  <p:stCondLst>
                                    <p:cond delay="1120"/>
                                  </p:stCondLst>
                                  <p:childTnLst>
                                    <p:set>
                                      <p:cBhvr>
                                        <p:cTn id="210" dur="1" fill="hold">
                                          <p:stCondLst>
                                            <p:cond delay="0"/>
                                          </p:stCondLst>
                                        </p:cTn>
                                        <p:tgtEl>
                                          <p:spTgt spid="47"/>
                                        </p:tgtEl>
                                        <p:attrNameLst>
                                          <p:attrName>style.visibility</p:attrName>
                                        </p:attrNameLst>
                                      </p:cBhvr>
                                      <p:to>
                                        <p:strVal val="visible"/>
                                      </p:to>
                                    </p:set>
                                    <p:animEffect transition="in" filter="fade">
                                      <p:cBhvr>
                                        <p:cTn id="211" dur="400"/>
                                        <p:tgtEl>
                                          <p:spTgt spid="47"/>
                                        </p:tgtEl>
                                      </p:cBhvr>
                                    </p:animEffect>
                                  </p:childTnLst>
                                </p:cTn>
                              </p:par>
                              <p:par>
                                <p:cTn id="212" presetID="10" presetClass="entr" presetSubtype="0" fill="hold" grpId="0" nodeType="withEffect">
                                  <p:stCondLst>
                                    <p:cond delay="1120"/>
                                  </p:stCondLst>
                                  <p:childTnLst>
                                    <p:set>
                                      <p:cBhvr>
                                        <p:cTn id="213" dur="1" fill="hold">
                                          <p:stCondLst>
                                            <p:cond delay="0"/>
                                          </p:stCondLst>
                                        </p:cTn>
                                        <p:tgtEl>
                                          <p:spTgt spid="48"/>
                                        </p:tgtEl>
                                        <p:attrNameLst>
                                          <p:attrName>style.visibility</p:attrName>
                                        </p:attrNameLst>
                                      </p:cBhvr>
                                      <p:to>
                                        <p:strVal val="visible"/>
                                      </p:to>
                                    </p:set>
                                    <p:animEffect transition="in" filter="fade">
                                      <p:cBhvr>
                                        <p:cTn id="214" dur="400"/>
                                        <p:tgtEl>
                                          <p:spTgt spid="48"/>
                                        </p:tgtEl>
                                      </p:cBhvr>
                                    </p:animEffect>
                                  </p:childTnLst>
                                </p:cTn>
                              </p:par>
                              <p:par>
                                <p:cTn id="215" presetID="10" presetClass="entr" presetSubtype="0" fill="hold" grpId="0" nodeType="withEffect">
                                  <p:stCondLst>
                                    <p:cond delay="1400"/>
                                  </p:stCondLst>
                                  <p:childTnLst>
                                    <p:set>
                                      <p:cBhvr>
                                        <p:cTn id="216" dur="1" fill="hold">
                                          <p:stCondLst>
                                            <p:cond delay="0"/>
                                          </p:stCondLst>
                                        </p:cTn>
                                        <p:tgtEl>
                                          <p:spTgt spid="34"/>
                                        </p:tgtEl>
                                        <p:attrNameLst>
                                          <p:attrName>style.visibility</p:attrName>
                                        </p:attrNameLst>
                                      </p:cBhvr>
                                      <p:to>
                                        <p:strVal val="visible"/>
                                      </p:to>
                                    </p:set>
                                    <p:animEffect transition="in" filter="fade">
                                      <p:cBhvr>
                                        <p:cTn id="217" dur="400"/>
                                        <p:tgtEl>
                                          <p:spTgt spid="34"/>
                                        </p:tgtEl>
                                      </p:cBhvr>
                                    </p:animEffect>
                                  </p:childTnLst>
                                </p:cTn>
                              </p:par>
                              <p:par>
                                <p:cTn id="218" presetID="10" presetClass="entr" presetSubtype="0" fill="hold" grpId="0" nodeType="withEffect">
                                  <p:stCondLst>
                                    <p:cond delay="1400"/>
                                  </p:stCondLst>
                                  <p:childTnLst>
                                    <p:set>
                                      <p:cBhvr>
                                        <p:cTn id="219" dur="1" fill="hold">
                                          <p:stCondLst>
                                            <p:cond delay="0"/>
                                          </p:stCondLst>
                                        </p:cTn>
                                        <p:tgtEl>
                                          <p:spTgt spid="37"/>
                                        </p:tgtEl>
                                        <p:attrNameLst>
                                          <p:attrName>style.visibility</p:attrName>
                                        </p:attrNameLst>
                                      </p:cBhvr>
                                      <p:to>
                                        <p:strVal val="visible"/>
                                      </p:to>
                                    </p:set>
                                    <p:animEffect transition="in" filter="fade">
                                      <p:cBhvr>
                                        <p:cTn id="220" dur="400"/>
                                        <p:tgtEl>
                                          <p:spTgt spid="37"/>
                                        </p:tgtEl>
                                      </p:cBhvr>
                                    </p:animEffect>
                                  </p:childTnLst>
                                </p:cTn>
                              </p:par>
                              <p:par>
                                <p:cTn id="221" presetID="10" presetClass="entr" presetSubtype="0" fill="hold" grpId="0" nodeType="withEffect">
                                  <p:stCondLst>
                                    <p:cond delay="1400"/>
                                  </p:stCondLst>
                                  <p:childTnLst>
                                    <p:set>
                                      <p:cBhvr>
                                        <p:cTn id="222" dur="1" fill="hold">
                                          <p:stCondLst>
                                            <p:cond delay="0"/>
                                          </p:stCondLst>
                                        </p:cTn>
                                        <p:tgtEl>
                                          <p:spTgt spid="49"/>
                                        </p:tgtEl>
                                        <p:attrNameLst>
                                          <p:attrName>style.visibility</p:attrName>
                                        </p:attrNameLst>
                                      </p:cBhvr>
                                      <p:to>
                                        <p:strVal val="visible"/>
                                      </p:to>
                                    </p:set>
                                    <p:animEffect transition="in" filter="fade">
                                      <p:cBhvr>
                                        <p:cTn id="223"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15  ·  TRỰC QUAN LÂM SÀNG</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Quy trình khám và bộ bốn khung nhìn chẩn đoán</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16 / 20</a:t>
            </a:r>
            <a:endParaRPr lang="en-US" sz="800" dirty="0"/>
          </a:p>
        </p:txBody>
      </p:sp>
      <p:pic>
        <p:nvPicPr>
          <p:cNvPr id="6" name="Image 0" descr="C:\Users\xpaga\Documents\xlas\reports\figures\demo_comparison_quad.png">    </p:cNvPr>
          <p:cNvPicPr>
            <a:picLocks noChangeAspect="1"/>
          </p:cNvPicPr>
          <p:nvPr/>
        </p:nvPicPr>
        <p:blipFill>
          <a:blip r:embed="rId1"/>
          <a:stretch>
            <a:fillRect/>
          </a:stretch>
        </p:blipFill>
        <p:spPr>
          <a:xfrm>
            <a:off x="502920" y="1243584"/>
            <a:ext cx="2670048" cy="2670048"/>
          </a:xfrm>
          <a:prstGeom prst="rect">
            <a:avLst/>
          </a:prstGeom>
        </p:spPr>
      </p:pic>
      <p:sp>
        <p:nvSpPr>
          <p:cNvPr id="7" name="Shape 4"/>
          <p:cNvSpPr/>
          <p:nvPr/>
        </p:nvSpPr>
        <p:spPr>
          <a:xfrm>
            <a:off x="502920" y="1243584"/>
            <a:ext cx="2670048" cy="2670048"/>
          </a:xfrm>
          <a:prstGeom prst="rect">
            <a:avLst/>
          </a:prstGeom>
          <a:solidFill>
            <a:srgbClr val="FFFFFF">
              <a:alpha val="0"/>
            </a:srgbClr>
          </a:solidFill>
          <a:ln w="9525">
            <a:solidFill>
              <a:srgbClr val="D1E3E8"/>
            </a:solidFill>
            <a:prstDash val="solid"/>
          </a:ln>
        </p:spPr>
      </p:sp>
      <p:sp>
        <p:nvSpPr>
          <p:cNvPr id="8" name="Text 5"/>
          <p:cNvSpPr/>
          <p:nvPr/>
        </p:nvSpPr>
        <p:spPr>
          <a:xfrm>
            <a:off x="502920" y="3986784"/>
            <a:ext cx="2670048" cy="201168"/>
          </a:xfrm>
          <a:prstGeom prst="rect">
            <a:avLst/>
          </a:prstGeom>
          <a:noFill/>
          <a:ln/>
        </p:spPr>
        <p:txBody>
          <a:bodyPr wrap="square" lIns="0" tIns="0" rIns="0" bIns="0" rtlCol="0" anchor="ctr"/>
          <a:lstStyle/>
          <a:p>
            <a:pPr algn="ctr" indent="0" marL="0">
              <a:buNone/>
            </a:pPr>
            <a:r>
              <a:rPr lang="en-US" sz="800" i="1" dirty="0">
                <a:solidFill>
                  <a:srgbClr val="5F7186"/>
                </a:solidFill>
                <a:latin typeface="Segoe UI" pitchFamily="34" charset="0"/>
                <a:ea typeface="Segoe UI" pitchFamily="34" charset="-122"/>
                <a:cs typeface="Segoe UI" pitchFamily="34" charset="-120"/>
              </a:rPr>
              <a:t>Ca minh họa TCGA_DU_6404_19850629_40</a:t>
            </a:r>
            <a:endParaRPr lang="en-US" sz="800" dirty="0"/>
          </a:p>
        </p:txBody>
      </p:sp>
      <p:sp>
        <p:nvSpPr>
          <p:cNvPr id="9" name="Shape 6"/>
          <p:cNvSpPr/>
          <p:nvPr/>
        </p:nvSpPr>
        <p:spPr>
          <a:xfrm>
            <a:off x="502920" y="4224528"/>
            <a:ext cx="2670048" cy="384048"/>
          </a:xfrm>
          <a:prstGeom prst="roundRect">
            <a:avLst>
              <a:gd name="adj" fmla="val 14286"/>
            </a:avLst>
          </a:prstGeom>
          <a:solidFill>
            <a:srgbClr val="00A896"/>
          </a:solidFill>
          <a:ln w="9525">
            <a:solidFill>
              <a:srgbClr val="00A896"/>
            </a:solidFill>
            <a:prstDash val="solid"/>
          </a:ln>
        </p:spPr>
      </p:sp>
      <p:sp>
        <p:nvSpPr>
          <p:cNvPr id="10" name="Text 7"/>
          <p:cNvSpPr/>
          <p:nvPr/>
        </p:nvSpPr>
        <p:spPr>
          <a:xfrm>
            <a:off x="594360" y="4224528"/>
            <a:ext cx="2487168" cy="384048"/>
          </a:xfrm>
          <a:prstGeom prst="rect">
            <a:avLst/>
          </a:prstGeom>
          <a:noFill/>
          <a:ln/>
        </p:spPr>
        <p:txBody>
          <a:bodyPr wrap="square" lIns="0" tIns="0" rIns="0" bIns="0" rtlCol="0" anchor="ctr"/>
          <a:lstStyle/>
          <a:p>
            <a:pPr algn="ctr" indent="0" marL="0">
              <a:buNone/>
            </a:pPr>
            <a:r>
              <a:rPr lang="en-US" sz="800" dirty="0">
                <a:solidFill>
                  <a:srgbClr val="FFFFFF"/>
                </a:solidFill>
                <a:latin typeface="Segoe UI Semibold" pitchFamily="34" charset="0"/>
                <a:ea typeface="Segoe UI Semibold" pitchFamily="34" charset="-122"/>
                <a:cs typeface="Segoe UI Semibold" pitchFamily="34" charset="-120"/>
              </a:rPr>
              <a:t>KẾT LUẬN: DƯƠNG TÍNH — PHÁT HIỆN KHỐI U</a:t>
            </a:r>
            <a:endParaRPr lang="en-US" sz="800" dirty="0"/>
          </a:p>
        </p:txBody>
      </p:sp>
      <p:sp>
        <p:nvSpPr>
          <p:cNvPr id="11" name="Shape 8"/>
          <p:cNvSpPr/>
          <p:nvPr/>
        </p:nvSpPr>
        <p:spPr>
          <a:xfrm>
            <a:off x="3401568" y="1243584"/>
            <a:ext cx="2286000" cy="914400"/>
          </a:xfrm>
          <a:prstGeom prst="roundRect">
            <a:avLst>
              <a:gd name="adj" fmla="val 6000"/>
            </a:avLst>
          </a:prstGeom>
          <a:solidFill>
            <a:srgbClr val="FFFFFF"/>
          </a:solidFill>
          <a:ln w="9525">
            <a:solidFill>
              <a:srgbClr val="D1E3E8"/>
            </a:solidFill>
            <a:prstDash val="solid"/>
          </a:ln>
          <a:effectLst>
            <a:outerShdw sx="100000" sy="100000" kx="0" ky="0" algn="bl" rotWithShape="0" blurRad="1.9213593650873497e+197" dist="9.606796825436748e+196" dir="2.020703193661911e+231">
              <a:srgbClr val="0B2B3C">
                <a:alpha val="9.999999999999996e+238"/>
              </a:srgbClr>
            </a:outerShdw>
          </a:effectLst>
        </p:spPr>
      </p:sp>
      <p:sp>
        <p:nvSpPr>
          <p:cNvPr id="12" name="Text 9"/>
          <p:cNvSpPr/>
          <p:nvPr/>
        </p:nvSpPr>
        <p:spPr>
          <a:xfrm>
            <a:off x="3584448" y="1371600"/>
            <a:ext cx="1920240" cy="384048"/>
          </a:xfrm>
          <a:prstGeom prst="rect">
            <a:avLst/>
          </a:prstGeom>
          <a:noFill/>
          <a:ln/>
        </p:spPr>
        <p:txBody>
          <a:bodyPr wrap="square" lIns="0" tIns="0" rIns="0" bIns="0" rtlCol="0" anchor="ctr"/>
          <a:lstStyle/>
          <a:p>
            <a:pPr indent="0" marL="0">
              <a:buNone/>
            </a:pPr>
            <a:r>
              <a:rPr lang="en-US" sz="1800" dirty="0">
                <a:solidFill>
                  <a:srgbClr val="065A82"/>
                </a:solidFill>
                <a:latin typeface="Segoe UI Semibold" pitchFamily="34" charset="0"/>
                <a:ea typeface="Segoe UI Semibold" pitchFamily="34" charset="-122"/>
                <a:cs typeface="Segoe UI Semibold" pitchFamily="34" charset="-120"/>
              </a:rPr>
              <a:t>835 px</a:t>
            </a:r>
            <a:endParaRPr lang="en-US" sz="1800" dirty="0"/>
          </a:p>
        </p:txBody>
      </p:sp>
      <p:sp>
        <p:nvSpPr>
          <p:cNvPr id="13" name="Text 10"/>
          <p:cNvSpPr/>
          <p:nvPr/>
        </p:nvSpPr>
        <p:spPr>
          <a:xfrm>
            <a:off x="3584448" y="1773936"/>
            <a:ext cx="1920240" cy="292608"/>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Diện tích khối u</a:t>
            </a:r>
            <a:endParaRPr lang="en-US" sz="900" dirty="0"/>
          </a:p>
        </p:txBody>
      </p:sp>
      <p:sp>
        <p:nvSpPr>
          <p:cNvPr id="14" name="Shape 11"/>
          <p:cNvSpPr/>
          <p:nvPr/>
        </p:nvSpPr>
        <p:spPr>
          <a:xfrm>
            <a:off x="5833872" y="1243584"/>
            <a:ext cx="2286000" cy="914400"/>
          </a:xfrm>
          <a:prstGeom prst="roundRect">
            <a:avLst>
              <a:gd name="adj" fmla="val 6000"/>
            </a:avLst>
          </a:prstGeom>
          <a:solidFill>
            <a:srgbClr val="FFFFFF"/>
          </a:solidFill>
          <a:ln w="9525">
            <a:solidFill>
              <a:srgbClr val="D1E3E8"/>
            </a:solidFill>
            <a:prstDash val="solid"/>
          </a:ln>
          <a:effectLst>
            <a:outerShdw sx="100000" sy="100000" kx="0" ky="0" algn="bl" rotWithShape="0" blurRad="2.440126393660934e+201" dist="1.220063196830467e+201" dir="1.2124219161971466e+236">
              <a:srgbClr val="0B2B3C">
                <a:alpha val="9.999999999999996e+243"/>
              </a:srgbClr>
            </a:outerShdw>
          </a:effectLst>
        </p:spPr>
      </p:sp>
      <p:sp>
        <p:nvSpPr>
          <p:cNvPr id="15" name="Text 12"/>
          <p:cNvSpPr/>
          <p:nvPr/>
        </p:nvSpPr>
        <p:spPr>
          <a:xfrm>
            <a:off x="6016752" y="1371600"/>
            <a:ext cx="1920240" cy="384048"/>
          </a:xfrm>
          <a:prstGeom prst="rect">
            <a:avLst/>
          </a:prstGeom>
          <a:noFill/>
          <a:ln/>
        </p:spPr>
        <p:txBody>
          <a:bodyPr wrap="square" lIns="0" tIns="0" rIns="0" bIns="0" rtlCol="0" anchor="ctr"/>
          <a:lstStyle/>
          <a:p>
            <a:pPr indent="0" marL="0">
              <a:buNone/>
            </a:pPr>
            <a:r>
              <a:rPr lang="en-US" sz="1800" dirty="0">
                <a:solidFill>
                  <a:srgbClr val="065A82"/>
                </a:solidFill>
                <a:latin typeface="Segoe UI Semibold" pitchFamily="34" charset="0"/>
                <a:ea typeface="Segoe UI Semibold" pitchFamily="34" charset="-122"/>
                <a:cs typeface="Segoe UI Semibold" pitchFamily="34" charset="-120"/>
              </a:rPr>
              <a:t>8,25%</a:t>
            </a:r>
            <a:endParaRPr lang="en-US" sz="1800" dirty="0"/>
          </a:p>
        </p:txBody>
      </p:sp>
      <p:sp>
        <p:nvSpPr>
          <p:cNvPr id="16" name="Text 13"/>
          <p:cNvSpPr/>
          <p:nvPr/>
        </p:nvSpPr>
        <p:spPr>
          <a:xfrm>
            <a:off x="6016752" y="1773936"/>
            <a:ext cx="1920240" cy="292608"/>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Tỷ lệ u / diện tích não</a:t>
            </a:r>
            <a:endParaRPr lang="en-US" sz="900" dirty="0"/>
          </a:p>
        </p:txBody>
      </p:sp>
      <p:sp>
        <p:nvSpPr>
          <p:cNvPr id="17" name="Shape 14"/>
          <p:cNvSpPr/>
          <p:nvPr/>
        </p:nvSpPr>
        <p:spPr>
          <a:xfrm>
            <a:off x="3401568" y="2304288"/>
            <a:ext cx="2286000" cy="914400"/>
          </a:xfrm>
          <a:prstGeom prst="roundRect">
            <a:avLst>
              <a:gd name="adj" fmla="val 6000"/>
            </a:avLst>
          </a:prstGeom>
          <a:solidFill>
            <a:srgbClr val="FFFFFF"/>
          </a:solidFill>
          <a:ln w="9525">
            <a:solidFill>
              <a:srgbClr val="D1E3E8"/>
            </a:solidFill>
            <a:prstDash val="solid"/>
          </a:ln>
          <a:effectLst>
            <a:outerShdw sx="100000" sy="100000" kx="0" ky="0" algn="bl" rotWithShape="0" blurRad="3.0989605199493864e+205" dist="1.5494802599746932e+205" dir="7.27453149718288e+240">
              <a:srgbClr val="0B2B3C">
                <a:alpha val="9.999999999999995e+248"/>
              </a:srgbClr>
            </a:outerShdw>
          </a:effectLst>
        </p:spPr>
      </p:sp>
      <p:sp>
        <p:nvSpPr>
          <p:cNvPr id="18" name="Text 15"/>
          <p:cNvSpPr/>
          <p:nvPr/>
        </p:nvSpPr>
        <p:spPr>
          <a:xfrm>
            <a:off x="3584448" y="2432304"/>
            <a:ext cx="1920240" cy="384048"/>
          </a:xfrm>
          <a:prstGeom prst="rect">
            <a:avLst/>
          </a:prstGeom>
          <a:noFill/>
          <a:ln/>
        </p:spPr>
        <p:txBody>
          <a:bodyPr wrap="square" lIns="0" tIns="0" rIns="0" bIns="0" rtlCol="0" anchor="ctr"/>
          <a:lstStyle/>
          <a:p>
            <a:pPr indent="0" marL="0">
              <a:buNone/>
            </a:pPr>
            <a:r>
              <a:rPr lang="en-US" sz="1800" dirty="0">
                <a:solidFill>
                  <a:srgbClr val="065A82"/>
                </a:solidFill>
                <a:latin typeface="Segoe UI Semibold" pitchFamily="34" charset="0"/>
                <a:ea typeface="Segoe UI Semibold" pitchFamily="34" charset="-122"/>
                <a:cs typeface="Segoe UI Semibold" pitchFamily="34" charset="-120"/>
              </a:rPr>
              <a:t>0,689</a:t>
            </a:r>
            <a:endParaRPr lang="en-US" sz="1800" dirty="0"/>
          </a:p>
        </p:txBody>
      </p:sp>
      <p:sp>
        <p:nvSpPr>
          <p:cNvPr id="19" name="Text 16"/>
          <p:cNvSpPr/>
          <p:nvPr/>
        </p:nvSpPr>
        <p:spPr>
          <a:xfrm>
            <a:off x="3584448" y="2834640"/>
            <a:ext cx="1920240" cy="292608"/>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Độ tròn Circularity</a:t>
            </a:r>
            <a:endParaRPr lang="en-US" sz="900" dirty="0"/>
          </a:p>
        </p:txBody>
      </p:sp>
      <p:sp>
        <p:nvSpPr>
          <p:cNvPr id="20" name="Shape 17"/>
          <p:cNvSpPr/>
          <p:nvPr/>
        </p:nvSpPr>
        <p:spPr>
          <a:xfrm>
            <a:off x="5833872" y="2304288"/>
            <a:ext cx="2286000" cy="914400"/>
          </a:xfrm>
          <a:prstGeom prst="roundRect">
            <a:avLst>
              <a:gd name="adj" fmla="val 6000"/>
            </a:avLst>
          </a:prstGeom>
          <a:solidFill>
            <a:srgbClr val="FFFFFF"/>
          </a:solidFill>
          <a:ln w="9525">
            <a:solidFill>
              <a:srgbClr val="D1E3E8"/>
            </a:solidFill>
            <a:prstDash val="solid"/>
          </a:ln>
          <a:effectLst>
            <a:outerShdw sx="100000" sy="100000" kx="0" ky="0" algn="bl" rotWithShape="0" blurRad="3.9356798603357206e+209" dist="1.9678399301678603e+209" dir="4.364718898309728e+245">
              <a:srgbClr val="0B2B3C">
                <a:alpha val="9.999999999999995e+253"/>
              </a:srgbClr>
            </a:outerShdw>
          </a:effectLst>
        </p:spPr>
      </p:sp>
      <p:sp>
        <p:nvSpPr>
          <p:cNvPr id="21" name="Text 18"/>
          <p:cNvSpPr/>
          <p:nvPr/>
        </p:nvSpPr>
        <p:spPr>
          <a:xfrm>
            <a:off x="6016752" y="2432304"/>
            <a:ext cx="1920240" cy="384048"/>
          </a:xfrm>
          <a:prstGeom prst="rect">
            <a:avLst/>
          </a:prstGeom>
          <a:noFill/>
          <a:ln/>
        </p:spPr>
        <p:txBody>
          <a:bodyPr wrap="square" lIns="0" tIns="0" rIns="0" bIns="0" rtlCol="0" anchor="ctr"/>
          <a:lstStyle/>
          <a:p>
            <a:pPr indent="0" marL="0">
              <a:buNone/>
            </a:pPr>
            <a:r>
              <a:rPr lang="en-US" sz="1800" dirty="0">
                <a:solidFill>
                  <a:srgbClr val="065A82"/>
                </a:solidFill>
                <a:latin typeface="Segoe UI Semibold" pitchFamily="34" charset="0"/>
                <a:ea typeface="Segoe UI Semibold" pitchFamily="34" charset="-122"/>
                <a:cs typeface="Segoe UI Semibold" pitchFamily="34" charset="-120"/>
              </a:rPr>
              <a:t>5,1 ms</a:t>
            </a:r>
            <a:endParaRPr lang="en-US" sz="1800" dirty="0"/>
          </a:p>
        </p:txBody>
      </p:sp>
      <p:sp>
        <p:nvSpPr>
          <p:cNvPr id="22" name="Text 19"/>
          <p:cNvSpPr/>
          <p:nvPr/>
        </p:nvSpPr>
        <p:spPr>
          <a:xfrm>
            <a:off x="6016752" y="2834640"/>
            <a:ext cx="1920240" cy="292608"/>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Thời gian xử lý</a:t>
            </a:r>
            <a:endParaRPr lang="en-US" sz="900" dirty="0"/>
          </a:p>
        </p:txBody>
      </p:sp>
      <p:sp>
        <p:nvSpPr>
          <p:cNvPr id="23" name="Shape 20"/>
          <p:cNvSpPr/>
          <p:nvPr/>
        </p:nvSpPr>
        <p:spPr>
          <a:xfrm>
            <a:off x="3401568" y="3383280"/>
            <a:ext cx="4718304" cy="786384"/>
          </a:xfrm>
          <a:prstGeom prst="roundRect">
            <a:avLst>
              <a:gd name="adj" fmla="val 6977"/>
            </a:avLst>
          </a:prstGeom>
          <a:solidFill>
            <a:srgbClr val="FFFFFF"/>
          </a:solidFill>
          <a:ln w="9525">
            <a:solidFill>
              <a:srgbClr val="D1E3E8"/>
            </a:solidFill>
            <a:prstDash val="solid"/>
          </a:ln>
          <a:effectLst>
            <a:outerShdw sx="100000" sy="100000" kx="0" ky="0" algn="bl" rotWithShape="0" blurRad="4.9983134226263654e+213" dist="2.4991567113131827e+213" dir="2.6188313389858368e+250">
              <a:srgbClr val="0B2B3C">
                <a:alpha val="9.999999999999996e+258"/>
              </a:srgbClr>
            </a:outerShdw>
          </a:effectLst>
        </p:spPr>
      </p:sp>
      <p:sp>
        <p:nvSpPr>
          <p:cNvPr id="24" name="Text 21"/>
          <p:cNvSpPr/>
          <p:nvPr/>
        </p:nvSpPr>
        <p:spPr>
          <a:xfrm>
            <a:off x="3584448" y="3474720"/>
            <a:ext cx="4389120" cy="201168"/>
          </a:xfrm>
          <a:prstGeom prst="rect">
            <a:avLst/>
          </a:prstGeom>
          <a:noFill/>
          <a:ln/>
        </p:spPr>
        <p:txBody>
          <a:bodyPr wrap="square" lIns="0" tIns="0" rIns="0" bIns="0" rtlCol="0" anchor="ctr"/>
          <a:lstStyle/>
          <a:p>
            <a:pPr indent="0" marL="0">
              <a:buNone/>
            </a:pPr>
            <a:r>
              <a:rPr lang="en-US" sz="900" dirty="0">
                <a:solidFill>
                  <a:srgbClr val="21295C"/>
                </a:solidFill>
                <a:latin typeface="Segoe UI Semibold" pitchFamily="34" charset="0"/>
                <a:ea typeface="Segoe UI Semibold" pitchFamily="34" charset="-122"/>
                <a:cs typeface="Segoe UI Semibold" pitchFamily="34" charset="-120"/>
              </a:rPr>
              <a:t>Chất lượng phân đoạn so với Ground Truth</a:t>
            </a:r>
            <a:endParaRPr lang="en-US" sz="900" dirty="0"/>
          </a:p>
        </p:txBody>
      </p:sp>
      <p:sp>
        <p:nvSpPr>
          <p:cNvPr id="25" name="Text 22"/>
          <p:cNvSpPr/>
          <p:nvPr/>
        </p:nvSpPr>
        <p:spPr>
          <a:xfrm>
            <a:off x="3584448" y="3712464"/>
            <a:ext cx="4389120" cy="310896"/>
          </a:xfrm>
          <a:prstGeom prst="rect">
            <a:avLst/>
          </a:prstGeom>
          <a:noFill/>
          <a:ln/>
        </p:spPr>
        <p:txBody>
          <a:bodyPr wrap="square" lIns="0" tIns="0" rIns="0" bIns="0" rtlCol="0" anchor="ctr"/>
          <a:lstStyle/>
          <a:p>
            <a:pPr indent="0" marL="0">
              <a:buNone/>
            </a:pPr>
            <a:r>
              <a:rPr lang="en-US" sz="1100" dirty="0">
                <a:solidFill>
                  <a:srgbClr val="065A82"/>
                </a:solidFill>
                <a:latin typeface="Segoe UI" pitchFamily="34" charset="0"/>
                <a:ea typeface="Segoe UI" pitchFamily="34" charset="-122"/>
                <a:cs typeface="Segoe UI" pitchFamily="34" charset="-120"/>
              </a:rPr>
              <a:t>Dice = </a:t>
            </a:r>
            <a:pPr indent="0" marL="0">
              <a:buNone/>
            </a:pPr>
            <a:r>
              <a:rPr lang="en-US" sz="1300" b="1" dirty="0">
                <a:solidFill>
                  <a:srgbClr val="065A82"/>
                </a:solidFill>
                <a:latin typeface="Segoe UI" pitchFamily="34" charset="0"/>
                <a:ea typeface="Segoe UI" pitchFamily="34" charset="-122"/>
                <a:cs typeface="Segoe UI" pitchFamily="34" charset="-120"/>
              </a:rPr>
              <a:t>0,9195</a:t>
            </a:r>
            <a:pPr indent="0" marL="0">
              <a:buNone/>
            </a:pPr>
            <a:r>
              <a:rPr lang="en-US" sz="1100" dirty="0">
                <a:solidFill>
                  <a:srgbClr val="065A82"/>
                </a:solidFill>
                <a:latin typeface="Segoe UI" pitchFamily="34" charset="0"/>
                <a:ea typeface="Segoe UI" pitchFamily="34" charset="-122"/>
                <a:cs typeface="Segoe UI" pitchFamily="34" charset="-120"/>
              </a:rPr>
              <a:t>    ·    IoU = </a:t>
            </a:r>
            <a:pPr indent="0" marL="0">
              <a:buNone/>
            </a:pPr>
            <a:r>
              <a:rPr lang="en-US" sz="1300" b="1" dirty="0">
                <a:solidFill>
                  <a:srgbClr val="065A82"/>
                </a:solidFill>
                <a:latin typeface="Segoe UI" pitchFamily="34" charset="0"/>
                <a:ea typeface="Segoe UI" pitchFamily="34" charset="-122"/>
                <a:cs typeface="Segoe UI" pitchFamily="34" charset="-120"/>
              </a:rPr>
              <a:t>0,8510</a:t>
            </a:r>
            <a:endParaRPr lang="en-US" sz="1100" dirty="0"/>
          </a:p>
        </p:txBody>
      </p:sp>
      <p:sp>
        <p:nvSpPr>
          <p:cNvPr id="26" name="Shape 23"/>
          <p:cNvSpPr/>
          <p:nvPr/>
        </p:nvSpPr>
        <p:spPr>
          <a:xfrm>
            <a:off x="3401568" y="4242816"/>
            <a:ext cx="4718304" cy="420624"/>
          </a:xfrm>
          <a:prstGeom prst="roundRect">
            <a:avLst>
              <a:gd name="adj" fmla="val 13043"/>
            </a:avLst>
          </a:prstGeom>
          <a:solidFill>
            <a:srgbClr val="E3F1F4"/>
          </a:solidFill>
          <a:ln w="9525">
            <a:solidFill>
              <a:srgbClr val="D1E3E8"/>
            </a:solidFill>
            <a:prstDash val="solid"/>
          </a:ln>
        </p:spPr>
      </p:sp>
      <p:sp>
        <p:nvSpPr>
          <p:cNvPr id="27" name="Text 24"/>
          <p:cNvSpPr/>
          <p:nvPr/>
        </p:nvSpPr>
        <p:spPr>
          <a:xfrm>
            <a:off x="3584448" y="4242816"/>
            <a:ext cx="4352544" cy="420624"/>
          </a:xfrm>
          <a:prstGeom prst="rect">
            <a:avLst/>
          </a:prstGeom>
          <a:noFill/>
          <a:ln/>
        </p:spPr>
        <p:txBody>
          <a:bodyPr wrap="square" lIns="0" tIns="0" rIns="0" bIns="0" rtlCol="0" anchor="ctr"/>
          <a:lstStyle/>
          <a:p>
            <a:pPr indent="0" marL="0">
              <a:buNone/>
            </a:pPr>
            <a:r>
              <a:rPr lang="en-US" sz="850" dirty="0">
                <a:solidFill>
                  <a:srgbClr val="065A82"/>
                </a:solidFill>
                <a:latin typeface="Segoe UI" pitchFamily="34" charset="0"/>
                <a:ea typeface="Segoe UI" pitchFamily="34" charset="-122"/>
                <a:cs typeface="Segoe UI" pitchFamily="34" charset="-120"/>
              </a:rPr>
              <a:t>Bốn khung: ảnh gốc → não tách sọ → mặt nạ u → bounding box và tâm khối u.</a:t>
            </a:r>
            <a:endParaRPr lang="en-US" sz="850" dirty="0"/>
          </a:p>
        </p:txBody>
      </p:sp>
    </p:spTree>
  </p:cSld>
  <p:clrMapOvr>
    <a:masterClrMapping/>
  </p:clrMapOvr>
  <p:transition spd="med">
    <p:randomBar dir="horz"/>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1"/>
                                        </p:tgtEl>
                                        <p:attrNameLst>
                                          <p:attrName>style.visibility</p:attrName>
                                        </p:attrNameLst>
                                      </p:cBhvr>
                                      <p:to>
                                        <p:strVal val="visible"/>
                                      </p:to>
                                    </p:set>
                                    <p:animEffect transition="in" filter="fade">
                                      <p:cBhvr>
                                        <p:cTn id="109" dur="400"/>
                                        <p:tgtEl>
                                          <p:spTgt spid="1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2"/>
                                        </p:tgtEl>
                                        <p:attrNameLst>
                                          <p:attrName>style.visibility</p:attrName>
                                        </p:attrNameLst>
                                      </p:cBhvr>
                                      <p:to>
                                        <p:strVal val="visible"/>
                                      </p:to>
                                    </p:set>
                                    <p:animEffect transition="in" filter="fade">
                                      <p:cBhvr>
                                        <p:cTn id="112" dur="400"/>
                                        <p:tgtEl>
                                          <p:spTgt spid="1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4"/>
                                        </p:tgtEl>
                                        <p:attrNameLst>
                                          <p:attrName>style.visibility</p:attrName>
                                        </p:attrNameLst>
                                      </p:cBhvr>
                                      <p:to>
                                        <p:strVal val="visible"/>
                                      </p:to>
                                    </p:set>
                                    <p:animEffect transition="in" filter="fade">
                                      <p:cBhvr>
                                        <p:cTn id="115" dur="400"/>
                                        <p:tgtEl>
                                          <p:spTgt spid="14"/>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5"/>
                                        </p:tgtEl>
                                        <p:attrNameLst>
                                          <p:attrName>style.visibility</p:attrName>
                                        </p:attrNameLst>
                                      </p:cBhvr>
                                      <p:to>
                                        <p:strVal val="visible"/>
                                      </p:to>
                                    </p:set>
                                    <p:animEffect transition="in" filter="fade">
                                      <p:cBhvr>
                                        <p:cTn id="118" dur="400"/>
                                        <p:tgtEl>
                                          <p:spTgt spid="15"/>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3"/>
                                        </p:tgtEl>
                                        <p:attrNameLst>
                                          <p:attrName>style.visibility</p:attrName>
                                        </p:attrNameLst>
                                      </p:cBhvr>
                                      <p:to>
                                        <p:strVal val="visible"/>
                                      </p:to>
                                    </p:set>
                                    <p:animEffect transition="in" filter="fade">
                                      <p:cBhvr>
                                        <p:cTn id="121" dur="400"/>
                                        <p:tgtEl>
                                          <p:spTgt spid="13"/>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16"/>
                                        </p:tgtEl>
                                        <p:attrNameLst>
                                          <p:attrName>style.visibility</p:attrName>
                                        </p:attrNameLst>
                                      </p:cBhvr>
                                      <p:to>
                                        <p:strVal val="visible"/>
                                      </p:to>
                                    </p:set>
                                    <p:animEffect transition="in" filter="fade">
                                      <p:cBhvr>
                                        <p:cTn id="124" dur="400"/>
                                        <p:tgtEl>
                                          <p:spTgt spid="16"/>
                                        </p:tgtEl>
                                      </p:cBhvr>
                                    </p:animEffect>
                                  </p:childTnLst>
                                </p:cTn>
                              </p:par>
                              <p:par>
                                <p:cTn id="125" presetID="10" presetClass="entr" presetSubtype="0" fill="hold" grpId="0" nodeType="withEffect">
                                  <p:stCondLst>
                                    <p:cond delay="560"/>
                                  </p:stCondLst>
                                  <p:childTnLst>
                                    <p:set>
                                      <p:cBhvr>
                                        <p:cTn id="126" dur="1" fill="hold">
                                          <p:stCondLst>
                                            <p:cond delay="0"/>
                                          </p:stCondLst>
                                        </p:cTn>
                                        <p:tgtEl>
                                          <p:spTgt spid="17"/>
                                        </p:tgtEl>
                                        <p:attrNameLst>
                                          <p:attrName>style.visibility</p:attrName>
                                        </p:attrNameLst>
                                      </p:cBhvr>
                                      <p:to>
                                        <p:strVal val="visible"/>
                                      </p:to>
                                    </p:set>
                                    <p:animEffect transition="in" filter="fade">
                                      <p:cBhvr>
                                        <p:cTn id="127" dur="400"/>
                                        <p:tgtEl>
                                          <p:spTgt spid="17"/>
                                        </p:tgtEl>
                                      </p:cBhvr>
                                    </p:animEffect>
                                  </p:childTnLst>
                                </p:cTn>
                              </p:par>
                              <p:par>
                                <p:cTn id="128" presetID="10" presetClass="entr" presetSubtype="0" fill="hold" grpId="0" nodeType="withEffect">
                                  <p:stCondLst>
                                    <p:cond delay="560"/>
                                  </p:stCondLst>
                                  <p:childTnLst>
                                    <p:set>
                                      <p:cBhvr>
                                        <p:cTn id="129" dur="1" fill="hold">
                                          <p:stCondLst>
                                            <p:cond delay="0"/>
                                          </p:stCondLst>
                                        </p:cTn>
                                        <p:tgtEl>
                                          <p:spTgt spid="18"/>
                                        </p:tgtEl>
                                        <p:attrNameLst>
                                          <p:attrName>style.visibility</p:attrName>
                                        </p:attrNameLst>
                                      </p:cBhvr>
                                      <p:to>
                                        <p:strVal val="visible"/>
                                      </p:to>
                                    </p:set>
                                    <p:animEffect transition="in" filter="fade">
                                      <p:cBhvr>
                                        <p:cTn id="130" dur="400"/>
                                        <p:tgtEl>
                                          <p:spTgt spid="18"/>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20"/>
                                        </p:tgtEl>
                                        <p:attrNameLst>
                                          <p:attrName>style.visibility</p:attrName>
                                        </p:attrNameLst>
                                      </p:cBhvr>
                                      <p:to>
                                        <p:strVal val="visible"/>
                                      </p:to>
                                    </p:set>
                                    <p:animEffect transition="in" filter="fade">
                                      <p:cBhvr>
                                        <p:cTn id="133" dur="400"/>
                                        <p:tgtEl>
                                          <p:spTgt spid="20"/>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21"/>
                                        </p:tgtEl>
                                        <p:attrNameLst>
                                          <p:attrName>style.visibility</p:attrName>
                                        </p:attrNameLst>
                                      </p:cBhvr>
                                      <p:to>
                                        <p:strVal val="visible"/>
                                      </p:to>
                                    </p:set>
                                    <p:animEffect transition="in" filter="fade">
                                      <p:cBhvr>
                                        <p:cTn id="136" dur="400"/>
                                        <p:tgtEl>
                                          <p:spTgt spid="21"/>
                                        </p:tgtEl>
                                      </p:cBhvr>
                                    </p:animEffect>
                                  </p:childTnLst>
                                </p:cTn>
                              </p:par>
                              <p:par>
                                <p:cTn id="137" presetID="10" presetClass="entr" presetSubtype="0" fill="hold" grpId="0" nodeType="withEffect">
                                  <p:stCondLst>
                                    <p:cond delay="840"/>
                                  </p:stCondLst>
                                  <p:childTnLst>
                                    <p:set>
                                      <p:cBhvr>
                                        <p:cTn id="138" dur="1" fill="hold">
                                          <p:stCondLst>
                                            <p:cond delay="0"/>
                                          </p:stCondLst>
                                        </p:cTn>
                                        <p:tgtEl>
                                          <p:spTgt spid="19"/>
                                        </p:tgtEl>
                                        <p:attrNameLst>
                                          <p:attrName>style.visibility</p:attrName>
                                        </p:attrNameLst>
                                      </p:cBhvr>
                                      <p:to>
                                        <p:strVal val="visible"/>
                                      </p:to>
                                    </p:set>
                                    <p:animEffect transition="in" filter="fade">
                                      <p:cBhvr>
                                        <p:cTn id="139" dur="400"/>
                                        <p:tgtEl>
                                          <p:spTgt spid="19"/>
                                        </p:tgtEl>
                                      </p:cBhvr>
                                    </p:animEffect>
                                  </p:childTnLst>
                                </p:cTn>
                              </p:par>
                              <p:par>
                                <p:cTn id="140" presetID="10" presetClass="entr" presetSubtype="0" fill="hold" grpId="0" nodeType="withEffect">
                                  <p:stCondLst>
                                    <p:cond delay="840"/>
                                  </p:stCondLst>
                                  <p:childTnLst>
                                    <p:set>
                                      <p:cBhvr>
                                        <p:cTn id="141" dur="1" fill="hold">
                                          <p:stCondLst>
                                            <p:cond delay="0"/>
                                          </p:stCondLst>
                                        </p:cTn>
                                        <p:tgtEl>
                                          <p:spTgt spid="22"/>
                                        </p:tgtEl>
                                        <p:attrNameLst>
                                          <p:attrName>style.visibility</p:attrName>
                                        </p:attrNameLst>
                                      </p:cBhvr>
                                      <p:to>
                                        <p:strVal val="visible"/>
                                      </p:to>
                                    </p:set>
                                    <p:animEffect transition="in" filter="fade">
                                      <p:cBhvr>
                                        <p:cTn id="142" dur="400"/>
                                        <p:tgtEl>
                                          <p:spTgt spid="22"/>
                                        </p:tgtEl>
                                      </p:cBhvr>
                                    </p:animEffect>
                                  </p:childTnLst>
                                </p:cTn>
                              </p:par>
                              <p:par>
                                <p:cTn id="143" presetID="10" presetClass="entr" presetSubtype="0" fill="hold" grpId="0" nodeType="withEffect">
                                  <p:stCondLst>
                                    <p:cond delay="1120"/>
                                  </p:stCondLst>
                                  <p:childTnLst>
                                    <p:set>
                                      <p:cBhvr>
                                        <p:cTn id="144" dur="1" fill="hold">
                                          <p:stCondLst>
                                            <p:cond delay="0"/>
                                          </p:stCondLst>
                                        </p:cTn>
                                        <p:tgtEl>
                                          <p:spTgt spid="23"/>
                                        </p:tgtEl>
                                        <p:attrNameLst>
                                          <p:attrName>style.visibility</p:attrName>
                                        </p:attrNameLst>
                                      </p:cBhvr>
                                      <p:to>
                                        <p:strVal val="visible"/>
                                      </p:to>
                                    </p:set>
                                    <p:animEffect transition="in" filter="fade">
                                      <p:cBhvr>
                                        <p:cTn id="145" dur="400"/>
                                        <p:tgtEl>
                                          <p:spTgt spid="23"/>
                                        </p:tgtEl>
                                      </p:cBhvr>
                                    </p:animEffect>
                                  </p:childTnLst>
                                </p:cTn>
                              </p:par>
                              <p:par>
                                <p:cTn id="146" presetID="10" presetClass="entr" presetSubtype="0" fill="hold" grpId="0" nodeType="withEffect">
                                  <p:stCondLst>
                                    <p:cond delay="1400"/>
                                  </p:stCondLst>
                                  <p:childTnLst>
                                    <p:set>
                                      <p:cBhvr>
                                        <p:cTn id="147" dur="1" fill="hold">
                                          <p:stCondLst>
                                            <p:cond delay="0"/>
                                          </p:stCondLst>
                                        </p:cTn>
                                        <p:tgtEl>
                                          <p:spTgt spid="24"/>
                                        </p:tgtEl>
                                        <p:attrNameLst>
                                          <p:attrName>style.visibility</p:attrName>
                                        </p:attrNameLst>
                                      </p:cBhvr>
                                      <p:to>
                                        <p:strVal val="visible"/>
                                      </p:to>
                                    </p:set>
                                    <p:animEffect transition="in" filter="fade">
                                      <p:cBhvr>
                                        <p:cTn id="148" dur="400"/>
                                        <p:tgtEl>
                                          <p:spTgt spid="24"/>
                                        </p:tgtEl>
                                      </p:cBhvr>
                                    </p:animEffect>
                                  </p:childTnLst>
                                </p:cTn>
                              </p:par>
                              <p:par>
                                <p:cTn id="149" presetID="10" presetClass="entr" presetSubtype="0" fill="hold" grpId="0" nodeType="withEffect">
                                  <p:stCondLst>
                                    <p:cond delay="1400"/>
                                  </p:stCondLst>
                                  <p:childTnLst>
                                    <p:set>
                                      <p:cBhvr>
                                        <p:cTn id="150" dur="1" fill="hold">
                                          <p:stCondLst>
                                            <p:cond delay="0"/>
                                          </p:stCondLst>
                                        </p:cTn>
                                        <p:tgtEl>
                                          <p:spTgt spid="25"/>
                                        </p:tgtEl>
                                        <p:attrNameLst>
                                          <p:attrName>style.visibility</p:attrName>
                                        </p:attrNameLst>
                                      </p:cBhvr>
                                      <p:to>
                                        <p:strVal val="visible"/>
                                      </p:to>
                                    </p:set>
                                    <p:animEffect transition="in" filter="fade">
                                      <p:cBhvr>
                                        <p:cTn id="15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16  ·  KẾT LUẬN</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Tổng kết thành tựu sprint 7 ngày</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17 / 20</a:t>
            </a:r>
            <a:endParaRPr lang="en-US" sz="800" dirty="0"/>
          </a:p>
        </p:txBody>
      </p:sp>
      <p:sp>
        <p:nvSpPr>
          <p:cNvPr id="6" name="Shape 4"/>
          <p:cNvSpPr/>
          <p:nvPr/>
        </p:nvSpPr>
        <p:spPr>
          <a:xfrm>
            <a:off x="502920" y="1243584"/>
            <a:ext cx="2615184" cy="914400"/>
          </a:xfrm>
          <a:prstGeom prst="roundRect">
            <a:avLst>
              <a:gd name="adj" fmla="val 6000"/>
            </a:avLst>
          </a:prstGeom>
          <a:solidFill>
            <a:srgbClr val="FFFFFF"/>
          </a:solidFill>
          <a:ln w="9525">
            <a:solidFill>
              <a:srgbClr val="D1E3E8"/>
            </a:solidFill>
            <a:prstDash val="solid"/>
          </a:ln>
          <a:effectLst>
            <a:outerShdw sx="100000" sy="100000" kx="0" ky="0" algn="bl" rotWithShape="0" blurRad="6.347858046735484e+217" dist="3.173929023367742e+217" dir="1.571298803391502e+255">
              <a:srgbClr val="0B2B3C">
                <a:alpha val="9.999999999999996e+263"/>
              </a:srgbClr>
            </a:outerShdw>
          </a:effectLst>
        </p:spPr>
      </p:sp>
      <p:sp>
        <p:nvSpPr>
          <p:cNvPr id="7" name="Text 5"/>
          <p:cNvSpPr/>
          <p:nvPr/>
        </p:nvSpPr>
        <p:spPr>
          <a:xfrm>
            <a:off x="685800" y="1371600"/>
            <a:ext cx="2249424" cy="384048"/>
          </a:xfrm>
          <a:prstGeom prst="rect">
            <a:avLst/>
          </a:prstGeom>
          <a:noFill/>
          <a:ln/>
        </p:spPr>
        <p:txBody>
          <a:bodyPr wrap="square" lIns="0" tIns="0" rIns="0" bIns="0" rtlCol="0" anchor="ctr"/>
          <a:lstStyle/>
          <a:p>
            <a:pPr indent="0" marL="0">
              <a:buNone/>
            </a:pPr>
            <a:r>
              <a:rPr lang="en-US" sz="2400" dirty="0">
                <a:solidFill>
                  <a:srgbClr val="065A82"/>
                </a:solidFill>
                <a:latin typeface="Segoe UI Semibold" pitchFamily="34" charset="0"/>
                <a:ea typeface="Segoe UI Semibold" pitchFamily="34" charset="-122"/>
                <a:cs typeface="Segoe UI Semibold" pitchFamily="34" charset="-120"/>
              </a:rPr>
              <a:t>0,4446</a:t>
            </a:r>
            <a:endParaRPr lang="en-US" sz="2400" dirty="0"/>
          </a:p>
        </p:txBody>
      </p:sp>
      <p:sp>
        <p:nvSpPr>
          <p:cNvPr id="8" name="Text 6"/>
          <p:cNvSpPr/>
          <p:nvPr/>
        </p:nvSpPr>
        <p:spPr>
          <a:xfrm>
            <a:off x="685800" y="1773936"/>
            <a:ext cx="2249424" cy="292608"/>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Dice trung bình — gấp 2,23× đối chứng</a:t>
            </a:r>
            <a:endParaRPr lang="en-US" sz="900" dirty="0"/>
          </a:p>
        </p:txBody>
      </p:sp>
      <p:sp>
        <p:nvSpPr>
          <p:cNvPr id="9" name="Shape 7"/>
          <p:cNvSpPr/>
          <p:nvPr/>
        </p:nvSpPr>
        <p:spPr>
          <a:xfrm>
            <a:off x="3300984" y="1243584"/>
            <a:ext cx="2615184" cy="914400"/>
          </a:xfrm>
          <a:prstGeom prst="roundRect">
            <a:avLst>
              <a:gd name="adj" fmla="val 6000"/>
            </a:avLst>
          </a:prstGeom>
          <a:solidFill>
            <a:srgbClr val="FFFFFF"/>
          </a:solidFill>
          <a:ln w="9525">
            <a:solidFill>
              <a:srgbClr val="D1E3E8"/>
            </a:solidFill>
            <a:prstDash val="solid"/>
          </a:ln>
          <a:effectLst>
            <a:outerShdw sx="100000" sy="100000" kx="0" ky="0" algn="bl" rotWithShape="0" blurRad="8.061779719354066e+221" dist="4.030889859677033e+221" dir="9.427792820349012e+259">
              <a:srgbClr val="0B2B3C">
                <a:alpha val="9.999999999999996e+268"/>
              </a:srgbClr>
            </a:outerShdw>
          </a:effectLst>
        </p:spPr>
      </p:sp>
      <p:sp>
        <p:nvSpPr>
          <p:cNvPr id="10" name="Text 8"/>
          <p:cNvSpPr/>
          <p:nvPr/>
        </p:nvSpPr>
        <p:spPr>
          <a:xfrm>
            <a:off x="3483864" y="1371600"/>
            <a:ext cx="2249424" cy="384048"/>
          </a:xfrm>
          <a:prstGeom prst="rect">
            <a:avLst/>
          </a:prstGeom>
          <a:noFill/>
          <a:ln/>
        </p:spPr>
        <p:txBody>
          <a:bodyPr wrap="square" lIns="0" tIns="0" rIns="0" bIns="0" rtlCol="0" anchor="ctr"/>
          <a:lstStyle/>
          <a:p>
            <a:pPr indent="0" marL="0">
              <a:buNone/>
            </a:pPr>
            <a:r>
              <a:rPr lang="en-US" sz="2400" dirty="0">
                <a:solidFill>
                  <a:srgbClr val="065A82"/>
                </a:solidFill>
                <a:latin typeface="Segoe UI Semibold" pitchFamily="34" charset="0"/>
                <a:ea typeface="Segoe UI Semibold" pitchFamily="34" charset="-122"/>
                <a:cs typeface="Segoe UI Semibold" pitchFamily="34" charset="-120"/>
              </a:rPr>
              <a:t>6,13 ms</a:t>
            </a:r>
            <a:endParaRPr lang="en-US" sz="2400" dirty="0"/>
          </a:p>
        </p:txBody>
      </p:sp>
      <p:sp>
        <p:nvSpPr>
          <p:cNvPr id="11" name="Text 9"/>
          <p:cNvSpPr/>
          <p:nvPr/>
        </p:nvSpPr>
        <p:spPr>
          <a:xfrm>
            <a:off x="3483864" y="1773936"/>
            <a:ext cx="2249424" cy="292608"/>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Độ trễ trung bình mỗi lát cắt</a:t>
            </a:r>
            <a:endParaRPr lang="en-US" sz="900" dirty="0"/>
          </a:p>
        </p:txBody>
      </p:sp>
      <p:sp>
        <p:nvSpPr>
          <p:cNvPr id="12" name="Shape 10"/>
          <p:cNvSpPr/>
          <p:nvPr/>
        </p:nvSpPr>
        <p:spPr>
          <a:xfrm>
            <a:off x="6099048" y="1243584"/>
            <a:ext cx="2615184" cy="914400"/>
          </a:xfrm>
          <a:prstGeom prst="roundRect">
            <a:avLst>
              <a:gd name="adj" fmla="val 6000"/>
            </a:avLst>
          </a:prstGeom>
          <a:solidFill>
            <a:srgbClr val="FFFFFF"/>
          </a:solidFill>
          <a:ln w="9525">
            <a:solidFill>
              <a:srgbClr val="D1E3E8"/>
            </a:solidFill>
            <a:prstDash val="solid"/>
          </a:ln>
          <a:effectLst>
            <a:outerShdw sx="100000" sy="100000" kx="0" ky="0" algn="bl" rotWithShape="0" blurRad="1.0238460243579663e+226" dist="5.1192301217898315e+225" dir="5.656675692209407e+264">
              <a:srgbClr val="0B2B3C">
                <a:alpha val="9.999999999999995e+273"/>
              </a:srgbClr>
            </a:outerShdw>
          </a:effectLst>
        </p:spPr>
      </p:sp>
      <p:sp>
        <p:nvSpPr>
          <p:cNvPr id="13" name="Text 11"/>
          <p:cNvSpPr/>
          <p:nvPr/>
        </p:nvSpPr>
        <p:spPr>
          <a:xfrm>
            <a:off x="6281928" y="1371600"/>
            <a:ext cx="2249424" cy="384048"/>
          </a:xfrm>
          <a:prstGeom prst="rect">
            <a:avLst/>
          </a:prstGeom>
          <a:noFill/>
          <a:ln/>
        </p:spPr>
        <p:txBody>
          <a:bodyPr wrap="square" lIns="0" tIns="0" rIns="0" bIns="0" rtlCol="0" anchor="ctr"/>
          <a:lstStyle/>
          <a:p>
            <a:pPr indent="0" marL="0">
              <a:buNone/>
            </a:pPr>
            <a:r>
              <a:rPr lang="en-US" sz="2400" dirty="0">
                <a:solidFill>
                  <a:srgbClr val="065A82"/>
                </a:solidFill>
                <a:latin typeface="Segoe UI Semibold" pitchFamily="34" charset="0"/>
                <a:ea typeface="Segoe UI Semibold" pitchFamily="34" charset="-122"/>
                <a:cs typeface="Segoe UI Semibold" pitchFamily="34" charset="-120"/>
              </a:rPr>
              <a:t>26 / 26</a:t>
            </a:r>
            <a:endParaRPr lang="en-US" sz="2400" dirty="0"/>
          </a:p>
        </p:txBody>
      </p:sp>
      <p:sp>
        <p:nvSpPr>
          <p:cNvPr id="14" name="Text 12"/>
          <p:cNvSpPr/>
          <p:nvPr/>
        </p:nvSpPr>
        <p:spPr>
          <a:xfrm>
            <a:off x="6281928" y="1773936"/>
            <a:ext cx="2249424" cy="292608"/>
          </a:xfrm>
          <a:prstGeom prst="rect">
            <a:avLst/>
          </a:prstGeom>
          <a:noFill/>
          <a:ln/>
        </p:spPr>
        <p:txBody>
          <a:bodyPr wrap="square" lIns="0" tIns="0" rIns="0" bIns="0" rtlCol="0" anchor="t"/>
          <a:lstStyle/>
          <a:p>
            <a:pPr indent="0" marL="0">
              <a:lnSpc>
                <a:spcPct val="110000"/>
              </a:lnSpc>
              <a:buNone/>
            </a:pPr>
            <a:r>
              <a:rPr lang="en-US" sz="900" dirty="0">
                <a:solidFill>
                  <a:srgbClr val="5F7186"/>
                </a:solidFill>
                <a:latin typeface="Segoe UI" pitchFamily="34" charset="0"/>
                <a:ea typeface="Segoe UI" pitchFamily="34" charset="-122"/>
                <a:cs typeface="Segoe UI" pitchFamily="34" charset="-120"/>
              </a:rPr>
              <a:t>Unit test PASSED (100%)</a:t>
            </a:r>
            <a:endParaRPr lang="en-US" sz="900" dirty="0"/>
          </a:p>
        </p:txBody>
      </p:sp>
      <p:sp>
        <p:nvSpPr>
          <p:cNvPr id="15" name="Shape 13"/>
          <p:cNvSpPr/>
          <p:nvPr/>
        </p:nvSpPr>
        <p:spPr>
          <a:xfrm>
            <a:off x="502920" y="2359152"/>
            <a:ext cx="8138160" cy="1810512"/>
          </a:xfrm>
          <a:prstGeom prst="roundRect">
            <a:avLst>
              <a:gd name="adj" fmla="val 3030"/>
            </a:avLst>
          </a:prstGeom>
          <a:solidFill>
            <a:srgbClr val="FFFFFF"/>
          </a:solidFill>
          <a:ln w="9525">
            <a:solidFill>
              <a:srgbClr val="D1E3E8"/>
            </a:solidFill>
            <a:prstDash val="solid"/>
          </a:ln>
          <a:effectLst>
            <a:outerShdw sx="100000" sy="100000" kx="0" ky="0" algn="bl" rotWithShape="0" blurRad="1.3002844509346172e+230" dist="6.501422254673086e+229" dir="3.3940054153256444e+269">
              <a:srgbClr val="0B2B3C">
                <a:alpha val="9.999999999999996e+278"/>
              </a:srgbClr>
            </a:outerShdw>
          </a:effectLst>
        </p:spPr>
      </p:sp>
      <p:sp>
        <p:nvSpPr>
          <p:cNvPr id="16" name="Text 14"/>
          <p:cNvSpPr/>
          <p:nvPr/>
        </p:nvSpPr>
        <p:spPr>
          <a:xfrm>
            <a:off x="740664" y="2487168"/>
            <a:ext cx="2743200" cy="201168"/>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KẾT QUẢ ĐẠT ĐƯỢC</a:t>
            </a:r>
            <a:endParaRPr lang="en-US" sz="850" dirty="0"/>
          </a:p>
        </p:txBody>
      </p:sp>
      <p:sp>
        <p:nvSpPr>
          <p:cNvPr id="17" name="Text 15"/>
          <p:cNvSpPr/>
          <p:nvPr/>
        </p:nvSpPr>
        <p:spPr>
          <a:xfrm>
            <a:off x="740664" y="2761488"/>
            <a:ext cx="7589520" cy="1463040"/>
          </a:xfrm>
          <a:prstGeom prst="rect">
            <a:avLst/>
          </a:prstGeom>
          <a:noFill/>
          <a:ln/>
        </p:spPr>
        <p:txBody>
          <a:bodyPr wrap="square" lIns="0" tIns="0" rIns="0" bIns="0" rtlCol="0" anchor="t"/>
          <a:lstStyle/>
          <a:p>
            <a:pPr marL="342900" indent="-342900">
              <a:lnSpc>
                <a:spcPct val="125000"/>
              </a:lnSpc>
              <a:spcAft>
                <a:spcPts val="900"/>
              </a:spcAft>
              <a:buSzPct val="100000"/>
              <a:buChar char="●"/>
            </a:pPr>
            <a:r>
              <a:rPr lang="en-US" sz="1050" dirty="0">
                <a:solidFill>
                  <a:srgbClr val="1E293B"/>
                </a:solidFill>
                <a:latin typeface="Segoe UI" pitchFamily="34" charset="0"/>
                <a:ea typeface="Segoe UI" pitchFamily="34" charset="-122"/>
                <a:cs typeface="Segoe UI" pitchFamily="34" charset="-120"/>
              </a:rPr>
              <a:t>Pipeline DIP hoàn chỉnh, xử lý thời gian thực dưới 20 ms/ảnh trên CPU.</a:t>
            </a:r>
            <a:endParaRPr lang="en-US" sz="1050" dirty="0"/>
          </a:p>
          <a:p>
            <a:pPr marL="342900" indent="-342900">
              <a:lnSpc>
                <a:spcPct val="125000"/>
              </a:lnSpc>
              <a:spcAft>
                <a:spcPts val="900"/>
              </a:spcAft>
              <a:buSzPct val="100000"/>
              <a:buChar char="●"/>
            </a:pPr>
            <a:r>
              <a:rPr lang="en-US" sz="1050" dirty="0">
                <a:solidFill>
                  <a:srgbClr val="1E293B"/>
                </a:solidFill>
                <a:latin typeface="Segoe UI" pitchFamily="34" charset="0"/>
                <a:ea typeface="Segoe UI" pitchFamily="34" charset="-122"/>
                <a:cs typeface="Segoe UI" pitchFamily="34" charset="-120"/>
              </a:rPr>
              <a:t>Watershed vượt trội Region Growing về Dice, IoU và độ ổn định trên 3.929 lát cắt.</a:t>
            </a:r>
            <a:endParaRPr lang="en-US" sz="1050" dirty="0"/>
          </a:p>
          <a:p>
            <a:pPr marL="342900" indent="-342900">
              <a:lnSpc>
                <a:spcPct val="125000"/>
              </a:lnSpc>
              <a:spcAft>
                <a:spcPts val="900"/>
              </a:spcAft>
              <a:buSzPct val="100000"/>
              <a:buChar char="●"/>
            </a:pPr>
            <a:r>
              <a:rPr lang="en-US" sz="1050" dirty="0">
                <a:solidFill>
                  <a:srgbClr val="1E293B"/>
                </a:solidFill>
                <a:latin typeface="Segoe UI" pitchFamily="34" charset="0"/>
                <a:ea typeface="Segoe UI" pitchFamily="34" charset="-122"/>
                <a:cs typeface="Segoe UI" pitchFamily="34" charset="-120"/>
              </a:rPr>
              <a:t>Đặc hiệu trên 99% nhờ tầng tách sọ loại bỏ hoàn toàn tín hiệu ngoài sọ.</a:t>
            </a:r>
            <a:endParaRPr lang="en-US" sz="1050" dirty="0"/>
          </a:p>
          <a:p>
            <a:pPr marL="342900" indent="-342900">
              <a:lnSpc>
                <a:spcPct val="125000"/>
              </a:lnSpc>
              <a:spcAft>
                <a:spcPts val="900"/>
              </a:spcAft>
              <a:buSzPct val="100000"/>
              <a:buChar char="●"/>
            </a:pPr>
            <a:r>
              <a:rPr lang="en-US" sz="1050" dirty="0">
                <a:solidFill>
                  <a:srgbClr val="1E293B"/>
                </a:solidFill>
                <a:latin typeface="Segoe UI" pitchFamily="34" charset="0"/>
                <a:ea typeface="Segoe UI" pitchFamily="34" charset="-122"/>
                <a:cs typeface="Segoe UI" pitchFamily="34" charset="-120"/>
              </a:rPr>
              <a:t>Kiến trúc module hóa chuẩn PEP8, 26/26 unit test xanh, Web Demo bàn giao được.</a:t>
            </a:r>
            <a:endParaRPr lang="en-US" sz="1050" dirty="0"/>
          </a:p>
        </p:txBody>
      </p:sp>
      <p:sp>
        <p:nvSpPr>
          <p:cNvPr id="18" name="Text 16"/>
          <p:cNvSpPr/>
          <p:nvPr/>
        </p:nvSpPr>
        <p:spPr>
          <a:xfrm>
            <a:off x="502920" y="4352544"/>
            <a:ext cx="8138160" cy="201168"/>
          </a:xfrm>
          <a:prstGeom prst="rect">
            <a:avLst/>
          </a:prstGeom>
          <a:noFill/>
          <a:ln/>
        </p:spPr>
        <p:txBody>
          <a:bodyPr wrap="square" lIns="0" tIns="0" rIns="0" bIns="0" rtlCol="0" anchor="ctr"/>
          <a:lstStyle/>
          <a:p>
            <a:pPr indent="0" marL="0">
              <a:buNone/>
            </a:pPr>
            <a:r>
              <a:rPr lang="en-US" sz="850" i="1" dirty="0">
                <a:solidFill>
                  <a:srgbClr val="5F7186"/>
                </a:solidFill>
                <a:latin typeface="Segoe UI" pitchFamily="34" charset="0"/>
                <a:ea typeface="Segoe UI" pitchFamily="34" charset="-122"/>
                <a:cs typeface="Segoe UI" pitchFamily="34" charset="-120"/>
              </a:rPr>
              <a:t>Hạn chế: độ chính xác còn thấp ở u nhỏ và u có phù nề lan rộng — đã phân tích ở slide 14.</a:t>
            </a:r>
            <a:endParaRPr lang="en-US" sz="850" dirty="0"/>
          </a:p>
        </p:txBody>
      </p:sp>
    </p:spTree>
  </p:cSld>
  <p:clrMapOvr>
    <a:masterClrMapping/>
  </p:clrMapOvr>
  <p:transition spd="med">
    <p:wipe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9"/>
                                        </p:tgtEl>
                                        <p:attrNameLst>
                                          <p:attrName>style.visibility</p:attrName>
                                        </p:attrNameLst>
                                      </p:cBhvr>
                                      <p:to>
                                        <p:strVal val="visible"/>
                                      </p:to>
                                    </p:set>
                                    <p:animEffect transition="in" filter="fade">
                                      <p:cBhvr>
                                        <p:cTn id="109" dur="400"/>
                                        <p:tgtEl>
                                          <p:spTgt spid="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
                                        </p:tgtEl>
                                        <p:attrNameLst>
                                          <p:attrName>style.visibility</p:attrName>
                                        </p:attrNameLst>
                                      </p:cBhvr>
                                      <p:to>
                                        <p:strVal val="visible"/>
                                      </p:to>
                                    </p:set>
                                    <p:animEffect transition="in" filter="fade">
                                      <p:cBhvr>
                                        <p:cTn id="112" dur="400"/>
                                        <p:tgtEl>
                                          <p:spTgt spid="1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2"/>
                                        </p:tgtEl>
                                        <p:attrNameLst>
                                          <p:attrName>style.visibility</p:attrName>
                                        </p:attrNameLst>
                                      </p:cBhvr>
                                      <p:to>
                                        <p:strVal val="visible"/>
                                      </p:to>
                                    </p:set>
                                    <p:animEffect transition="in" filter="fade">
                                      <p:cBhvr>
                                        <p:cTn id="115" dur="400"/>
                                        <p:tgtEl>
                                          <p:spTgt spid="1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3"/>
                                        </p:tgtEl>
                                        <p:attrNameLst>
                                          <p:attrName>style.visibility</p:attrName>
                                        </p:attrNameLst>
                                      </p:cBhvr>
                                      <p:to>
                                        <p:strVal val="visible"/>
                                      </p:to>
                                    </p:set>
                                    <p:animEffect transition="in" filter="fade">
                                      <p:cBhvr>
                                        <p:cTn id="118" dur="400"/>
                                        <p:tgtEl>
                                          <p:spTgt spid="13"/>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8"/>
                                        </p:tgtEl>
                                        <p:attrNameLst>
                                          <p:attrName>style.visibility</p:attrName>
                                        </p:attrNameLst>
                                      </p:cBhvr>
                                      <p:to>
                                        <p:strVal val="visible"/>
                                      </p:to>
                                    </p:set>
                                    <p:animEffect transition="in" filter="fade">
                                      <p:cBhvr>
                                        <p:cTn id="121" dur="400"/>
                                        <p:tgtEl>
                                          <p:spTgt spid="8"/>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00"/>
                                        <p:tgtEl>
                                          <p:spTgt spid="11"/>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14"/>
                                        </p:tgtEl>
                                        <p:attrNameLst>
                                          <p:attrName>style.visibility</p:attrName>
                                        </p:attrNameLst>
                                      </p:cBhvr>
                                      <p:to>
                                        <p:strVal val="visible"/>
                                      </p:to>
                                    </p:set>
                                    <p:animEffect transition="in" filter="fade">
                                      <p:cBhvr>
                                        <p:cTn id="127" dur="400"/>
                                        <p:tgtEl>
                                          <p:spTgt spid="14"/>
                                        </p:tgtEl>
                                      </p:cBhvr>
                                    </p:animEffect>
                                  </p:childTnLst>
                                </p:cTn>
                              </p:par>
                              <p:par>
                                <p:cTn id="128" presetID="10" presetClass="entr" presetSubtype="0" fill="hold" grpId="0" nodeType="withEffect">
                                  <p:stCondLst>
                                    <p:cond delay="560"/>
                                  </p:stCondLst>
                                  <p:childTnLst>
                                    <p:set>
                                      <p:cBhvr>
                                        <p:cTn id="129" dur="1" fill="hold">
                                          <p:stCondLst>
                                            <p:cond delay="0"/>
                                          </p:stCondLst>
                                        </p:cTn>
                                        <p:tgtEl>
                                          <p:spTgt spid="15"/>
                                        </p:tgtEl>
                                        <p:attrNameLst>
                                          <p:attrName>style.visibility</p:attrName>
                                        </p:attrNameLst>
                                      </p:cBhvr>
                                      <p:to>
                                        <p:strVal val="visible"/>
                                      </p:to>
                                    </p:set>
                                    <p:animEffect transition="in" filter="fade">
                                      <p:cBhvr>
                                        <p:cTn id="130" dur="400"/>
                                        <p:tgtEl>
                                          <p:spTgt spid="15"/>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16"/>
                                        </p:tgtEl>
                                        <p:attrNameLst>
                                          <p:attrName>style.visibility</p:attrName>
                                        </p:attrNameLst>
                                      </p:cBhvr>
                                      <p:to>
                                        <p:strVal val="visible"/>
                                      </p:to>
                                    </p:set>
                                    <p:animEffect transition="in" filter="fade">
                                      <p:cBhvr>
                                        <p:cTn id="133" dur="400"/>
                                        <p:tgtEl>
                                          <p:spTgt spid="16"/>
                                        </p:tgtEl>
                                      </p:cBhvr>
                                    </p:animEffect>
                                  </p:childTnLst>
                                </p:cTn>
                              </p:par>
                              <p:par>
                                <p:cTn id="134" presetID="10" presetClass="entr" presetSubtype="0" fill="hold" grpId="0" nodeType="withEffect">
                                  <p:stCondLst>
                                    <p:cond delay="840"/>
                                  </p:stCondLst>
                                  <p:childTnLst>
                                    <p:set>
                                      <p:cBhvr>
                                        <p:cTn id="135" dur="1" fill="hold">
                                          <p:stCondLst>
                                            <p:cond delay="0"/>
                                          </p:stCondLst>
                                        </p:cTn>
                                        <p:tgtEl>
                                          <p:spTgt spid="17"/>
                                        </p:tgtEl>
                                        <p:attrNameLst>
                                          <p:attrName>style.visibility</p:attrName>
                                        </p:attrNameLst>
                                      </p:cBhvr>
                                      <p:to>
                                        <p:strVal val="visible"/>
                                      </p:to>
                                    </p:set>
                                    <p:animEffect transition="in" filter="fade">
                                      <p:cBhvr>
                                        <p:cTn id="136" dur="400"/>
                                        <p:tgtEl>
                                          <p:spTgt spid="17"/>
                                        </p:tgtEl>
                                      </p:cBhvr>
                                    </p:animEffect>
                                  </p:childTnLst>
                                </p:cTn>
                              </p:par>
                              <p:par>
                                <p:cTn id="137" presetID="10" presetClass="entr" presetSubtype="0" fill="hold" grpId="0" nodeType="withEffect">
                                  <p:stCondLst>
                                    <p:cond delay="1120"/>
                                  </p:stCondLst>
                                  <p:childTnLst>
                                    <p:set>
                                      <p:cBhvr>
                                        <p:cTn id="138" dur="1" fill="hold">
                                          <p:stCondLst>
                                            <p:cond delay="0"/>
                                          </p:stCondLst>
                                        </p:cTn>
                                        <p:tgtEl>
                                          <p:spTgt spid="18"/>
                                        </p:tgtEl>
                                        <p:attrNameLst>
                                          <p:attrName>style.visibility</p:attrName>
                                        </p:attrNameLst>
                                      </p:cBhvr>
                                      <p:to>
                                        <p:strVal val="visible"/>
                                      </p:to>
                                    </p:set>
                                    <p:animEffect transition="in" filter="fade">
                                      <p:cBhvr>
                                        <p:cTn id="139"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17  ·  HƯỚNG PHÁT TRIỂN</a:t>
            </a:r>
            <a:endParaRPr lang="en-US" sz="9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indent="0" marL="0">
              <a:lnSpc>
                <a:spcPct val="105000"/>
              </a:lnSpc>
              <a:buNone/>
            </a:pPr>
            <a:r>
              <a:rPr lang="en-US" sz="2200" dirty="0">
                <a:solidFill>
                  <a:srgbClr val="21295C"/>
                </a:solidFill>
                <a:latin typeface="Segoe UI Semibold" pitchFamily="34" charset="0"/>
                <a:ea typeface="Segoe UI Semibold" pitchFamily="34" charset="-122"/>
                <a:cs typeface="Segoe UI Semibold" pitchFamily="34" charset="-120"/>
              </a:rPr>
              <a:t>Ba hướng nâng cấp chiến lược</a:t>
            </a:r>
            <a:endParaRPr lang="en-US" sz="220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18 / 20</a:t>
            </a:r>
            <a:endParaRPr lang="en-US" sz="800" dirty="0"/>
          </a:p>
        </p:txBody>
      </p:sp>
      <p:sp>
        <p:nvSpPr>
          <p:cNvPr id="6" name="Shape 4"/>
          <p:cNvSpPr/>
          <p:nvPr/>
        </p:nvSpPr>
        <p:spPr>
          <a:xfrm>
            <a:off x="502920" y="1280160"/>
            <a:ext cx="2615184" cy="2340864"/>
          </a:xfrm>
          <a:prstGeom prst="roundRect">
            <a:avLst>
              <a:gd name="adj" fmla="val 2344"/>
            </a:avLst>
          </a:prstGeom>
          <a:solidFill>
            <a:srgbClr val="FFFFFF"/>
          </a:solidFill>
          <a:ln w="9525">
            <a:solidFill>
              <a:srgbClr val="D1E3E8"/>
            </a:solidFill>
            <a:prstDash val="solid"/>
          </a:ln>
          <a:effectLst>
            <a:outerShdw sx="100000" sy="100000" kx="0" ky="0" algn="bl" rotWithShape="0" blurRad="1.6513612526869638e+234" dist="8.256806263434819e+233" dir="2.0364032491953868e+274">
              <a:srgbClr val="0B2B3C">
                <a:alpha val="9.999999999999996e+283"/>
              </a:srgbClr>
            </a:outerShdw>
          </a:effectLst>
        </p:spPr>
      </p:sp>
      <p:sp>
        <p:nvSpPr>
          <p:cNvPr id="7" name="Text 5"/>
          <p:cNvSpPr/>
          <p:nvPr/>
        </p:nvSpPr>
        <p:spPr>
          <a:xfrm>
            <a:off x="704088" y="1408176"/>
            <a:ext cx="1097280" cy="365760"/>
          </a:xfrm>
          <a:prstGeom prst="rect">
            <a:avLst/>
          </a:prstGeom>
          <a:noFill/>
          <a:ln/>
        </p:spPr>
        <p:txBody>
          <a:bodyPr wrap="square" lIns="0" tIns="0" rIns="0" bIns="0" rtlCol="0" anchor="ctr"/>
          <a:lstStyle/>
          <a:p>
            <a:pPr indent="0" marL="0">
              <a:buNone/>
            </a:pPr>
            <a:r>
              <a:rPr lang="en-US" sz="2000" dirty="0">
                <a:solidFill>
                  <a:srgbClr val="D1E3E8"/>
                </a:solidFill>
                <a:latin typeface="Segoe UI Semibold" pitchFamily="34" charset="0"/>
                <a:ea typeface="Segoe UI Semibold" pitchFamily="34" charset="-122"/>
                <a:cs typeface="Segoe UI Semibold" pitchFamily="34" charset="-120"/>
              </a:rPr>
              <a:t>01</a:t>
            </a:r>
            <a:endParaRPr lang="en-US" sz="2000" dirty="0"/>
          </a:p>
        </p:txBody>
      </p:sp>
      <p:sp>
        <p:nvSpPr>
          <p:cNvPr id="8" name="Text 6"/>
          <p:cNvSpPr/>
          <p:nvPr/>
        </p:nvSpPr>
        <p:spPr>
          <a:xfrm>
            <a:off x="704088" y="1828800"/>
            <a:ext cx="2231136" cy="274320"/>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Tái tạo thể tích 3D</a:t>
            </a:r>
            <a:endParaRPr lang="en-US" sz="1150" dirty="0"/>
          </a:p>
        </p:txBody>
      </p:sp>
      <p:sp>
        <p:nvSpPr>
          <p:cNvPr id="9" name="Text 7"/>
          <p:cNvSpPr/>
          <p:nvPr/>
        </p:nvSpPr>
        <p:spPr>
          <a:xfrm>
            <a:off x="704088" y="2157984"/>
            <a:ext cx="2231136" cy="877824"/>
          </a:xfrm>
          <a:prstGeom prst="rect">
            <a:avLst/>
          </a:prstGeom>
          <a:noFill/>
          <a:ln/>
        </p:spPr>
        <p:txBody>
          <a:bodyPr wrap="square" lIns="0" tIns="0" rIns="0" bIns="0" rtlCol="0" anchor="t"/>
          <a:lstStyle/>
          <a:p>
            <a:pPr indent="0" marL="0">
              <a:lnSpc>
                <a:spcPct val="120000"/>
              </a:lnSpc>
              <a:buNone/>
            </a:pPr>
            <a:r>
              <a:rPr lang="en-US" sz="850" dirty="0">
                <a:solidFill>
                  <a:srgbClr val="5F7186"/>
                </a:solidFill>
                <a:latin typeface="Segoe UI" pitchFamily="34" charset="0"/>
                <a:ea typeface="Segoe UI" pitchFamily="34" charset="-122"/>
                <a:cs typeface="Segoe UI" pitchFamily="34" charset="-120"/>
              </a:rPr>
              <a:t>Dựng bề mặt khối u từ chuỗi lát cắt MRI đa nhát, hỗ trợ đánh giá thể tích thật (mm³) trước phẫu thuật.</a:t>
            </a:r>
            <a:endParaRPr lang="en-US" sz="850" dirty="0"/>
          </a:p>
        </p:txBody>
      </p:sp>
      <p:sp>
        <p:nvSpPr>
          <p:cNvPr id="10" name="Shape 8"/>
          <p:cNvSpPr/>
          <p:nvPr/>
        </p:nvSpPr>
        <p:spPr>
          <a:xfrm>
            <a:off x="704088" y="3108960"/>
            <a:ext cx="1068019" cy="274320"/>
          </a:xfrm>
          <a:prstGeom prst="roundRect">
            <a:avLst>
              <a:gd name="adj" fmla="val 13333"/>
            </a:avLst>
          </a:prstGeom>
          <a:solidFill>
            <a:srgbClr val="E3F1F4"/>
          </a:solidFill>
          <a:ln w="9525">
            <a:solidFill>
              <a:srgbClr val="D1E3E8"/>
            </a:solidFill>
            <a:prstDash val="solid"/>
          </a:ln>
        </p:spPr>
      </p:sp>
      <p:sp>
        <p:nvSpPr>
          <p:cNvPr id="11" name="Text 9"/>
          <p:cNvSpPr/>
          <p:nvPr/>
        </p:nvSpPr>
        <p:spPr>
          <a:xfrm>
            <a:off x="795528" y="3108960"/>
            <a:ext cx="885139" cy="274320"/>
          </a:xfrm>
          <a:prstGeom prst="rect">
            <a:avLst/>
          </a:prstGeom>
          <a:noFill/>
          <a:ln/>
        </p:spPr>
        <p:txBody>
          <a:bodyPr wrap="square" lIns="0" tIns="0" rIns="0" bIns="0" rtlCol="0" anchor="ctr"/>
          <a:lstStyle/>
          <a:p>
            <a:pPr algn="ctr" indent="0" marL="0">
              <a:buNone/>
            </a:pPr>
            <a:r>
              <a:rPr lang="en-US" sz="750" b="1" dirty="0">
                <a:solidFill>
                  <a:srgbClr val="065A82"/>
                </a:solidFill>
                <a:latin typeface="Segoe UI" pitchFamily="34" charset="0"/>
                <a:ea typeface="Segoe UI" pitchFamily="34" charset="-122"/>
                <a:cs typeface="Segoe UI" pitchFamily="34" charset="-120"/>
              </a:rPr>
              <a:t>Marching Cubes</a:t>
            </a:r>
            <a:endParaRPr lang="en-US" sz="750" dirty="0"/>
          </a:p>
        </p:txBody>
      </p:sp>
      <p:sp>
        <p:nvSpPr>
          <p:cNvPr id="12" name="Shape 10"/>
          <p:cNvSpPr/>
          <p:nvPr/>
        </p:nvSpPr>
        <p:spPr>
          <a:xfrm>
            <a:off x="1845259" y="3108960"/>
            <a:ext cx="738835" cy="274320"/>
          </a:xfrm>
          <a:prstGeom prst="roundRect">
            <a:avLst>
              <a:gd name="adj" fmla="val 13333"/>
            </a:avLst>
          </a:prstGeom>
          <a:solidFill>
            <a:srgbClr val="E3F1F4"/>
          </a:solidFill>
          <a:ln w="9525">
            <a:solidFill>
              <a:srgbClr val="D1E3E8"/>
            </a:solidFill>
            <a:prstDash val="solid"/>
          </a:ln>
        </p:spPr>
      </p:sp>
      <p:sp>
        <p:nvSpPr>
          <p:cNvPr id="13" name="Text 11"/>
          <p:cNvSpPr/>
          <p:nvPr/>
        </p:nvSpPr>
        <p:spPr>
          <a:xfrm>
            <a:off x="1936699" y="3108960"/>
            <a:ext cx="555955" cy="274320"/>
          </a:xfrm>
          <a:prstGeom prst="rect">
            <a:avLst/>
          </a:prstGeom>
          <a:noFill/>
          <a:ln/>
        </p:spPr>
        <p:txBody>
          <a:bodyPr wrap="square" lIns="0" tIns="0" rIns="0" bIns="0" rtlCol="0" anchor="ctr"/>
          <a:lstStyle/>
          <a:p>
            <a:pPr algn="ctr" indent="0" marL="0">
              <a:buNone/>
            </a:pPr>
            <a:r>
              <a:rPr lang="en-US" sz="750" b="1" dirty="0">
                <a:solidFill>
                  <a:srgbClr val="065A82"/>
                </a:solidFill>
                <a:latin typeface="Segoe UI" pitchFamily="34" charset="0"/>
                <a:ea typeface="Segoe UI" pitchFamily="34" charset="-122"/>
                <a:cs typeface="Segoe UI" pitchFamily="34" charset="-120"/>
              </a:rPr>
              <a:t>3D Render</a:t>
            </a:r>
            <a:endParaRPr lang="en-US" sz="750" dirty="0"/>
          </a:p>
        </p:txBody>
      </p:sp>
      <p:sp>
        <p:nvSpPr>
          <p:cNvPr id="14" name="Shape 12"/>
          <p:cNvSpPr/>
          <p:nvPr/>
        </p:nvSpPr>
        <p:spPr>
          <a:xfrm>
            <a:off x="3300984" y="1280160"/>
            <a:ext cx="2615184" cy="2340864"/>
          </a:xfrm>
          <a:prstGeom prst="roundRect">
            <a:avLst>
              <a:gd name="adj" fmla="val 2344"/>
            </a:avLst>
          </a:prstGeom>
          <a:solidFill>
            <a:srgbClr val="FFFFFF"/>
          </a:solidFill>
          <a:ln w="9525">
            <a:solidFill>
              <a:srgbClr val="D1E3E8"/>
            </a:solidFill>
            <a:prstDash val="solid"/>
          </a:ln>
          <a:effectLst>
            <a:outerShdw sx="100000" sy="100000" kx="0" ky="0" algn="bl" rotWithShape="0" blurRad="2.097228790912444e+238" dist="1.048614395456222e+238" dir="1.221841949517232e+279">
              <a:srgbClr val="0B2B3C">
                <a:alpha val="9.999999999999996e+288"/>
              </a:srgbClr>
            </a:outerShdw>
          </a:effectLst>
        </p:spPr>
      </p:sp>
      <p:sp>
        <p:nvSpPr>
          <p:cNvPr id="15" name="Text 13"/>
          <p:cNvSpPr/>
          <p:nvPr/>
        </p:nvSpPr>
        <p:spPr>
          <a:xfrm>
            <a:off x="3502152" y="1408176"/>
            <a:ext cx="1097280" cy="365760"/>
          </a:xfrm>
          <a:prstGeom prst="rect">
            <a:avLst/>
          </a:prstGeom>
          <a:noFill/>
          <a:ln/>
        </p:spPr>
        <p:txBody>
          <a:bodyPr wrap="square" lIns="0" tIns="0" rIns="0" bIns="0" rtlCol="0" anchor="ctr"/>
          <a:lstStyle/>
          <a:p>
            <a:pPr indent="0" marL="0">
              <a:buNone/>
            </a:pPr>
            <a:r>
              <a:rPr lang="en-US" sz="2000" dirty="0">
                <a:solidFill>
                  <a:srgbClr val="D1E3E8"/>
                </a:solidFill>
                <a:latin typeface="Segoe UI Semibold" pitchFamily="34" charset="0"/>
                <a:ea typeface="Segoe UI Semibold" pitchFamily="34" charset="-122"/>
                <a:cs typeface="Segoe UI Semibold" pitchFamily="34" charset="-120"/>
              </a:rPr>
              <a:t>02</a:t>
            </a:r>
            <a:endParaRPr lang="en-US" sz="2000" dirty="0"/>
          </a:p>
        </p:txBody>
      </p:sp>
      <p:sp>
        <p:nvSpPr>
          <p:cNvPr id="16" name="Text 14"/>
          <p:cNvSpPr/>
          <p:nvPr/>
        </p:nvSpPr>
        <p:spPr>
          <a:xfrm>
            <a:off x="3502152" y="1828800"/>
            <a:ext cx="2231136" cy="274320"/>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Pipeline lai Hybrid</a:t>
            </a:r>
            <a:endParaRPr lang="en-US" sz="1150" dirty="0"/>
          </a:p>
        </p:txBody>
      </p:sp>
      <p:sp>
        <p:nvSpPr>
          <p:cNvPr id="17" name="Text 15"/>
          <p:cNvSpPr/>
          <p:nvPr/>
        </p:nvSpPr>
        <p:spPr>
          <a:xfrm>
            <a:off x="3502152" y="2157984"/>
            <a:ext cx="2231136" cy="877824"/>
          </a:xfrm>
          <a:prstGeom prst="rect">
            <a:avLst/>
          </a:prstGeom>
          <a:noFill/>
          <a:ln/>
        </p:spPr>
        <p:txBody>
          <a:bodyPr wrap="square" lIns="0" tIns="0" rIns="0" bIns="0" rtlCol="0" anchor="t"/>
          <a:lstStyle/>
          <a:p>
            <a:pPr indent="0" marL="0">
              <a:lnSpc>
                <a:spcPct val="120000"/>
              </a:lnSpc>
              <a:buNone/>
            </a:pPr>
            <a:r>
              <a:rPr lang="en-US" sz="850" dirty="0">
                <a:solidFill>
                  <a:srgbClr val="5F7186"/>
                </a:solidFill>
                <a:latin typeface="Segoe UI" pitchFamily="34" charset="0"/>
                <a:ea typeface="Segoe UI" pitchFamily="34" charset="-122"/>
                <a:cs typeface="Segoe UI" pitchFamily="34" charset="-120"/>
              </a:rPr>
              <a:t>Watershed lọc vùng quan tâm ROI, sau đó mạng học sâu nhẹ Mobile-UNet tinh chỉnh biên u.</a:t>
            </a:r>
            <a:endParaRPr lang="en-US" sz="850" dirty="0"/>
          </a:p>
        </p:txBody>
      </p:sp>
      <p:sp>
        <p:nvSpPr>
          <p:cNvPr id="18" name="Shape 16"/>
          <p:cNvSpPr/>
          <p:nvPr/>
        </p:nvSpPr>
        <p:spPr>
          <a:xfrm>
            <a:off x="3502152" y="3108960"/>
            <a:ext cx="870509" cy="274320"/>
          </a:xfrm>
          <a:prstGeom prst="roundRect">
            <a:avLst>
              <a:gd name="adj" fmla="val 13333"/>
            </a:avLst>
          </a:prstGeom>
          <a:solidFill>
            <a:srgbClr val="E3F1F4"/>
          </a:solidFill>
          <a:ln w="9525">
            <a:solidFill>
              <a:srgbClr val="D1E3E8"/>
            </a:solidFill>
            <a:prstDash val="solid"/>
          </a:ln>
        </p:spPr>
      </p:sp>
      <p:sp>
        <p:nvSpPr>
          <p:cNvPr id="19" name="Text 17"/>
          <p:cNvSpPr/>
          <p:nvPr/>
        </p:nvSpPr>
        <p:spPr>
          <a:xfrm>
            <a:off x="3593592" y="3108960"/>
            <a:ext cx="687629" cy="274320"/>
          </a:xfrm>
          <a:prstGeom prst="rect">
            <a:avLst/>
          </a:prstGeom>
          <a:noFill/>
          <a:ln/>
        </p:spPr>
        <p:txBody>
          <a:bodyPr wrap="square" lIns="0" tIns="0" rIns="0" bIns="0" rtlCol="0" anchor="ctr"/>
          <a:lstStyle/>
          <a:p>
            <a:pPr algn="ctr" indent="0" marL="0">
              <a:buNone/>
            </a:pPr>
            <a:r>
              <a:rPr lang="en-US" sz="750" b="1" dirty="0">
                <a:solidFill>
                  <a:srgbClr val="065A82"/>
                </a:solidFill>
                <a:latin typeface="Segoe UI" pitchFamily="34" charset="0"/>
                <a:ea typeface="Segoe UI" pitchFamily="34" charset="-122"/>
                <a:cs typeface="Segoe UI" pitchFamily="34" charset="-120"/>
              </a:rPr>
              <a:t>Mobile-UNet</a:t>
            </a:r>
            <a:endParaRPr lang="en-US" sz="750" dirty="0"/>
          </a:p>
        </p:txBody>
      </p:sp>
      <p:sp>
        <p:nvSpPr>
          <p:cNvPr id="20" name="Shape 18"/>
          <p:cNvSpPr/>
          <p:nvPr/>
        </p:nvSpPr>
        <p:spPr>
          <a:xfrm>
            <a:off x="4445813" y="3108960"/>
            <a:ext cx="548640" cy="274320"/>
          </a:xfrm>
          <a:prstGeom prst="roundRect">
            <a:avLst>
              <a:gd name="adj" fmla="val 13333"/>
            </a:avLst>
          </a:prstGeom>
          <a:solidFill>
            <a:srgbClr val="E3F1F4"/>
          </a:solidFill>
          <a:ln w="9525">
            <a:solidFill>
              <a:srgbClr val="D1E3E8"/>
            </a:solidFill>
            <a:prstDash val="solid"/>
          </a:ln>
        </p:spPr>
      </p:sp>
      <p:sp>
        <p:nvSpPr>
          <p:cNvPr id="21" name="Text 19"/>
          <p:cNvSpPr/>
          <p:nvPr/>
        </p:nvSpPr>
        <p:spPr>
          <a:xfrm>
            <a:off x="4537253" y="3108960"/>
            <a:ext cx="365760" cy="274320"/>
          </a:xfrm>
          <a:prstGeom prst="rect">
            <a:avLst/>
          </a:prstGeom>
          <a:noFill/>
          <a:ln/>
        </p:spPr>
        <p:txBody>
          <a:bodyPr wrap="square" lIns="0" tIns="0" rIns="0" bIns="0" rtlCol="0" anchor="ctr"/>
          <a:lstStyle/>
          <a:p>
            <a:pPr algn="ctr" indent="0" marL="0">
              <a:buNone/>
            </a:pPr>
            <a:r>
              <a:rPr lang="en-US" sz="750" b="1" dirty="0">
                <a:solidFill>
                  <a:srgbClr val="065A82"/>
                </a:solidFill>
                <a:latin typeface="Segoe UI" pitchFamily="34" charset="0"/>
                <a:ea typeface="Segoe UI" pitchFamily="34" charset="-122"/>
                <a:cs typeface="Segoe UI" pitchFamily="34" charset="-120"/>
              </a:rPr>
              <a:t>ROI</a:t>
            </a:r>
            <a:endParaRPr lang="en-US" sz="750" dirty="0"/>
          </a:p>
        </p:txBody>
      </p:sp>
      <p:sp>
        <p:nvSpPr>
          <p:cNvPr id="22" name="Shape 20"/>
          <p:cNvSpPr/>
          <p:nvPr/>
        </p:nvSpPr>
        <p:spPr>
          <a:xfrm>
            <a:off x="6099048" y="1280160"/>
            <a:ext cx="2615184" cy="2340864"/>
          </a:xfrm>
          <a:prstGeom prst="roundRect">
            <a:avLst>
              <a:gd name="adj" fmla="val 2344"/>
            </a:avLst>
          </a:prstGeom>
          <a:solidFill>
            <a:srgbClr val="FFFFFF"/>
          </a:solidFill>
          <a:ln w="9525">
            <a:solidFill>
              <a:srgbClr val="D1E3E8"/>
            </a:solidFill>
            <a:prstDash val="solid"/>
          </a:ln>
          <a:effectLst>
            <a:outerShdw sx="100000" sy="100000" kx="0" ky="0" algn="bl" rotWithShape="0" blurRad="2.663480564458804e+242" dist="1.331740282229402e+242" dir="7.331051697103393e+283">
              <a:srgbClr val="0B2B3C">
                <a:alpha val="9.999999999999996e+293"/>
              </a:srgbClr>
            </a:outerShdw>
          </a:effectLst>
        </p:spPr>
      </p:sp>
      <p:sp>
        <p:nvSpPr>
          <p:cNvPr id="23" name="Text 21"/>
          <p:cNvSpPr/>
          <p:nvPr/>
        </p:nvSpPr>
        <p:spPr>
          <a:xfrm>
            <a:off x="6300216" y="1408176"/>
            <a:ext cx="1097280" cy="365760"/>
          </a:xfrm>
          <a:prstGeom prst="rect">
            <a:avLst/>
          </a:prstGeom>
          <a:noFill/>
          <a:ln/>
        </p:spPr>
        <p:txBody>
          <a:bodyPr wrap="square" lIns="0" tIns="0" rIns="0" bIns="0" rtlCol="0" anchor="ctr"/>
          <a:lstStyle/>
          <a:p>
            <a:pPr indent="0" marL="0">
              <a:buNone/>
            </a:pPr>
            <a:r>
              <a:rPr lang="en-US" sz="2000" dirty="0">
                <a:solidFill>
                  <a:srgbClr val="D1E3E8"/>
                </a:solidFill>
                <a:latin typeface="Segoe UI Semibold" pitchFamily="34" charset="0"/>
                <a:ea typeface="Segoe UI Semibold" pitchFamily="34" charset="-122"/>
                <a:cs typeface="Segoe UI Semibold" pitchFamily="34" charset="-120"/>
              </a:rPr>
              <a:t>03</a:t>
            </a:r>
            <a:endParaRPr lang="en-US" sz="2000" dirty="0"/>
          </a:p>
        </p:txBody>
      </p:sp>
      <p:sp>
        <p:nvSpPr>
          <p:cNvPr id="24" name="Text 22"/>
          <p:cNvSpPr/>
          <p:nvPr/>
        </p:nvSpPr>
        <p:spPr>
          <a:xfrm>
            <a:off x="6300216" y="1828800"/>
            <a:ext cx="2231136" cy="274320"/>
          </a:xfrm>
          <a:prstGeom prst="rect">
            <a:avLst/>
          </a:prstGeom>
          <a:noFill/>
          <a:ln/>
        </p:spPr>
        <p:txBody>
          <a:bodyPr wrap="square" lIns="0" tIns="0" rIns="0" bIns="0" rtlCol="0" anchor="ctr"/>
          <a:lstStyle/>
          <a:p>
            <a:pPr indent="0" marL="0">
              <a:buNone/>
            </a:pPr>
            <a:r>
              <a:rPr lang="en-US" sz="1150" dirty="0">
                <a:solidFill>
                  <a:srgbClr val="21295C"/>
                </a:solidFill>
                <a:latin typeface="Segoe UI Semibold" pitchFamily="34" charset="0"/>
                <a:ea typeface="Segoe UI Semibold" pitchFamily="34" charset="-122"/>
                <a:cs typeface="Segoe UI Semibold" pitchFamily="34" charset="-120"/>
              </a:rPr>
              <a:t>Chuẩn DICOM / PACS</a:t>
            </a:r>
            <a:endParaRPr lang="en-US" sz="1150" dirty="0"/>
          </a:p>
        </p:txBody>
      </p:sp>
      <p:sp>
        <p:nvSpPr>
          <p:cNvPr id="25" name="Text 23"/>
          <p:cNvSpPr/>
          <p:nvPr/>
        </p:nvSpPr>
        <p:spPr>
          <a:xfrm>
            <a:off x="6300216" y="2157984"/>
            <a:ext cx="2231136" cy="877824"/>
          </a:xfrm>
          <a:prstGeom prst="rect">
            <a:avLst/>
          </a:prstGeom>
          <a:noFill/>
          <a:ln/>
        </p:spPr>
        <p:txBody>
          <a:bodyPr wrap="square" lIns="0" tIns="0" rIns="0" bIns="0" rtlCol="0" anchor="t"/>
          <a:lstStyle/>
          <a:p>
            <a:pPr indent="0" marL="0">
              <a:lnSpc>
                <a:spcPct val="120000"/>
              </a:lnSpc>
              <a:buNone/>
            </a:pPr>
            <a:r>
              <a:rPr lang="en-US" sz="850" dirty="0">
                <a:solidFill>
                  <a:srgbClr val="5F7186"/>
                </a:solidFill>
                <a:latin typeface="Segoe UI" pitchFamily="34" charset="0"/>
                <a:ea typeface="Segoe UI" pitchFamily="34" charset="-122"/>
                <a:cs typeface="Segoe UI" pitchFamily="34" charset="-120"/>
              </a:rPr>
              <a:t>Tích hợp trực tiếp chuẩn truyền tải ảnh y tế bệnh viện, đọc metadata và trả kết quả về hệ thống lưu trữ.</a:t>
            </a:r>
            <a:endParaRPr lang="en-US" sz="850" dirty="0"/>
          </a:p>
        </p:txBody>
      </p:sp>
      <p:sp>
        <p:nvSpPr>
          <p:cNvPr id="26" name="Shape 24"/>
          <p:cNvSpPr/>
          <p:nvPr/>
        </p:nvSpPr>
        <p:spPr>
          <a:xfrm>
            <a:off x="6300216" y="3108960"/>
            <a:ext cx="548640" cy="274320"/>
          </a:xfrm>
          <a:prstGeom prst="roundRect">
            <a:avLst>
              <a:gd name="adj" fmla="val 13333"/>
            </a:avLst>
          </a:prstGeom>
          <a:solidFill>
            <a:srgbClr val="E3F1F4"/>
          </a:solidFill>
          <a:ln w="9525">
            <a:solidFill>
              <a:srgbClr val="D1E3E8"/>
            </a:solidFill>
            <a:prstDash val="solid"/>
          </a:ln>
        </p:spPr>
      </p:sp>
      <p:sp>
        <p:nvSpPr>
          <p:cNvPr id="27" name="Text 25"/>
          <p:cNvSpPr/>
          <p:nvPr/>
        </p:nvSpPr>
        <p:spPr>
          <a:xfrm>
            <a:off x="6391656" y="3108960"/>
            <a:ext cx="365760" cy="274320"/>
          </a:xfrm>
          <a:prstGeom prst="rect">
            <a:avLst/>
          </a:prstGeom>
          <a:noFill/>
          <a:ln/>
        </p:spPr>
        <p:txBody>
          <a:bodyPr wrap="square" lIns="0" tIns="0" rIns="0" bIns="0" rtlCol="0" anchor="ctr"/>
          <a:lstStyle/>
          <a:p>
            <a:pPr algn="ctr" indent="0" marL="0">
              <a:buNone/>
            </a:pPr>
            <a:r>
              <a:rPr lang="en-US" sz="750" b="1" dirty="0">
                <a:solidFill>
                  <a:srgbClr val="065A82"/>
                </a:solidFill>
                <a:latin typeface="Segoe UI" pitchFamily="34" charset="0"/>
                <a:ea typeface="Segoe UI" pitchFamily="34" charset="-122"/>
                <a:cs typeface="Segoe UI" pitchFamily="34" charset="-120"/>
              </a:rPr>
              <a:t>DICOM</a:t>
            </a:r>
            <a:endParaRPr lang="en-US" sz="750" dirty="0"/>
          </a:p>
        </p:txBody>
      </p:sp>
      <p:sp>
        <p:nvSpPr>
          <p:cNvPr id="28" name="Shape 26"/>
          <p:cNvSpPr/>
          <p:nvPr/>
        </p:nvSpPr>
        <p:spPr>
          <a:xfrm>
            <a:off x="6922008" y="3108960"/>
            <a:ext cx="548640" cy="274320"/>
          </a:xfrm>
          <a:prstGeom prst="roundRect">
            <a:avLst>
              <a:gd name="adj" fmla="val 13333"/>
            </a:avLst>
          </a:prstGeom>
          <a:solidFill>
            <a:srgbClr val="E3F1F4"/>
          </a:solidFill>
          <a:ln w="9525">
            <a:solidFill>
              <a:srgbClr val="D1E3E8"/>
            </a:solidFill>
            <a:prstDash val="solid"/>
          </a:ln>
        </p:spPr>
      </p:sp>
      <p:sp>
        <p:nvSpPr>
          <p:cNvPr id="29" name="Text 27"/>
          <p:cNvSpPr/>
          <p:nvPr/>
        </p:nvSpPr>
        <p:spPr>
          <a:xfrm>
            <a:off x="7013448" y="3108960"/>
            <a:ext cx="365760" cy="274320"/>
          </a:xfrm>
          <a:prstGeom prst="rect">
            <a:avLst/>
          </a:prstGeom>
          <a:noFill/>
          <a:ln/>
        </p:spPr>
        <p:txBody>
          <a:bodyPr wrap="square" lIns="0" tIns="0" rIns="0" bIns="0" rtlCol="0" anchor="ctr"/>
          <a:lstStyle/>
          <a:p>
            <a:pPr algn="ctr" indent="0" marL="0">
              <a:buNone/>
            </a:pPr>
            <a:r>
              <a:rPr lang="en-US" sz="750" b="1" dirty="0">
                <a:solidFill>
                  <a:srgbClr val="065A82"/>
                </a:solidFill>
                <a:latin typeface="Segoe UI" pitchFamily="34" charset="0"/>
                <a:ea typeface="Segoe UI" pitchFamily="34" charset="-122"/>
                <a:cs typeface="Segoe UI" pitchFamily="34" charset="-120"/>
              </a:rPr>
              <a:t>PACS</a:t>
            </a:r>
            <a:endParaRPr lang="en-US" sz="750" dirty="0"/>
          </a:p>
        </p:txBody>
      </p:sp>
      <p:sp>
        <p:nvSpPr>
          <p:cNvPr id="30" name="Text 28"/>
          <p:cNvSpPr/>
          <p:nvPr/>
        </p:nvSpPr>
        <p:spPr>
          <a:xfrm>
            <a:off x="502920" y="4041648"/>
            <a:ext cx="8138160" cy="201168"/>
          </a:xfrm>
          <a:prstGeom prst="rect">
            <a:avLst/>
          </a:prstGeom>
          <a:noFill/>
          <a:ln/>
        </p:spPr>
        <p:txBody>
          <a:bodyPr wrap="square" lIns="0" tIns="0" rIns="0" bIns="0" rtlCol="0" anchor="ctr"/>
          <a:lstStyle/>
          <a:p>
            <a:pPr indent="0" marL="0">
              <a:buNone/>
            </a:pPr>
            <a:r>
              <a:rPr lang="en-US" sz="900" i="1" dirty="0">
                <a:solidFill>
                  <a:srgbClr val="028090"/>
                </a:solidFill>
                <a:latin typeface="Segoe UI" pitchFamily="34" charset="0"/>
                <a:ea typeface="Segoe UI" pitchFamily="34" charset="-122"/>
                <a:cs typeface="Segoe UI" pitchFamily="34" charset="-120"/>
              </a:rPr>
              <a:t>Ưu tiên: mở rộng đánh giá trên tập đa trung tâm (multi-center) trước khi tích hợp bệnh viện.</a:t>
            </a:r>
            <a:endParaRPr lang="en-US" sz="900" dirty="0"/>
          </a:p>
        </p:txBody>
      </p:sp>
    </p:spTree>
  </p:cSld>
  <p:clrMapOvr>
    <a:masterClrMapping/>
  </p:clrMapOvr>
  <p:transition spd="med">
    <p:push dir="d"/>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4"/>
                                        </p:tgtEl>
                                        <p:attrNameLst>
                                          <p:attrName>style.visibility</p:attrName>
                                        </p:attrNameLst>
                                      </p:cBhvr>
                                      <p:to>
                                        <p:strVal val="visible"/>
                                      </p:to>
                                    </p:set>
                                    <p:animEffect transition="in" filter="fade">
                                      <p:cBhvr>
                                        <p:cTn id="109" dur="400"/>
                                        <p:tgtEl>
                                          <p:spTgt spid="1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5"/>
                                        </p:tgtEl>
                                        <p:attrNameLst>
                                          <p:attrName>style.visibility</p:attrName>
                                        </p:attrNameLst>
                                      </p:cBhvr>
                                      <p:to>
                                        <p:strVal val="visible"/>
                                      </p:to>
                                    </p:set>
                                    <p:animEffect transition="in" filter="fade">
                                      <p:cBhvr>
                                        <p:cTn id="112" dur="400"/>
                                        <p:tgtEl>
                                          <p:spTgt spid="15"/>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400"/>
                                        <p:tgtEl>
                                          <p:spTgt spid="2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400"/>
                                        <p:tgtEl>
                                          <p:spTgt spid="23"/>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8"/>
                                        </p:tgtEl>
                                        <p:attrNameLst>
                                          <p:attrName>style.visibility</p:attrName>
                                        </p:attrNameLst>
                                      </p:cBhvr>
                                      <p:to>
                                        <p:strVal val="visible"/>
                                      </p:to>
                                    </p:set>
                                    <p:animEffect transition="in" filter="fade">
                                      <p:cBhvr>
                                        <p:cTn id="121" dur="400"/>
                                        <p:tgtEl>
                                          <p:spTgt spid="8"/>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16"/>
                                        </p:tgtEl>
                                        <p:attrNameLst>
                                          <p:attrName>style.visibility</p:attrName>
                                        </p:attrNameLst>
                                      </p:cBhvr>
                                      <p:to>
                                        <p:strVal val="visible"/>
                                      </p:to>
                                    </p:set>
                                    <p:animEffect transition="in" filter="fade">
                                      <p:cBhvr>
                                        <p:cTn id="124" dur="400"/>
                                        <p:tgtEl>
                                          <p:spTgt spid="16"/>
                                        </p:tgtEl>
                                      </p:cBhvr>
                                    </p:animEffect>
                                  </p:childTnLst>
                                </p:cTn>
                              </p:par>
                              <p:par>
                                <p:cTn id="125" presetID="10" presetClass="entr" presetSubtype="0" fill="hold" grpId="0" nodeType="withEffect">
                                  <p:stCondLst>
                                    <p:cond delay="280"/>
                                  </p:stCondLst>
                                  <p:childTnLst>
                                    <p:set>
                                      <p:cBhvr>
                                        <p:cTn id="126" dur="1" fill="hold">
                                          <p:stCondLst>
                                            <p:cond delay="0"/>
                                          </p:stCondLst>
                                        </p:cTn>
                                        <p:tgtEl>
                                          <p:spTgt spid="24"/>
                                        </p:tgtEl>
                                        <p:attrNameLst>
                                          <p:attrName>style.visibility</p:attrName>
                                        </p:attrNameLst>
                                      </p:cBhvr>
                                      <p:to>
                                        <p:strVal val="visible"/>
                                      </p:to>
                                    </p:set>
                                    <p:animEffect transition="in" filter="fade">
                                      <p:cBhvr>
                                        <p:cTn id="127" dur="400"/>
                                        <p:tgtEl>
                                          <p:spTgt spid="24"/>
                                        </p:tgtEl>
                                      </p:cBhvr>
                                    </p:animEffect>
                                  </p:childTnLst>
                                </p:cTn>
                              </p:par>
                              <p:par>
                                <p:cTn id="128" presetID="10" presetClass="entr" presetSubtype="0" fill="hold" grpId="0" nodeType="withEffect">
                                  <p:stCondLst>
                                    <p:cond delay="560"/>
                                  </p:stCondLst>
                                  <p:childTnLst>
                                    <p:set>
                                      <p:cBhvr>
                                        <p:cTn id="129" dur="1" fill="hold">
                                          <p:stCondLst>
                                            <p:cond delay="0"/>
                                          </p:stCondLst>
                                        </p:cTn>
                                        <p:tgtEl>
                                          <p:spTgt spid="9"/>
                                        </p:tgtEl>
                                        <p:attrNameLst>
                                          <p:attrName>style.visibility</p:attrName>
                                        </p:attrNameLst>
                                      </p:cBhvr>
                                      <p:to>
                                        <p:strVal val="visible"/>
                                      </p:to>
                                    </p:set>
                                    <p:animEffect transition="in" filter="fade">
                                      <p:cBhvr>
                                        <p:cTn id="130" dur="400"/>
                                        <p:tgtEl>
                                          <p:spTgt spid="9"/>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17"/>
                                        </p:tgtEl>
                                        <p:attrNameLst>
                                          <p:attrName>style.visibility</p:attrName>
                                        </p:attrNameLst>
                                      </p:cBhvr>
                                      <p:to>
                                        <p:strVal val="visible"/>
                                      </p:to>
                                    </p:set>
                                    <p:animEffect transition="in" filter="fade">
                                      <p:cBhvr>
                                        <p:cTn id="133" dur="400"/>
                                        <p:tgtEl>
                                          <p:spTgt spid="17"/>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25"/>
                                        </p:tgtEl>
                                        <p:attrNameLst>
                                          <p:attrName>style.visibility</p:attrName>
                                        </p:attrNameLst>
                                      </p:cBhvr>
                                      <p:to>
                                        <p:strVal val="visible"/>
                                      </p:to>
                                    </p:set>
                                    <p:animEffect transition="in" filter="fade">
                                      <p:cBhvr>
                                        <p:cTn id="136" dur="400"/>
                                        <p:tgtEl>
                                          <p:spTgt spid="25"/>
                                        </p:tgtEl>
                                      </p:cBhvr>
                                    </p:animEffect>
                                  </p:childTnLst>
                                </p:cTn>
                              </p:par>
                              <p:par>
                                <p:cTn id="137" presetID="10" presetClass="entr" presetSubtype="0" fill="hold" grpId="0" nodeType="withEffect">
                                  <p:stCondLst>
                                    <p:cond delay="840"/>
                                  </p:stCondLst>
                                  <p:childTnLst>
                                    <p:set>
                                      <p:cBhvr>
                                        <p:cTn id="138" dur="1" fill="hold">
                                          <p:stCondLst>
                                            <p:cond delay="0"/>
                                          </p:stCondLst>
                                        </p:cTn>
                                        <p:tgtEl>
                                          <p:spTgt spid="10"/>
                                        </p:tgtEl>
                                        <p:attrNameLst>
                                          <p:attrName>style.visibility</p:attrName>
                                        </p:attrNameLst>
                                      </p:cBhvr>
                                      <p:to>
                                        <p:strVal val="visible"/>
                                      </p:to>
                                    </p:set>
                                    <p:animEffect transition="in" filter="fade">
                                      <p:cBhvr>
                                        <p:cTn id="139" dur="400"/>
                                        <p:tgtEl>
                                          <p:spTgt spid="10"/>
                                        </p:tgtEl>
                                      </p:cBhvr>
                                    </p:animEffect>
                                  </p:childTnLst>
                                </p:cTn>
                              </p:par>
                              <p:par>
                                <p:cTn id="140" presetID="10" presetClass="entr" presetSubtype="0" fill="hold" grpId="0" nodeType="withEffect">
                                  <p:stCondLst>
                                    <p:cond delay="840"/>
                                  </p:stCondLst>
                                  <p:childTnLst>
                                    <p:set>
                                      <p:cBhvr>
                                        <p:cTn id="141" dur="1" fill="hold">
                                          <p:stCondLst>
                                            <p:cond delay="0"/>
                                          </p:stCondLst>
                                        </p:cTn>
                                        <p:tgtEl>
                                          <p:spTgt spid="11"/>
                                        </p:tgtEl>
                                        <p:attrNameLst>
                                          <p:attrName>style.visibility</p:attrName>
                                        </p:attrNameLst>
                                      </p:cBhvr>
                                      <p:to>
                                        <p:strVal val="visible"/>
                                      </p:to>
                                    </p:set>
                                    <p:animEffect transition="in" filter="fade">
                                      <p:cBhvr>
                                        <p:cTn id="142" dur="400"/>
                                        <p:tgtEl>
                                          <p:spTgt spid="11"/>
                                        </p:tgtEl>
                                      </p:cBhvr>
                                    </p:animEffect>
                                  </p:childTnLst>
                                </p:cTn>
                              </p:par>
                              <p:par>
                                <p:cTn id="143" presetID="10" presetClass="entr" presetSubtype="0" fill="hold" grpId="0" nodeType="withEffect">
                                  <p:stCondLst>
                                    <p:cond delay="840"/>
                                  </p:stCondLst>
                                  <p:childTnLst>
                                    <p:set>
                                      <p:cBhvr>
                                        <p:cTn id="144" dur="1" fill="hold">
                                          <p:stCondLst>
                                            <p:cond delay="0"/>
                                          </p:stCondLst>
                                        </p:cTn>
                                        <p:tgtEl>
                                          <p:spTgt spid="12"/>
                                        </p:tgtEl>
                                        <p:attrNameLst>
                                          <p:attrName>style.visibility</p:attrName>
                                        </p:attrNameLst>
                                      </p:cBhvr>
                                      <p:to>
                                        <p:strVal val="visible"/>
                                      </p:to>
                                    </p:set>
                                    <p:animEffect transition="in" filter="fade">
                                      <p:cBhvr>
                                        <p:cTn id="145" dur="400"/>
                                        <p:tgtEl>
                                          <p:spTgt spid="12"/>
                                        </p:tgtEl>
                                      </p:cBhvr>
                                    </p:animEffect>
                                  </p:childTnLst>
                                </p:cTn>
                              </p:par>
                              <p:par>
                                <p:cTn id="146" presetID="10" presetClass="entr" presetSubtype="0" fill="hold" grpId="0" nodeType="withEffect">
                                  <p:stCondLst>
                                    <p:cond delay="840"/>
                                  </p:stCondLst>
                                  <p:childTnLst>
                                    <p:set>
                                      <p:cBhvr>
                                        <p:cTn id="147" dur="1" fill="hold">
                                          <p:stCondLst>
                                            <p:cond delay="0"/>
                                          </p:stCondLst>
                                        </p:cTn>
                                        <p:tgtEl>
                                          <p:spTgt spid="13"/>
                                        </p:tgtEl>
                                        <p:attrNameLst>
                                          <p:attrName>style.visibility</p:attrName>
                                        </p:attrNameLst>
                                      </p:cBhvr>
                                      <p:to>
                                        <p:strVal val="visible"/>
                                      </p:to>
                                    </p:set>
                                    <p:animEffect transition="in" filter="fade">
                                      <p:cBhvr>
                                        <p:cTn id="148" dur="400"/>
                                        <p:tgtEl>
                                          <p:spTgt spid="13"/>
                                        </p:tgtEl>
                                      </p:cBhvr>
                                    </p:animEffect>
                                  </p:childTnLst>
                                </p:cTn>
                              </p:par>
                              <p:par>
                                <p:cTn id="149" presetID="10" presetClass="entr" presetSubtype="0" fill="hold" grpId="0" nodeType="withEffect">
                                  <p:stCondLst>
                                    <p:cond delay="840"/>
                                  </p:stCondLst>
                                  <p:childTnLst>
                                    <p:set>
                                      <p:cBhvr>
                                        <p:cTn id="150" dur="1" fill="hold">
                                          <p:stCondLst>
                                            <p:cond delay="0"/>
                                          </p:stCondLst>
                                        </p:cTn>
                                        <p:tgtEl>
                                          <p:spTgt spid="18"/>
                                        </p:tgtEl>
                                        <p:attrNameLst>
                                          <p:attrName>style.visibility</p:attrName>
                                        </p:attrNameLst>
                                      </p:cBhvr>
                                      <p:to>
                                        <p:strVal val="visible"/>
                                      </p:to>
                                    </p:set>
                                    <p:animEffect transition="in" filter="fade">
                                      <p:cBhvr>
                                        <p:cTn id="151" dur="400"/>
                                        <p:tgtEl>
                                          <p:spTgt spid="18"/>
                                        </p:tgtEl>
                                      </p:cBhvr>
                                    </p:animEffect>
                                  </p:childTnLst>
                                </p:cTn>
                              </p:par>
                              <p:par>
                                <p:cTn id="152" presetID="10" presetClass="entr" presetSubtype="0" fill="hold" grpId="0" nodeType="withEffect">
                                  <p:stCondLst>
                                    <p:cond delay="840"/>
                                  </p:stCondLst>
                                  <p:childTnLst>
                                    <p:set>
                                      <p:cBhvr>
                                        <p:cTn id="153" dur="1" fill="hold">
                                          <p:stCondLst>
                                            <p:cond delay="0"/>
                                          </p:stCondLst>
                                        </p:cTn>
                                        <p:tgtEl>
                                          <p:spTgt spid="19"/>
                                        </p:tgtEl>
                                        <p:attrNameLst>
                                          <p:attrName>style.visibility</p:attrName>
                                        </p:attrNameLst>
                                      </p:cBhvr>
                                      <p:to>
                                        <p:strVal val="visible"/>
                                      </p:to>
                                    </p:set>
                                    <p:animEffect transition="in" filter="fade">
                                      <p:cBhvr>
                                        <p:cTn id="154" dur="400"/>
                                        <p:tgtEl>
                                          <p:spTgt spid="19"/>
                                        </p:tgtEl>
                                      </p:cBhvr>
                                    </p:animEffect>
                                  </p:childTnLst>
                                </p:cTn>
                              </p:par>
                              <p:par>
                                <p:cTn id="155" presetID="10" presetClass="entr" presetSubtype="0" fill="hold" grpId="0" nodeType="withEffect">
                                  <p:stCondLst>
                                    <p:cond delay="840"/>
                                  </p:stCondLst>
                                  <p:childTnLst>
                                    <p:set>
                                      <p:cBhvr>
                                        <p:cTn id="156" dur="1" fill="hold">
                                          <p:stCondLst>
                                            <p:cond delay="0"/>
                                          </p:stCondLst>
                                        </p:cTn>
                                        <p:tgtEl>
                                          <p:spTgt spid="20"/>
                                        </p:tgtEl>
                                        <p:attrNameLst>
                                          <p:attrName>style.visibility</p:attrName>
                                        </p:attrNameLst>
                                      </p:cBhvr>
                                      <p:to>
                                        <p:strVal val="visible"/>
                                      </p:to>
                                    </p:set>
                                    <p:animEffect transition="in" filter="fade">
                                      <p:cBhvr>
                                        <p:cTn id="157" dur="400"/>
                                        <p:tgtEl>
                                          <p:spTgt spid="20"/>
                                        </p:tgtEl>
                                      </p:cBhvr>
                                    </p:animEffect>
                                  </p:childTnLst>
                                </p:cTn>
                              </p:par>
                              <p:par>
                                <p:cTn id="158" presetID="10" presetClass="entr" presetSubtype="0" fill="hold" grpId="0" nodeType="withEffect">
                                  <p:stCondLst>
                                    <p:cond delay="840"/>
                                  </p:stCondLst>
                                  <p:childTnLst>
                                    <p:set>
                                      <p:cBhvr>
                                        <p:cTn id="159" dur="1" fill="hold">
                                          <p:stCondLst>
                                            <p:cond delay="0"/>
                                          </p:stCondLst>
                                        </p:cTn>
                                        <p:tgtEl>
                                          <p:spTgt spid="21"/>
                                        </p:tgtEl>
                                        <p:attrNameLst>
                                          <p:attrName>style.visibility</p:attrName>
                                        </p:attrNameLst>
                                      </p:cBhvr>
                                      <p:to>
                                        <p:strVal val="visible"/>
                                      </p:to>
                                    </p:set>
                                    <p:animEffect transition="in" filter="fade">
                                      <p:cBhvr>
                                        <p:cTn id="160" dur="400"/>
                                        <p:tgtEl>
                                          <p:spTgt spid="21"/>
                                        </p:tgtEl>
                                      </p:cBhvr>
                                    </p:animEffect>
                                  </p:childTnLst>
                                </p:cTn>
                              </p:par>
                              <p:par>
                                <p:cTn id="161" presetID="10" presetClass="entr" presetSubtype="0" fill="hold" grpId="0" nodeType="withEffect">
                                  <p:stCondLst>
                                    <p:cond delay="840"/>
                                  </p:stCondLst>
                                  <p:childTnLst>
                                    <p:set>
                                      <p:cBhvr>
                                        <p:cTn id="162" dur="1" fill="hold">
                                          <p:stCondLst>
                                            <p:cond delay="0"/>
                                          </p:stCondLst>
                                        </p:cTn>
                                        <p:tgtEl>
                                          <p:spTgt spid="26"/>
                                        </p:tgtEl>
                                        <p:attrNameLst>
                                          <p:attrName>style.visibility</p:attrName>
                                        </p:attrNameLst>
                                      </p:cBhvr>
                                      <p:to>
                                        <p:strVal val="visible"/>
                                      </p:to>
                                    </p:set>
                                    <p:animEffect transition="in" filter="fade">
                                      <p:cBhvr>
                                        <p:cTn id="163" dur="400"/>
                                        <p:tgtEl>
                                          <p:spTgt spid="26"/>
                                        </p:tgtEl>
                                      </p:cBhvr>
                                    </p:animEffect>
                                  </p:childTnLst>
                                </p:cTn>
                              </p:par>
                              <p:par>
                                <p:cTn id="164" presetID="10" presetClass="entr" presetSubtype="0" fill="hold" grpId="0" nodeType="withEffect">
                                  <p:stCondLst>
                                    <p:cond delay="840"/>
                                  </p:stCondLst>
                                  <p:childTnLst>
                                    <p:set>
                                      <p:cBhvr>
                                        <p:cTn id="165" dur="1" fill="hold">
                                          <p:stCondLst>
                                            <p:cond delay="0"/>
                                          </p:stCondLst>
                                        </p:cTn>
                                        <p:tgtEl>
                                          <p:spTgt spid="27"/>
                                        </p:tgtEl>
                                        <p:attrNameLst>
                                          <p:attrName>style.visibility</p:attrName>
                                        </p:attrNameLst>
                                      </p:cBhvr>
                                      <p:to>
                                        <p:strVal val="visible"/>
                                      </p:to>
                                    </p:set>
                                    <p:animEffect transition="in" filter="fade">
                                      <p:cBhvr>
                                        <p:cTn id="166" dur="400"/>
                                        <p:tgtEl>
                                          <p:spTgt spid="27"/>
                                        </p:tgtEl>
                                      </p:cBhvr>
                                    </p:animEffect>
                                  </p:childTnLst>
                                </p:cTn>
                              </p:par>
                              <p:par>
                                <p:cTn id="167" presetID="10" presetClass="entr" presetSubtype="0" fill="hold" grpId="0" nodeType="withEffect">
                                  <p:stCondLst>
                                    <p:cond delay="840"/>
                                  </p:stCondLst>
                                  <p:childTnLst>
                                    <p:set>
                                      <p:cBhvr>
                                        <p:cTn id="168" dur="1" fill="hold">
                                          <p:stCondLst>
                                            <p:cond delay="0"/>
                                          </p:stCondLst>
                                        </p:cTn>
                                        <p:tgtEl>
                                          <p:spTgt spid="28"/>
                                        </p:tgtEl>
                                        <p:attrNameLst>
                                          <p:attrName>style.visibility</p:attrName>
                                        </p:attrNameLst>
                                      </p:cBhvr>
                                      <p:to>
                                        <p:strVal val="visible"/>
                                      </p:to>
                                    </p:set>
                                    <p:animEffect transition="in" filter="fade">
                                      <p:cBhvr>
                                        <p:cTn id="169" dur="400"/>
                                        <p:tgtEl>
                                          <p:spTgt spid="28"/>
                                        </p:tgtEl>
                                      </p:cBhvr>
                                    </p:animEffect>
                                  </p:childTnLst>
                                </p:cTn>
                              </p:par>
                              <p:par>
                                <p:cTn id="170" presetID="10" presetClass="entr" presetSubtype="0" fill="hold" grpId="0" nodeType="withEffect">
                                  <p:stCondLst>
                                    <p:cond delay="840"/>
                                  </p:stCondLst>
                                  <p:childTnLst>
                                    <p:set>
                                      <p:cBhvr>
                                        <p:cTn id="171" dur="1" fill="hold">
                                          <p:stCondLst>
                                            <p:cond delay="0"/>
                                          </p:stCondLst>
                                        </p:cTn>
                                        <p:tgtEl>
                                          <p:spTgt spid="29"/>
                                        </p:tgtEl>
                                        <p:attrNameLst>
                                          <p:attrName>style.visibility</p:attrName>
                                        </p:attrNameLst>
                                      </p:cBhvr>
                                      <p:to>
                                        <p:strVal val="visible"/>
                                      </p:to>
                                    </p:set>
                                    <p:animEffect transition="in" filter="fade">
                                      <p:cBhvr>
                                        <p:cTn id="172" dur="400"/>
                                        <p:tgtEl>
                                          <p:spTgt spid="29"/>
                                        </p:tgtEl>
                                      </p:cBhvr>
                                    </p:animEffect>
                                  </p:childTnLst>
                                </p:cTn>
                              </p:par>
                              <p:par>
                                <p:cTn id="173" presetID="10" presetClass="entr" presetSubtype="0" fill="hold" grpId="0" nodeType="withEffect">
                                  <p:stCondLst>
                                    <p:cond delay="1120"/>
                                  </p:stCondLst>
                                  <p:childTnLst>
                                    <p:set>
                                      <p:cBhvr>
                                        <p:cTn id="174" dur="1" fill="hold">
                                          <p:stCondLst>
                                            <p:cond delay="0"/>
                                          </p:stCondLst>
                                        </p:cTn>
                                        <p:tgtEl>
                                          <p:spTgt spid="30"/>
                                        </p:tgtEl>
                                        <p:attrNameLst>
                                          <p:attrName>style.visibility</p:attrName>
                                        </p:attrNameLst>
                                      </p:cBhvr>
                                      <p:to>
                                        <p:strVal val="visible"/>
                                      </p:to>
                                    </p:set>
                                    <p:animEffect transition="in" filter="fade">
                                      <p:cBhvr>
                                        <p:cTn id="17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9184"/>
            <a:ext cx="8138160" cy="201168"/>
          </a:xfrm>
          <a:prstGeom prst="rect">
            <a:avLst/>
          </a:prstGeom>
          <a:noFill/>
          <a:ln/>
        </p:spPr>
        <p:txBody>
          <a:bodyPr wrap="square" lIns="0" tIns="0" rIns="0" bIns="0" rtlCol="0" anchor="ctr"/>
          <a:lstStyle/>
          <a:p>
            <a:pPr indent="0" marL="0">
              <a:buNone/>
            </a:pPr>
            <a:r>
              <a:rPr lang="en-US" sz="900" spc="160" kern="0" dirty="0">
                <a:solidFill>
                  <a:srgbClr val="028090"/>
                </a:solidFill>
                <a:latin typeface="Segoe UI Semibold" pitchFamily="34" charset="0"/>
                <a:ea typeface="Segoe UI Semibold" pitchFamily="34" charset="-122"/>
                <a:cs typeface="Segoe UI Semibold" pitchFamily="34" charset="-120"/>
              </a:rPr>
              <a:t>18  ·  PHỤ LỤC KỸ THUẬT</a:t>
            </a:r>
            <a:endParaRPr lang="en-US" sz="900" dirty="0"/>
          </a:p>
        </p:txBody>
      </p:sp>
      <p:sp>
        <p:nvSpPr>
          <p:cNvPr id="3" name="Text 1"/>
          <p:cNvSpPr/>
          <p:nvPr/>
        </p:nvSpPr>
        <p:spPr>
          <a:xfrm>
            <a:off x="502920" y="512064"/>
            <a:ext cx="8138160" cy="658368"/>
          </a:xfrm>
          <a:prstGeom prst="rect">
            <a:avLst/>
          </a:prstGeom>
          <a:noFill/>
          <a:ln/>
        </p:spPr>
        <p:txBody>
          <a:bodyPr wrap="square" lIns="0" tIns="0" rIns="0" bIns="0" rtlCol="0" anchor="ctr"/>
          <a:lstStyle/>
          <a:p>
            <a:pPr indent="0" marL="0">
              <a:lnSpc>
                <a:spcPct val="105000"/>
              </a:lnSpc>
              <a:buNone/>
            </a:pPr>
            <a:r>
              <a:rPr lang="en-US" sz="1950" dirty="0">
                <a:solidFill>
                  <a:srgbClr val="21295C"/>
                </a:solidFill>
                <a:latin typeface="Segoe UI Semibold" pitchFamily="34" charset="0"/>
                <a:ea typeface="Segoe UI Semibold" pitchFamily="34" charset="-122"/>
                <a:cs typeface="Segoe UI Semibold" pitchFamily="34" charset="-120"/>
              </a:rPr>
              <a:t>Phụ lục Kỹ thuật: Cấu trúc Module &amp; Kiểm thử Đơn vị (Unit Tests)</a:t>
            </a:r>
            <a:endParaRPr lang="en-US" sz="1950" dirty="0"/>
          </a:p>
        </p:txBody>
      </p:sp>
      <p:sp>
        <p:nvSpPr>
          <p:cNvPr id="4" name="Text 2"/>
          <p:cNvSpPr/>
          <p:nvPr/>
        </p:nvSpPr>
        <p:spPr>
          <a:xfrm>
            <a:off x="502920" y="4754880"/>
            <a:ext cx="5943600" cy="182880"/>
          </a:xfrm>
          <a:prstGeom prst="rect">
            <a:avLst/>
          </a:prstGeom>
          <a:noFill/>
          <a:ln/>
        </p:spPr>
        <p:txBody>
          <a:bodyPr wrap="square" lIns="0" tIns="0" rIns="0" bIns="0" rtlCol="0" anchor="ctr"/>
          <a:lstStyle/>
          <a:p>
            <a:pPr indent="0" marL="0">
              <a:buNone/>
            </a:pPr>
            <a:r>
              <a:rPr lang="en-US" sz="800" dirty="0">
                <a:solidFill>
                  <a:srgbClr val="5F7186"/>
                </a:solidFill>
                <a:latin typeface="Segoe UI" pitchFamily="34" charset="0"/>
                <a:ea typeface="Segoe UI" pitchFamily="34" charset="-122"/>
                <a:cs typeface="Segoe UI" pitchFamily="34" charset="-120"/>
              </a:rPr>
              <a:t>Xử lý ảnh số  ·  Phân đoạn khối u não MRI</a:t>
            </a:r>
            <a:endParaRPr lang="en-US" sz="800" dirty="0"/>
          </a:p>
        </p:txBody>
      </p:sp>
      <p:sp>
        <p:nvSpPr>
          <p:cNvPr id="5" name="Text 3"/>
          <p:cNvSpPr/>
          <p:nvPr/>
        </p:nvSpPr>
        <p:spPr>
          <a:xfrm>
            <a:off x="7635240" y="4754880"/>
            <a:ext cx="1005840" cy="182880"/>
          </a:xfrm>
          <a:prstGeom prst="rect">
            <a:avLst/>
          </a:prstGeom>
          <a:noFill/>
          <a:ln/>
        </p:spPr>
        <p:txBody>
          <a:bodyPr wrap="square" lIns="0" tIns="0" rIns="0" bIns="0" rtlCol="0" anchor="ctr"/>
          <a:lstStyle/>
          <a:p>
            <a:pPr algn="r" indent="0" marL="0">
              <a:buNone/>
            </a:pPr>
            <a:r>
              <a:rPr lang="en-US" sz="800" dirty="0">
                <a:solidFill>
                  <a:srgbClr val="5F7186"/>
                </a:solidFill>
                <a:latin typeface="Segoe UI" pitchFamily="34" charset="0"/>
                <a:ea typeface="Segoe UI" pitchFamily="34" charset="-122"/>
                <a:cs typeface="Segoe UI" pitchFamily="34" charset="-120"/>
              </a:rPr>
              <a:t>19 / 20</a:t>
            </a:r>
            <a:endParaRPr lang="en-US" sz="800" dirty="0"/>
          </a:p>
        </p:txBody>
      </p:sp>
      <p:sp>
        <p:nvSpPr>
          <p:cNvPr id="6" name="Shape 4"/>
          <p:cNvSpPr/>
          <p:nvPr/>
        </p:nvSpPr>
        <p:spPr>
          <a:xfrm>
            <a:off x="502920" y="1243584"/>
            <a:ext cx="4224528" cy="3310128"/>
          </a:xfrm>
          <a:prstGeom prst="roundRect">
            <a:avLst>
              <a:gd name="adj" fmla="val 1657"/>
            </a:avLst>
          </a:prstGeom>
          <a:solidFill>
            <a:srgbClr val="FFFFFF"/>
          </a:solidFill>
          <a:ln w="9525">
            <a:solidFill>
              <a:srgbClr val="D1E3E8"/>
            </a:solidFill>
            <a:prstDash val="solid"/>
          </a:ln>
          <a:effectLst>
            <a:outerShdw sx="100000" sy="100000" kx="0" ky="0" algn="bl" rotWithShape="0" blurRad="3.3826203168626813e+246" dist="1.6913101584313407e+246" dir="4.3986310182620354e+288">
              <a:srgbClr val="0B2B3C">
                <a:alpha val="9.999999999999997e+298"/>
              </a:srgbClr>
            </a:outerShdw>
          </a:effectLst>
        </p:spPr>
      </p:sp>
      <p:sp>
        <p:nvSpPr>
          <p:cNvPr id="7" name="Text 5"/>
          <p:cNvSpPr/>
          <p:nvPr/>
        </p:nvSpPr>
        <p:spPr>
          <a:xfrm>
            <a:off x="704088" y="1353312"/>
            <a:ext cx="2743200" cy="182880"/>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SƠ ĐỒ MODULE</a:t>
            </a:r>
            <a:endParaRPr lang="en-US" sz="850" dirty="0"/>
          </a:p>
        </p:txBody>
      </p:sp>
      <p:sp>
        <p:nvSpPr>
          <p:cNvPr id="8" name="Text 6"/>
          <p:cNvSpPr/>
          <p:nvPr/>
        </p:nvSpPr>
        <p:spPr>
          <a:xfrm>
            <a:off x="740664" y="1591056"/>
            <a:ext cx="3749040" cy="2834640"/>
          </a:xfrm>
          <a:prstGeom prst="rect">
            <a:avLst/>
          </a:prstGeom>
          <a:noFill/>
          <a:ln/>
        </p:spPr>
        <p:txBody>
          <a:bodyPr wrap="square" lIns="0" tIns="0" rIns="0" bIns="0" rtlCol="0" anchor="t"/>
          <a:lstStyle/>
          <a:p>
            <a:pPr indent="0" marL="0">
              <a:lnSpc>
                <a:spcPct val="118000"/>
              </a:lnSpc>
              <a:spcAft>
                <a:spcPts val="100"/>
              </a:spcAft>
              <a:buNone/>
            </a:pPr>
            <a:r>
              <a:rPr lang="en-US" sz="950" b="1" dirty="0">
                <a:solidFill>
                  <a:srgbClr val="065A82"/>
                </a:solidFill>
                <a:latin typeface="Courier New" pitchFamily="34" charset="0"/>
                <a:ea typeface="Courier New" pitchFamily="34" charset="-122"/>
                <a:cs typeface="Courier New" pitchFamily="34" charset="-120"/>
              </a:rPr>
              <a:t>src/</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pipeline.py</a:t>
            </a:r>
            <a:endParaRPr lang="en-US" sz="950" dirty="0"/>
          </a:p>
          <a:p>
            <a:pPr indent="0" marL="0">
              <a:lnSpc>
                <a:spcPct val="118000"/>
              </a:lnSpc>
              <a:spcAft>
                <a:spcPts val="100"/>
              </a:spcAft>
              <a:buNone/>
            </a:pPr>
            <a:r>
              <a:rPr lang="en-US" sz="950" b="1" dirty="0">
                <a:solidFill>
                  <a:srgbClr val="065A82"/>
                </a:solidFill>
                <a:latin typeface="Courier New" pitchFamily="34" charset="0"/>
                <a:ea typeface="Courier New" pitchFamily="34" charset="-122"/>
                <a:cs typeface="Courier New" pitchFamily="34" charset="-120"/>
              </a:rPr>
              <a:t>    preprocessing/</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filters.py</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skull_strip.py</a:t>
            </a:r>
            <a:endParaRPr lang="en-US" sz="950" dirty="0"/>
          </a:p>
          <a:p>
            <a:pPr indent="0" marL="0">
              <a:lnSpc>
                <a:spcPct val="118000"/>
              </a:lnSpc>
              <a:spcAft>
                <a:spcPts val="100"/>
              </a:spcAft>
              <a:buNone/>
            </a:pPr>
            <a:r>
              <a:rPr lang="en-US" sz="950" b="1" dirty="0">
                <a:solidFill>
                  <a:srgbClr val="065A82"/>
                </a:solidFill>
                <a:latin typeface="Courier New" pitchFamily="34" charset="0"/>
                <a:ea typeface="Courier New" pitchFamily="34" charset="-122"/>
                <a:cs typeface="Courier New" pitchFamily="34" charset="-120"/>
              </a:rPr>
              <a:t>    segmentation/</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watershed.py</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region_growing.py</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base.py</a:t>
            </a:r>
            <a:endParaRPr lang="en-US" sz="950" dirty="0"/>
          </a:p>
          <a:p>
            <a:pPr indent="0" marL="0">
              <a:lnSpc>
                <a:spcPct val="118000"/>
              </a:lnSpc>
              <a:spcAft>
                <a:spcPts val="100"/>
              </a:spcAft>
              <a:buNone/>
            </a:pPr>
            <a:r>
              <a:rPr lang="en-US" sz="950" b="1" dirty="0">
                <a:solidFill>
                  <a:srgbClr val="065A82"/>
                </a:solidFill>
                <a:latin typeface="Courier New" pitchFamily="34" charset="0"/>
                <a:ea typeface="Courier New" pitchFamily="34" charset="-122"/>
                <a:cs typeface="Courier New" pitchFamily="34" charset="-120"/>
              </a:rPr>
              <a:t>    measurement/</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features.py</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visualization.py</a:t>
            </a:r>
            <a:endParaRPr lang="en-US" sz="950" dirty="0"/>
          </a:p>
          <a:p>
            <a:pPr indent="0" marL="0">
              <a:lnSpc>
                <a:spcPct val="118000"/>
              </a:lnSpc>
              <a:spcAft>
                <a:spcPts val="100"/>
              </a:spcAft>
              <a:buNone/>
            </a:pPr>
            <a:r>
              <a:rPr lang="en-US" sz="950" b="1" dirty="0">
                <a:solidFill>
                  <a:srgbClr val="065A82"/>
                </a:solidFill>
                <a:latin typeface="Courier New" pitchFamily="34" charset="0"/>
                <a:ea typeface="Courier New" pitchFamily="34" charset="-122"/>
                <a:cs typeface="Courier New" pitchFamily="34" charset="-120"/>
              </a:rPr>
              <a:t>    evaluation/</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metrics.py</a:t>
            </a:r>
            <a:endParaRPr lang="en-US" sz="950" dirty="0"/>
          </a:p>
          <a:p>
            <a:pPr indent="0" marL="0">
              <a:lnSpc>
                <a:spcPct val="118000"/>
              </a:lnSpc>
              <a:spcAft>
                <a:spcPts val="100"/>
              </a:spcAft>
              <a:buNone/>
            </a:pPr>
            <a:r>
              <a:rPr lang="en-US" sz="950" dirty="0">
                <a:solidFill>
                  <a:srgbClr val="1E293B"/>
                </a:solidFill>
                <a:latin typeface="Courier New" pitchFamily="34" charset="0"/>
                <a:ea typeface="Courier New" pitchFamily="34" charset="-122"/>
                <a:cs typeface="Courier New" pitchFamily="34" charset="-120"/>
              </a:rPr>
              <a:t>        benchmark.py</a:t>
            </a:r>
            <a:endParaRPr lang="en-US" sz="950" dirty="0"/>
          </a:p>
        </p:txBody>
      </p:sp>
      <p:sp>
        <p:nvSpPr>
          <p:cNvPr id="9" name="Shape 7"/>
          <p:cNvSpPr/>
          <p:nvPr/>
        </p:nvSpPr>
        <p:spPr>
          <a:xfrm>
            <a:off x="4937760" y="1243584"/>
            <a:ext cx="3703320" cy="3310128"/>
          </a:xfrm>
          <a:prstGeom prst="roundRect">
            <a:avLst>
              <a:gd name="adj" fmla="val 1657"/>
            </a:avLst>
          </a:prstGeom>
          <a:solidFill>
            <a:srgbClr val="FFFFFF"/>
          </a:solidFill>
          <a:ln w="9525">
            <a:solidFill>
              <a:srgbClr val="D1E3E8"/>
            </a:solidFill>
            <a:prstDash val="solid"/>
          </a:ln>
          <a:effectLst>
            <a:outerShdw sx="100000" sy="100000" kx="0" ky="0" algn="bl" rotWithShape="0" blurRad="4.295927802415605e+250" dist="2.1479639012078026e+250" dir="2.6391786109572213e+293">
              <a:srgbClr val="0B2B3C">
                <a:alpha val="9.999999999999997e+303"/>
              </a:srgbClr>
            </a:outerShdw>
          </a:effectLst>
        </p:spPr>
      </p:sp>
      <p:sp>
        <p:nvSpPr>
          <p:cNvPr id="10" name="Text 8"/>
          <p:cNvSpPr/>
          <p:nvPr/>
        </p:nvSpPr>
        <p:spPr>
          <a:xfrm>
            <a:off x="5120640" y="1353312"/>
            <a:ext cx="2743200" cy="182880"/>
          </a:xfrm>
          <a:prstGeom prst="rect">
            <a:avLst/>
          </a:prstGeom>
          <a:noFill/>
          <a:ln/>
        </p:spPr>
        <p:txBody>
          <a:bodyPr wrap="square" lIns="0" tIns="0" rIns="0" bIns="0" rtlCol="0" anchor="ctr"/>
          <a:lstStyle/>
          <a:p>
            <a:pPr indent="0" marL="0">
              <a:buNone/>
            </a:pPr>
            <a:r>
              <a:rPr lang="en-US" sz="850" spc="120" kern="0" dirty="0">
                <a:solidFill>
                  <a:srgbClr val="028090"/>
                </a:solidFill>
                <a:latin typeface="Segoe UI Semibold" pitchFamily="34" charset="0"/>
                <a:ea typeface="Segoe UI Semibold" pitchFamily="34" charset="-122"/>
                <a:cs typeface="Segoe UI Semibold" pitchFamily="34" charset="-120"/>
              </a:rPr>
              <a:t>KIỂM THỬ ĐƠN VỊ</a:t>
            </a:r>
            <a:endParaRPr lang="en-US" sz="850" dirty="0"/>
          </a:p>
        </p:txBody>
      </p:sp>
      <p:sp>
        <p:nvSpPr>
          <p:cNvPr id="11" name="Text 9"/>
          <p:cNvSpPr/>
          <p:nvPr/>
        </p:nvSpPr>
        <p:spPr>
          <a:xfrm>
            <a:off x="5120640" y="1572768"/>
            <a:ext cx="1691640" cy="475488"/>
          </a:xfrm>
          <a:prstGeom prst="rect">
            <a:avLst/>
          </a:prstGeom>
          <a:noFill/>
          <a:ln/>
        </p:spPr>
        <p:txBody>
          <a:bodyPr wrap="square" lIns="0" tIns="0" rIns="0" bIns="0" rtlCol="0" anchor="ctr"/>
          <a:lstStyle/>
          <a:p>
            <a:pPr indent="0" marL="0">
              <a:buNone/>
            </a:pPr>
            <a:r>
              <a:rPr lang="en-US" sz="3000" dirty="0">
                <a:solidFill>
                  <a:srgbClr val="00A896"/>
                </a:solidFill>
                <a:latin typeface="Segoe UI Semibold" pitchFamily="34" charset="0"/>
                <a:ea typeface="Segoe UI Semibold" pitchFamily="34" charset="-122"/>
                <a:cs typeface="Segoe UI Semibold" pitchFamily="34" charset="-120"/>
              </a:rPr>
              <a:t>26/26</a:t>
            </a:r>
            <a:endParaRPr lang="en-US" sz="3000" dirty="0"/>
          </a:p>
        </p:txBody>
      </p:sp>
      <p:sp>
        <p:nvSpPr>
          <p:cNvPr id="12" name="Text 10"/>
          <p:cNvSpPr/>
          <p:nvPr/>
        </p:nvSpPr>
        <p:spPr>
          <a:xfrm>
            <a:off x="6858000" y="1609344"/>
            <a:ext cx="1645920" cy="219456"/>
          </a:xfrm>
          <a:prstGeom prst="rect">
            <a:avLst/>
          </a:prstGeom>
          <a:noFill/>
          <a:ln/>
        </p:spPr>
        <p:txBody>
          <a:bodyPr wrap="square" lIns="0" tIns="0" rIns="0" bIns="0" rtlCol="0" anchor="ctr"/>
          <a:lstStyle/>
          <a:p>
            <a:pPr indent="0" marL="0">
              <a:buNone/>
            </a:pPr>
            <a:r>
              <a:rPr lang="en-US" sz="900" dirty="0">
                <a:solidFill>
                  <a:srgbClr val="5F7186"/>
                </a:solidFill>
                <a:latin typeface="Segoe UI" pitchFamily="34" charset="0"/>
                <a:ea typeface="Segoe UI" pitchFamily="34" charset="-122"/>
                <a:cs typeface="Segoe UI" pitchFamily="34" charset="-120"/>
              </a:rPr>
              <a:t>test cases PASSED</a:t>
            </a:r>
            <a:endParaRPr lang="en-US" sz="900" dirty="0"/>
          </a:p>
        </p:txBody>
      </p:sp>
      <p:sp>
        <p:nvSpPr>
          <p:cNvPr id="13" name="Text 11"/>
          <p:cNvSpPr/>
          <p:nvPr/>
        </p:nvSpPr>
        <p:spPr>
          <a:xfrm>
            <a:off x="6858000" y="1828800"/>
            <a:ext cx="1645920" cy="274320"/>
          </a:xfrm>
          <a:prstGeom prst="rect">
            <a:avLst/>
          </a:prstGeom>
          <a:noFill/>
          <a:ln/>
        </p:spPr>
        <p:txBody>
          <a:bodyPr wrap="square" lIns="0" tIns="0" rIns="0" bIns="0" rtlCol="0" anchor="t"/>
          <a:lstStyle/>
          <a:p>
            <a:pPr indent="0" marL="0">
              <a:lnSpc>
                <a:spcPct val="110000"/>
              </a:lnSpc>
              <a:buNone/>
            </a:pPr>
            <a:r>
              <a:rPr lang="en-US" sz="800" dirty="0">
                <a:solidFill>
                  <a:srgbClr val="5F7186"/>
                </a:solidFill>
                <a:latin typeface="Segoe UI" pitchFamily="34" charset="0"/>
                <a:ea typeface="Segoe UI" pitchFamily="34" charset="-122"/>
                <a:cs typeface="Segoe UI" pitchFamily="34" charset="-120"/>
              </a:rPr>
              <a:t>Không hồi quy · Bảo toàn 7 bất biến dữ liệu I1–I7</a:t>
            </a:r>
            <a:endParaRPr lang="en-US" sz="800" dirty="0"/>
          </a:p>
        </p:txBody>
      </p:sp>
      <p:sp>
        <p:nvSpPr>
          <p:cNvPr id="14" name="Text 12"/>
          <p:cNvSpPr/>
          <p:nvPr/>
        </p:nvSpPr>
        <p:spPr>
          <a:xfrm>
            <a:off x="5120640" y="2231136"/>
            <a:ext cx="1234440" cy="201168"/>
          </a:xfrm>
          <a:prstGeom prst="rect">
            <a:avLst/>
          </a:prstGeom>
          <a:noFill/>
          <a:ln/>
        </p:spPr>
        <p:txBody>
          <a:bodyPr wrap="square" lIns="0" tIns="0" rIns="0" bIns="0" rtlCol="0" anchor="ctr"/>
          <a:lstStyle/>
          <a:p>
            <a:pPr indent="0" marL="0">
              <a:buNone/>
            </a:pPr>
            <a:r>
              <a:rPr lang="en-US" sz="850" dirty="0">
                <a:solidFill>
                  <a:srgbClr val="1E293B"/>
                </a:solidFill>
                <a:latin typeface="Segoe UI" pitchFamily="34" charset="0"/>
                <a:ea typeface="Segoe UI" pitchFamily="34" charset="-122"/>
                <a:cs typeface="Segoe UI" pitchFamily="34" charset="-120"/>
              </a:rPr>
              <a:t>metrics</a:t>
            </a:r>
            <a:endParaRPr lang="en-US" sz="850" dirty="0"/>
          </a:p>
        </p:txBody>
      </p:sp>
      <p:sp>
        <p:nvSpPr>
          <p:cNvPr id="15" name="Shape 13"/>
          <p:cNvSpPr/>
          <p:nvPr/>
        </p:nvSpPr>
        <p:spPr>
          <a:xfrm>
            <a:off x="6355080" y="2267712"/>
            <a:ext cx="1463040" cy="146304"/>
          </a:xfrm>
          <a:prstGeom prst="roundRect">
            <a:avLst>
              <a:gd name="adj" fmla="val 18750"/>
            </a:avLst>
          </a:prstGeom>
          <a:solidFill>
            <a:srgbClr val="EBF4F6"/>
          </a:solidFill>
          <a:ln w="6350">
            <a:solidFill>
              <a:srgbClr val="EBF4F6"/>
            </a:solidFill>
            <a:prstDash val="solid"/>
          </a:ln>
        </p:spPr>
      </p:sp>
      <p:sp>
        <p:nvSpPr>
          <p:cNvPr id="16" name="Shape 14"/>
          <p:cNvSpPr/>
          <p:nvPr/>
        </p:nvSpPr>
        <p:spPr>
          <a:xfrm>
            <a:off x="6355080" y="2267712"/>
            <a:ext cx="1463040" cy="146304"/>
          </a:xfrm>
          <a:prstGeom prst="roundRect">
            <a:avLst>
              <a:gd name="adj" fmla="val 18750"/>
            </a:avLst>
          </a:prstGeom>
          <a:solidFill>
            <a:srgbClr val="065A82"/>
          </a:solidFill>
          <a:ln w="6350">
            <a:solidFill>
              <a:srgbClr val="065A82"/>
            </a:solidFill>
            <a:prstDash val="solid"/>
          </a:ln>
        </p:spPr>
      </p:sp>
      <p:sp>
        <p:nvSpPr>
          <p:cNvPr id="17" name="Text 15"/>
          <p:cNvSpPr/>
          <p:nvPr/>
        </p:nvSpPr>
        <p:spPr>
          <a:xfrm>
            <a:off x="7909560" y="2231136"/>
            <a:ext cx="502920" cy="201168"/>
          </a:xfrm>
          <a:prstGeom prst="rect">
            <a:avLst/>
          </a:prstGeom>
          <a:noFill/>
          <a:ln/>
        </p:spPr>
        <p:txBody>
          <a:bodyPr wrap="square" lIns="0" tIns="0" rIns="0" bIns="0" rtlCol="0" anchor="ctr"/>
          <a:lstStyle/>
          <a:p>
            <a:pPr algn="r" indent="0" marL="0">
              <a:buNone/>
            </a:pPr>
            <a:r>
              <a:rPr lang="en-US" sz="850" dirty="0">
                <a:solidFill>
                  <a:srgbClr val="065A82"/>
                </a:solidFill>
                <a:latin typeface="Segoe UI Semibold" pitchFamily="34" charset="0"/>
                <a:ea typeface="Segoe UI Semibold" pitchFamily="34" charset="-122"/>
                <a:cs typeface="Segoe UI Semibold" pitchFamily="34" charset="-120"/>
              </a:rPr>
              <a:t>7</a:t>
            </a:r>
            <a:endParaRPr lang="en-US" sz="850" dirty="0"/>
          </a:p>
        </p:txBody>
      </p:sp>
      <p:sp>
        <p:nvSpPr>
          <p:cNvPr id="18" name="Text 16"/>
          <p:cNvSpPr/>
          <p:nvPr/>
        </p:nvSpPr>
        <p:spPr>
          <a:xfrm>
            <a:off x="5120640" y="2651760"/>
            <a:ext cx="1234440" cy="201168"/>
          </a:xfrm>
          <a:prstGeom prst="rect">
            <a:avLst/>
          </a:prstGeom>
          <a:noFill/>
          <a:ln/>
        </p:spPr>
        <p:txBody>
          <a:bodyPr wrap="square" lIns="0" tIns="0" rIns="0" bIns="0" rtlCol="0" anchor="ctr"/>
          <a:lstStyle/>
          <a:p>
            <a:pPr indent="0" marL="0">
              <a:buNone/>
            </a:pPr>
            <a:r>
              <a:rPr lang="en-US" sz="850" dirty="0">
                <a:solidFill>
                  <a:srgbClr val="1E293B"/>
                </a:solidFill>
                <a:latin typeface="Segoe UI" pitchFamily="34" charset="0"/>
                <a:ea typeface="Segoe UI" pitchFamily="34" charset="-122"/>
                <a:cs typeface="Segoe UI" pitchFamily="34" charset="-120"/>
              </a:rPr>
              <a:t>segmentation</a:t>
            </a:r>
            <a:endParaRPr lang="en-US" sz="850" dirty="0"/>
          </a:p>
        </p:txBody>
      </p:sp>
      <p:sp>
        <p:nvSpPr>
          <p:cNvPr id="19" name="Shape 17"/>
          <p:cNvSpPr/>
          <p:nvPr/>
        </p:nvSpPr>
        <p:spPr>
          <a:xfrm>
            <a:off x="6355080" y="2688336"/>
            <a:ext cx="1463040" cy="146304"/>
          </a:xfrm>
          <a:prstGeom prst="roundRect">
            <a:avLst>
              <a:gd name="adj" fmla="val 18750"/>
            </a:avLst>
          </a:prstGeom>
          <a:solidFill>
            <a:srgbClr val="EBF4F6"/>
          </a:solidFill>
          <a:ln w="6350">
            <a:solidFill>
              <a:srgbClr val="EBF4F6"/>
            </a:solidFill>
            <a:prstDash val="solid"/>
          </a:ln>
        </p:spPr>
      </p:sp>
      <p:sp>
        <p:nvSpPr>
          <p:cNvPr id="20" name="Shape 18"/>
          <p:cNvSpPr/>
          <p:nvPr/>
        </p:nvSpPr>
        <p:spPr>
          <a:xfrm>
            <a:off x="6355080" y="2688336"/>
            <a:ext cx="1254034" cy="146304"/>
          </a:xfrm>
          <a:prstGeom prst="roundRect">
            <a:avLst>
              <a:gd name="adj" fmla="val 18750"/>
            </a:avLst>
          </a:prstGeom>
          <a:solidFill>
            <a:srgbClr val="028090"/>
          </a:solidFill>
          <a:ln w="6350">
            <a:solidFill>
              <a:srgbClr val="028090"/>
            </a:solidFill>
            <a:prstDash val="solid"/>
          </a:ln>
        </p:spPr>
      </p:sp>
      <p:sp>
        <p:nvSpPr>
          <p:cNvPr id="21" name="Text 19"/>
          <p:cNvSpPr/>
          <p:nvPr/>
        </p:nvSpPr>
        <p:spPr>
          <a:xfrm>
            <a:off x="7909560" y="2651760"/>
            <a:ext cx="502920" cy="201168"/>
          </a:xfrm>
          <a:prstGeom prst="rect">
            <a:avLst/>
          </a:prstGeom>
          <a:noFill/>
          <a:ln/>
        </p:spPr>
        <p:txBody>
          <a:bodyPr wrap="square" lIns="0" tIns="0" rIns="0" bIns="0" rtlCol="0" anchor="ctr"/>
          <a:lstStyle/>
          <a:p>
            <a:pPr algn="r" indent="0" marL="0">
              <a:buNone/>
            </a:pPr>
            <a:r>
              <a:rPr lang="en-US" sz="850" dirty="0">
                <a:solidFill>
                  <a:srgbClr val="065A82"/>
                </a:solidFill>
                <a:latin typeface="Segoe UI Semibold" pitchFamily="34" charset="0"/>
                <a:ea typeface="Segoe UI Semibold" pitchFamily="34" charset="-122"/>
                <a:cs typeface="Segoe UI Semibold" pitchFamily="34" charset="-120"/>
              </a:rPr>
              <a:t>6</a:t>
            </a:r>
            <a:endParaRPr lang="en-US" sz="850" dirty="0"/>
          </a:p>
        </p:txBody>
      </p:sp>
      <p:sp>
        <p:nvSpPr>
          <p:cNvPr id="22" name="Text 20"/>
          <p:cNvSpPr/>
          <p:nvPr/>
        </p:nvSpPr>
        <p:spPr>
          <a:xfrm>
            <a:off x="5120640" y="3072384"/>
            <a:ext cx="1234440" cy="201168"/>
          </a:xfrm>
          <a:prstGeom prst="rect">
            <a:avLst/>
          </a:prstGeom>
          <a:noFill/>
          <a:ln/>
        </p:spPr>
        <p:txBody>
          <a:bodyPr wrap="square" lIns="0" tIns="0" rIns="0" bIns="0" rtlCol="0" anchor="ctr"/>
          <a:lstStyle/>
          <a:p>
            <a:pPr indent="0" marL="0">
              <a:buNone/>
            </a:pPr>
            <a:r>
              <a:rPr lang="en-US" sz="850" dirty="0">
                <a:solidFill>
                  <a:srgbClr val="1E293B"/>
                </a:solidFill>
                <a:latin typeface="Segoe UI" pitchFamily="34" charset="0"/>
                <a:ea typeface="Segoe UI" pitchFamily="34" charset="-122"/>
                <a:cs typeface="Segoe UI" pitchFamily="34" charset="-120"/>
              </a:rPr>
              <a:t>pipeline</a:t>
            </a:r>
            <a:endParaRPr lang="en-US" sz="850" dirty="0"/>
          </a:p>
        </p:txBody>
      </p:sp>
      <p:sp>
        <p:nvSpPr>
          <p:cNvPr id="23" name="Shape 21"/>
          <p:cNvSpPr/>
          <p:nvPr/>
        </p:nvSpPr>
        <p:spPr>
          <a:xfrm>
            <a:off x="6355080" y="3108960"/>
            <a:ext cx="1463040" cy="146304"/>
          </a:xfrm>
          <a:prstGeom prst="roundRect">
            <a:avLst>
              <a:gd name="adj" fmla="val 18750"/>
            </a:avLst>
          </a:prstGeom>
          <a:solidFill>
            <a:srgbClr val="EBF4F6"/>
          </a:solidFill>
          <a:ln w="6350">
            <a:solidFill>
              <a:srgbClr val="EBF4F6"/>
            </a:solidFill>
            <a:prstDash val="solid"/>
          </a:ln>
        </p:spPr>
      </p:sp>
      <p:sp>
        <p:nvSpPr>
          <p:cNvPr id="24" name="Shape 22"/>
          <p:cNvSpPr/>
          <p:nvPr/>
        </p:nvSpPr>
        <p:spPr>
          <a:xfrm>
            <a:off x="6355080" y="3108960"/>
            <a:ext cx="1254034" cy="146304"/>
          </a:xfrm>
          <a:prstGeom prst="roundRect">
            <a:avLst>
              <a:gd name="adj" fmla="val 18750"/>
            </a:avLst>
          </a:prstGeom>
          <a:solidFill>
            <a:srgbClr val="028090"/>
          </a:solidFill>
          <a:ln w="6350">
            <a:solidFill>
              <a:srgbClr val="028090"/>
            </a:solidFill>
            <a:prstDash val="solid"/>
          </a:ln>
        </p:spPr>
      </p:sp>
      <p:sp>
        <p:nvSpPr>
          <p:cNvPr id="25" name="Text 23"/>
          <p:cNvSpPr/>
          <p:nvPr/>
        </p:nvSpPr>
        <p:spPr>
          <a:xfrm>
            <a:off x="7909560" y="3072384"/>
            <a:ext cx="502920" cy="201168"/>
          </a:xfrm>
          <a:prstGeom prst="rect">
            <a:avLst/>
          </a:prstGeom>
          <a:noFill/>
          <a:ln/>
        </p:spPr>
        <p:txBody>
          <a:bodyPr wrap="square" lIns="0" tIns="0" rIns="0" bIns="0" rtlCol="0" anchor="ctr"/>
          <a:lstStyle/>
          <a:p>
            <a:pPr algn="r" indent="0" marL="0">
              <a:buNone/>
            </a:pPr>
            <a:r>
              <a:rPr lang="en-US" sz="850" dirty="0">
                <a:solidFill>
                  <a:srgbClr val="065A82"/>
                </a:solidFill>
                <a:latin typeface="Segoe UI Semibold" pitchFamily="34" charset="0"/>
                <a:ea typeface="Segoe UI Semibold" pitchFamily="34" charset="-122"/>
                <a:cs typeface="Segoe UI Semibold" pitchFamily="34" charset="-120"/>
              </a:rPr>
              <a:t>6</a:t>
            </a:r>
            <a:endParaRPr lang="en-US" sz="850" dirty="0"/>
          </a:p>
        </p:txBody>
      </p:sp>
      <p:sp>
        <p:nvSpPr>
          <p:cNvPr id="26" name="Text 24"/>
          <p:cNvSpPr/>
          <p:nvPr/>
        </p:nvSpPr>
        <p:spPr>
          <a:xfrm>
            <a:off x="5120640" y="3493008"/>
            <a:ext cx="1234440" cy="201168"/>
          </a:xfrm>
          <a:prstGeom prst="rect">
            <a:avLst/>
          </a:prstGeom>
          <a:noFill/>
          <a:ln/>
        </p:spPr>
        <p:txBody>
          <a:bodyPr wrap="square" lIns="0" tIns="0" rIns="0" bIns="0" rtlCol="0" anchor="ctr"/>
          <a:lstStyle/>
          <a:p>
            <a:pPr indent="0" marL="0">
              <a:buNone/>
            </a:pPr>
            <a:r>
              <a:rPr lang="en-US" sz="850" dirty="0">
                <a:solidFill>
                  <a:srgbClr val="1E293B"/>
                </a:solidFill>
                <a:latin typeface="Segoe UI" pitchFamily="34" charset="0"/>
                <a:ea typeface="Segoe UI" pitchFamily="34" charset="-122"/>
                <a:cs typeface="Segoe UI" pitchFamily="34" charset="-120"/>
              </a:rPr>
              <a:t>preprocessing</a:t>
            </a:r>
            <a:endParaRPr lang="en-US" sz="850" dirty="0"/>
          </a:p>
        </p:txBody>
      </p:sp>
      <p:sp>
        <p:nvSpPr>
          <p:cNvPr id="27" name="Shape 25"/>
          <p:cNvSpPr/>
          <p:nvPr/>
        </p:nvSpPr>
        <p:spPr>
          <a:xfrm>
            <a:off x="6355080" y="3529584"/>
            <a:ext cx="1463040" cy="146304"/>
          </a:xfrm>
          <a:prstGeom prst="roundRect">
            <a:avLst>
              <a:gd name="adj" fmla="val 18750"/>
            </a:avLst>
          </a:prstGeom>
          <a:solidFill>
            <a:srgbClr val="EBF4F6"/>
          </a:solidFill>
          <a:ln w="6350">
            <a:solidFill>
              <a:srgbClr val="EBF4F6"/>
            </a:solidFill>
            <a:prstDash val="solid"/>
          </a:ln>
        </p:spPr>
      </p:sp>
      <p:sp>
        <p:nvSpPr>
          <p:cNvPr id="28" name="Shape 26"/>
          <p:cNvSpPr/>
          <p:nvPr/>
        </p:nvSpPr>
        <p:spPr>
          <a:xfrm>
            <a:off x="6355080" y="3529584"/>
            <a:ext cx="836023" cy="146304"/>
          </a:xfrm>
          <a:prstGeom prst="roundRect">
            <a:avLst>
              <a:gd name="adj" fmla="val 18750"/>
            </a:avLst>
          </a:prstGeom>
          <a:solidFill>
            <a:srgbClr val="028090"/>
          </a:solidFill>
          <a:ln w="6350">
            <a:solidFill>
              <a:srgbClr val="028090"/>
            </a:solidFill>
            <a:prstDash val="solid"/>
          </a:ln>
        </p:spPr>
      </p:sp>
      <p:sp>
        <p:nvSpPr>
          <p:cNvPr id="29" name="Text 27"/>
          <p:cNvSpPr/>
          <p:nvPr/>
        </p:nvSpPr>
        <p:spPr>
          <a:xfrm>
            <a:off x="7909560" y="3493008"/>
            <a:ext cx="502920" cy="201168"/>
          </a:xfrm>
          <a:prstGeom prst="rect">
            <a:avLst/>
          </a:prstGeom>
          <a:noFill/>
          <a:ln/>
        </p:spPr>
        <p:txBody>
          <a:bodyPr wrap="square" lIns="0" tIns="0" rIns="0" bIns="0" rtlCol="0" anchor="ctr"/>
          <a:lstStyle/>
          <a:p>
            <a:pPr algn="r" indent="0" marL="0">
              <a:buNone/>
            </a:pPr>
            <a:r>
              <a:rPr lang="en-US" sz="850" dirty="0">
                <a:solidFill>
                  <a:srgbClr val="065A82"/>
                </a:solidFill>
                <a:latin typeface="Segoe UI Semibold" pitchFamily="34" charset="0"/>
                <a:ea typeface="Segoe UI Semibold" pitchFamily="34" charset="-122"/>
                <a:cs typeface="Segoe UI Semibold" pitchFamily="34" charset="-120"/>
              </a:rPr>
              <a:t>4</a:t>
            </a:r>
            <a:endParaRPr lang="en-US" sz="850" dirty="0"/>
          </a:p>
        </p:txBody>
      </p:sp>
      <p:sp>
        <p:nvSpPr>
          <p:cNvPr id="30" name="Text 28"/>
          <p:cNvSpPr/>
          <p:nvPr/>
        </p:nvSpPr>
        <p:spPr>
          <a:xfrm>
            <a:off x="5120640" y="3913632"/>
            <a:ext cx="1234440" cy="201168"/>
          </a:xfrm>
          <a:prstGeom prst="rect">
            <a:avLst/>
          </a:prstGeom>
          <a:noFill/>
          <a:ln/>
        </p:spPr>
        <p:txBody>
          <a:bodyPr wrap="square" lIns="0" tIns="0" rIns="0" bIns="0" rtlCol="0" anchor="ctr"/>
          <a:lstStyle/>
          <a:p>
            <a:pPr indent="0" marL="0">
              <a:buNone/>
            </a:pPr>
            <a:r>
              <a:rPr lang="en-US" sz="850" dirty="0">
                <a:solidFill>
                  <a:srgbClr val="1E293B"/>
                </a:solidFill>
                <a:latin typeface="Segoe UI" pitchFamily="34" charset="0"/>
                <a:ea typeface="Segoe UI" pitchFamily="34" charset="-122"/>
                <a:cs typeface="Segoe UI" pitchFamily="34" charset="-120"/>
              </a:rPr>
              <a:t>measurement</a:t>
            </a:r>
            <a:endParaRPr lang="en-US" sz="850" dirty="0"/>
          </a:p>
        </p:txBody>
      </p:sp>
      <p:sp>
        <p:nvSpPr>
          <p:cNvPr id="31" name="Shape 29"/>
          <p:cNvSpPr/>
          <p:nvPr/>
        </p:nvSpPr>
        <p:spPr>
          <a:xfrm>
            <a:off x="6355080" y="3950208"/>
            <a:ext cx="1463040" cy="146304"/>
          </a:xfrm>
          <a:prstGeom prst="roundRect">
            <a:avLst>
              <a:gd name="adj" fmla="val 18750"/>
            </a:avLst>
          </a:prstGeom>
          <a:solidFill>
            <a:srgbClr val="EBF4F6"/>
          </a:solidFill>
          <a:ln w="6350">
            <a:solidFill>
              <a:srgbClr val="EBF4F6"/>
            </a:solidFill>
            <a:prstDash val="solid"/>
          </a:ln>
        </p:spPr>
      </p:sp>
      <p:sp>
        <p:nvSpPr>
          <p:cNvPr id="32" name="Shape 30"/>
          <p:cNvSpPr/>
          <p:nvPr/>
        </p:nvSpPr>
        <p:spPr>
          <a:xfrm>
            <a:off x="6355080" y="3950208"/>
            <a:ext cx="627017" cy="146304"/>
          </a:xfrm>
          <a:prstGeom prst="roundRect">
            <a:avLst>
              <a:gd name="adj" fmla="val 18750"/>
            </a:avLst>
          </a:prstGeom>
          <a:solidFill>
            <a:srgbClr val="028090"/>
          </a:solidFill>
          <a:ln w="6350">
            <a:solidFill>
              <a:srgbClr val="028090"/>
            </a:solidFill>
            <a:prstDash val="solid"/>
          </a:ln>
        </p:spPr>
      </p:sp>
      <p:sp>
        <p:nvSpPr>
          <p:cNvPr id="33" name="Text 31"/>
          <p:cNvSpPr/>
          <p:nvPr/>
        </p:nvSpPr>
        <p:spPr>
          <a:xfrm>
            <a:off x="7909560" y="3913632"/>
            <a:ext cx="502920" cy="201168"/>
          </a:xfrm>
          <a:prstGeom prst="rect">
            <a:avLst/>
          </a:prstGeom>
          <a:noFill/>
          <a:ln/>
        </p:spPr>
        <p:txBody>
          <a:bodyPr wrap="square" lIns="0" tIns="0" rIns="0" bIns="0" rtlCol="0" anchor="ctr"/>
          <a:lstStyle/>
          <a:p>
            <a:pPr algn="r" indent="0" marL="0">
              <a:buNone/>
            </a:pPr>
            <a:r>
              <a:rPr lang="en-US" sz="850" dirty="0">
                <a:solidFill>
                  <a:srgbClr val="065A82"/>
                </a:solidFill>
                <a:latin typeface="Segoe UI Semibold" pitchFamily="34" charset="0"/>
                <a:ea typeface="Segoe UI Semibold" pitchFamily="34" charset="-122"/>
                <a:cs typeface="Segoe UI Semibold" pitchFamily="34" charset="-120"/>
              </a:rPr>
              <a:t>3</a:t>
            </a:r>
            <a:endParaRPr lang="en-US" sz="850" dirty="0"/>
          </a:p>
        </p:txBody>
      </p:sp>
      <p:sp>
        <p:nvSpPr>
          <p:cNvPr id="34" name="Text 32"/>
          <p:cNvSpPr/>
          <p:nvPr/>
        </p:nvSpPr>
        <p:spPr>
          <a:xfrm>
            <a:off x="502920" y="4553712"/>
            <a:ext cx="8138160" cy="201168"/>
          </a:xfrm>
          <a:prstGeom prst="rect">
            <a:avLst/>
          </a:prstGeom>
          <a:noFill/>
          <a:ln/>
        </p:spPr>
        <p:txBody>
          <a:bodyPr wrap="square" lIns="0" tIns="0" rIns="0" bIns="0" rtlCol="0" anchor="ctr"/>
          <a:lstStyle/>
          <a:p>
            <a:pPr indent="0" marL="0">
              <a:buNone/>
            </a:pPr>
            <a:r>
              <a:rPr lang="en-US" sz="850" i="1" dirty="0">
                <a:solidFill>
                  <a:srgbClr val="5F7186"/>
                </a:solidFill>
                <a:latin typeface="Segoe UI" pitchFamily="34" charset="0"/>
                <a:ea typeface="Segoe UI" pitchFamily="34" charset="-122"/>
                <a:cs typeface="Segoe UI" pitchFamily="34" charset="-120"/>
              </a:rPr>
              <a:t>Bộ kiểm thử đơn vị: tests/  ·  pytest -v  ·  Bảo toàn 7 bất biến dữ liệu I1–I7</a:t>
            </a:r>
            <a:endParaRPr lang="en-US" sz="850" dirty="0"/>
          </a:p>
        </p:txBody>
      </p:sp>
    </p:spTree>
  </p:cSld>
  <p:clrMapOvr>
    <a:masterClrMapping/>
  </p:clrMapOvr>
  <p:transition spd="med">
    <p:split orient="horz" dir="out"/>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400"/>
                                        <p:tgtEl>
                                          <p:spTgt spid="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400"/>
                                        <p:tgtEl>
                                          <p:spTgt spid="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400"/>
                                        <p:tgtEl>
                                          <p:spTgt spid="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400"/>
                                        <p:tgtEl>
                                          <p:spTgt spid="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0"/>
                                        </p:tgtEl>
                                        <p:attrNameLst>
                                          <p:attrName>style.visibility</p:attrName>
                                        </p:attrNameLst>
                                      </p:cBhvr>
                                      <p:to>
                                        <p:strVal val="visible"/>
                                      </p:to>
                                    </p:set>
                                    <p:animEffect transition="in" filter="fade">
                                      <p:cBhvr>
                                        <p:cTn id="115" dur="400"/>
                                        <p:tgtEl>
                                          <p:spTgt spid="1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1"/>
                                        </p:tgtEl>
                                        <p:attrNameLst>
                                          <p:attrName>style.visibility</p:attrName>
                                        </p:attrNameLst>
                                      </p:cBhvr>
                                      <p:to>
                                        <p:strVal val="visible"/>
                                      </p:to>
                                    </p:set>
                                    <p:animEffect transition="in" filter="fade">
                                      <p:cBhvr>
                                        <p:cTn id="118" dur="400"/>
                                        <p:tgtEl>
                                          <p:spTgt spid="11"/>
                                        </p:tgtEl>
                                      </p:cBhvr>
                                    </p:animEffect>
                                  </p:childTnLst>
                                </p:cTn>
                              </p:par>
                              <p:par>
                                <p:cTn id="119" presetID="10" presetClass="entr" presetSubtype="0" fill="hold" grpId="0" nodeType="withEffect">
                                  <p:stCondLst>
                                    <p:cond delay="280"/>
                                  </p:stCondLst>
                                  <p:childTnLst>
                                    <p:set>
                                      <p:cBhvr>
                                        <p:cTn id="120" dur="1" fill="hold">
                                          <p:stCondLst>
                                            <p:cond delay="0"/>
                                          </p:stCondLst>
                                        </p:cTn>
                                        <p:tgtEl>
                                          <p:spTgt spid="12"/>
                                        </p:tgtEl>
                                        <p:attrNameLst>
                                          <p:attrName>style.visibility</p:attrName>
                                        </p:attrNameLst>
                                      </p:cBhvr>
                                      <p:to>
                                        <p:strVal val="visible"/>
                                      </p:to>
                                    </p:set>
                                    <p:animEffect transition="in" filter="fade">
                                      <p:cBhvr>
                                        <p:cTn id="121" dur="400"/>
                                        <p:tgtEl>
                                          <p:spTgt spid="12"/>
                                        </p:tgtEl>
                                      </p:cBhvr>
                                    </p:animEffect>
                                  </p:childTnLst>
                                </p:cTn>
                              </p:par>
                              <p:par>
                                <p:cTn id="122" presetID="10" presetClass="entr" presetSubtype="0" fill="hold" grpId="0" nodeType="withEffect">
                                  <p:stCondLst>
                                    <p:cond delay="280"/>
                                  </p:stCondLst>
                                  <p:childTnLst>
                                    <p:set>
                                      <p:cBhvr>
                                        <p:cTn id="123" dur="1" fill="hold">
                                          <p:stCondLst>
                                            <p:cond delay="0"/>
                                          </p:stCondLst>
                                        </p:cTn>
                                        <p:tgtEl>
                                          <p:spTgt spid="13"/>
                                        </p:tgtEl>
                                        <p:attrNameLst>
                                          <p:attrName>style.visibility</p:attrName>
                                        </p:attrNameLst>
                                      </p:cBhvr>
                                      <p:to>
                                        <p:strVal val="visible"/>
                                      </p:to>
                                    </p:set>
                                    <p:animEffect transition="in" filter="fade">
                                      <p:cBhvr>
                                        <p:cTn id="124" dur="400"/>
                                        <p:tgtEl>
                                          <p:spTgt spid="13"/>
                                        </p:tgtEl>
                                      </p:cBhvr>
                                    </p:animEffect>
                                  </p:childTnLst>
                                </p:cTn>
                              </p:par>
                              <p:par>
                                <p:cTn id="125" presetID="10" presetClass="entr" presetSubtype="0" fill="hold" grpId="0" nodeType="withEffect">
                                  <p:stCondLst>
                                    <p:cond delay="560"/>
                                  </p:stCondLst>
                                  <p:childTnLst>
                                    <p:set>
                                      <p:cBhvr>
                                        <p:cTn id="126" dur="1" fill="hold">
                                          <p:stCondLst>
                                            <p:cond delay="0"/>
                                          </p:stCondLst>
                                        </p:cTn>
                                        <p:tgtEl>
                                          <p:spTgt spid="14"/>
                                        </p:tgtEl>
                                        <p:attrNameLst>
                                          <p:attrName>style.visibility</p:attrName>
                                        </p:attrNameLst>
                                      </p:cBhvr>
                                      <p:to>
                                        <p:strVal val="visible"/>
                                      </p:to>
                                    </p:set>
                                    <p:animEffect transition="in" filter="fade">
                                      <p:cBhvr>
                                        <p:cTn id="127" dur="400"/>
                                        <p:tgtEl>
                                          <p:spTgt spid="14"/>
                                        </p:tgtEl>
                                      </p:cBhvr>
                                    </p:animEffect>
                                  </p:childTnLst>
                                </p:cTn>
                              </p:par>
                              <p:par>
                                <p:cTn id="128" presetID="10" presetClass="entr" presetSubtype="0" fill="hold" grpId="0" nodeType="withEffect">
                                  <p:stCondLst>
                                    <p:cond delay="560"/>
                                  </p:stCondLst>
                                  <p:childTnLst>
                                    <p:set>
                                      <p:cBhvr>
                                        <p:cTn id="129" dur="1" fill="hold">
                                          <p:stCondLst>
                                            <p:cond delay="0"/>
                                          </p:stCondLst>
                                        </p:cTn>
                                        <p:tgtEl>
                                          <p:spTgt spid="15"/>
                                        </p:tgtEl>
                                        <p:attrNameLst>
                                          <p:attrName>style.visibility</p:attrName>
                                        </p:attrNameLst>
                                      </p:cBhvr>
                                      <p:to>
                                        <p:strVal val="visible"/>
                                      </p:to>
                                    </p:set>
                                    <p:animEffect transition="in" filter="fade">
                                      <p:cBhvr>
                                        <p:cTn id="130" dur="400"/>
                                        <p:tgtEl>
                                          <p:spTgt spid="15"/>
                                        </p:tgtEl>
                                      </p:cBhvr>
                                    </p:animEffect>
                                  </p:childTnLst>
                                </p:cTn>
                              </p:par>
                              <p:par>
                                <p:cTn id="131" presetID="10" presetClass="entr" presetSubtype="0" fill="hold" grpId="0" nodeType="withEffect">
                                  <p:stCondLst>
                                    <p:cond delay="560"/>
                                  </p:stCondLst>
                                  <p:childTnLst>
                                    <p:set>
                                      <p:cBhvr>
                                        <p:cTn id="132" dur="1" fill="hold">
                                          <p:stCondLst>
                                            <p:cond delay="0"/>
                                          </p:stCondLst>
                                        </p:cTn>
                                        <p:tgtEl>
                                          <p:spTgt spid="16"/>
                                        </p:tgtEl>
                                        <p:attrNameLst>
                                          <p:attrName>style.visibility</p:attrName>
                                        </p:attrNameLst>
                                      </p:cBhvr>
                                      <p:to>
                                        <p:strVal val="visible"/>
                                      </p:to>
                                    </p:set>
                                    <p:animEffect transition="in" filter="fade">
                                      <p:cBhvr>
                                        <p:cTn id="133" dur="400"/>
                                        <p:tgtEl>
                                          <p:spTgt spid="16"/>
                                        </p:tgtEl>
                                      </p:cBhvr>
                                    </p:animEffect>
                                  </p:childTnLst>
                                </p:cTn>
                              </p:par>
                              <p:par>
                                <p:cTn id="134" presetID="10" presetClass="entr" presetSubtype="0" fill="hold" grpId="0" nodeType="withEffect">
                                  <p:stCondLst>
                                    <p:cond delay="560"/>
                                  </p:stCondLst>
                                  <p:childTnLst>
                                    <p:set>
                                      <p:cBhvr>
                                        <p:cTn id="135" dur="1" fill="hold">
                                          <p:stCondLst>
                                            <p:cond delay="0"/>
                                          </p:stCondLst>
                                        </p:cTn>
                                        <p:tgtEl>
                                          <p:spTgt spid="17"/>
                                        </p:tgtEl>
                                        <p:attrNameLst>
                                          <p:attrName>style.visibility</p:attrName>
                                        </p:attrNameLst>
                                      </p:cBhvr>
                                      <p:to>
                                        <p:strVal val="visible"/>
                                      </p:to>
                                    </p:set>
                                    <p:animEffect transition="in" filter="fade">
                                      <p:cBhvr>
                                        <p:cTn id="136" dur="400"/>
                                        <p:tgtEl>
                                          <p:spTgt spid="17"/>
                                        </p:tgtEl>
                                      </p:cBhvr>
                                    </p:animEffect>
                                  </p:childTnLst>
                                </p:cTn>
                              </p:par>
                              <p:par>
                                <p:cTn id="137" presetID="10" presetClass="entr" presetSubtype="0" fill="hold" grpId="0" nodeType="withEffect">
                                  <p:stCondLst>
                                    <p:cond delay="840"/>
                                  </p:stCondLst>
                                  <p:childTnLst>
                                    <p:set>
                                      <p:cBhvr>
                                        <p:cTn id="138" dur="1" fill="hold">
                                          <p:stCondLst>
                                            <p:cond delay="0"/>
                                          </p:stCondLst>
                                        </p:cTn>
                                        <p:tgtEl>
                                          <p:spTgt spid="18"/>
                                        </p:tgtEl>
                                        <p:attrNameLst>
                                          <p:attrName>style.visibility</p:attrName>
                                        </p:attrNameLst>
                                      </p:cBhvr>
                                      <p:to>
                                        <p:strVal val="visible"/>
                                      </p:to>
                                    </p:set>
                                    <p:animEffect transition="in" filter="fade">
                                      <p:cBhvr>
                                        <p:cTn id="139" dur="400"/>
                                        <p:tgtEl>
                                          <p:spTgt spid="18"/>
                                        </p:tgtEl>
                                      </p:cBhvr>
                                    </p:animEffect>
                                  </p:childTnLst>
                                </p:cTn>
                              </p:par>
                              <p:par>
                                <p:cTn id="140" presetID="10" presetClass="entr" presetSubtype="0" fill="hold" grpId="0" nodeType="withEffect">
                                  <p:stCondLst>
                                    <p:cond delay="840"/>
                                  </p:stCondLst>
                                  <p:childTnLst>
                                    <p:set>
                                      <p:cBhvr>
                                        <p:cTn id="141" dur="1" fill="hold">
                                          <p:stCondLst>
                                            <p:cond delay="0"/>
                                          </p:stCondLst>
                                        </p:cTn>
                                        <p:tgtEl>
                                          <p:spTgt spid="19"/>
                                        </p:tgtEl>
                                        <p:attrNameLst>
                                          <p:attrName>style.visibility</p:attrName>
                                        </p:attrNameLst>
                                      </p:cBhvr>
                                      <p:to>
                                        <p:strVal val="visible"/>
                                      </p:to>
                                    </p:set>
                                    <p:animEffect transition="in" filter="fade">
                                      <p:cBhvr>
                                        <p:cTn id="142" dur="400"/>
                                        <p:tgtEl>
                                          <p:spTgt spid="19"/>
                                        </p:tgtEl>
                                      </p:cBhvr>
                                    </p:animEffect>
                                  </p:childTnLst>
                                </p:cTn>
                              </p:par>
                              <p:par>
                                <p:cTn id="143" presetID="10" presetClass="entr" presetSubtype="0" fill="hold" grpId="0" nodeType="withEffect">
                                  <p:stCondLst>
                                    <p:cond delay="84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400"/>
                                        <p:tgtEl>
                                          <p:spTgt spid="20"/>
                                        </p:tgtEl>
                                      </p:cBhvr>
                                    </p:animEffect>
                                  </p:childTnLst>
                                </p:cTn>
                              </p:par>
                              <p:par>
                                <p:cTn id="146" presetID="10" presetClass="entr" presetSubtype="0" fill="hold" grpId="0" nodeType="withEffect">
                                  <p:stCondLst>
                                    <p:cond delay="840"/>
                                  </p:stCondLst>
                                  <p:childTnLst>
                                    <p:set>
                                      <p:cBhvr>
                                        <p:cTn id="147" dur="1" fill="hold">
                                          <p:stCondLst>
                                            <p:cond delay="0"/>
                                          </p:stCondLst>
                                        </p:cTn>
                                        <p:tgtEl>
                                          <p:spTgt spid="21"/>
                                        </p:tgtEl>
                                        <p:attrNameLst>
                                          <p:attrName>style.visibility</p:attrName>
                                        </p:attrNameLst>
                                      </p:cBhvr>
                                      <p:to>
                                        <p:strVal val="visible"/>
                                      </p:to>
                                    </p:set>
                                    <p:animEffect transition="in" filter="fade">
                                      <p:cBhvr>
                                        <p:cTn id="148" dur="400"/>
                                        <p:tgtEl>
                                          <p:spTgt spid="21"/>
                                        </p:tgtEl>
                                      </p:cBhvr>
                                    </p:animEffect>
                                  </p:childTnLst>
                                </p:cTn>
                              </p:par>
                              <p:par>
                                <p:cTn id="149" presetID="10" presetClass="entr" presetSubtype="0" fill="hold" grpId="0" nodeType="withEffect">
                                  <p:stCondLst>
                                    <p:cond delay="1120"/>
                                  </p:stCondLst>
                                  <p:childTnLst>
                                    <p:set>
                                      <p:cBhvr>
                                        <p:cTn id="150" dur="1" fill="hold">
                                          <p:stCondLst>
                                            <p:cond delay="0"/>
                                          </p:stCondLst>
                                        </p:cTn>
                                        <p:tgtEl>
                                          <p:spTgt spid="22"/>
                                        </p:tgtEl>
                                        <p:attrNameLst>
                                          <p:attrName>style.visibility</p:attrName>
                                        </p:attrNameLst>
                                      </p:cBhvr>
                                      <p:to>
                                        <p:strVal val="visible"/>
                                      </p:to>
                                    </p:set>
                                    <p:animEffect transition="in" filter="fade">
                                      <p:cBhvr>
                                        <p:cTn id="151" dur="400"/>
                                        <p:tgtEl>
                                          <p:spTgt spid="22"/>
                                        </p:tgtEl>
                                      </p:cBhvr>
                                    </p:animEffect>
                                  </p:childTnLst>
                                </p:cTn>
                              </p:par>
                              <p:par>
                                <p:cTn id="152" presetID="10" presetClass="entr" presetSubtype="0" fill="hold" grpId="0" nodeType="withEffect">
                                  <p:stCondLst>
                                    <p:cond delay="1120"/>
                                  </p:stCondLst>
                                  <p:childTnLst>
                                    <p:set>
                                      <p:cBhvr>
                                        <p:cTn id="153" dur="1" fill="hold">
                                          <p:stCondLst>
                                            <p:cond delay="0"/>
                                          </p:stCondLst>
                                        </p:cTn>
                                        <p:tgtEl>
                                          <p:spTgt spid="23"/>
                                        </p:tgtEl>
                                        <p:attrNameLst>
                                          <p:attrName>style.visibility</p:attrName>
                                        </p:attrNameLst>
                                      </p:cBhvr>
                                      <p:to>
                                        <p:strVal val="visible"/>
                                      </p:to>
                                    </p:set>
                                    <p:animEffect transition="in" filter="fade">
                                      <p:cBhvr>
                                        <p:cTn id="154" dur="400"/>
                                        <p:tgtEl>
                                          <p:spTgt spid="23"/>
                                        </p:tgtEl>
                                      </p:cBhvr>
                                    </p:animEffect>
                                  </p:childTnLst>
                                </p:cTn>
                              </p:par>
                              <p:par>
                                <p:cTn id="155" presetID="10" presetClass="entr" presetSubtype="0" fill="hold" grpId="0" nodeType="withEffect">
                                  <p:stCondLst>
                                    <p:cond delay="112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400"/>
                                        <p:tgtEl>
                                          <p:spTgt spid="24"/>
                                        </p:tgtEl>
                                      </p:cBhvr>
                                    </p:animEffect>
                                  </p:childTnLst>
                                </p:cTn>
                              </p:par>
                              <p:par>
                                <p:cTn id="158" presetID="10" presetClass="entr" presetSubtype="0" fill="hold" grpId="0" nodeType="withEffect">
                                  <p:stCondLst>
                                    <p:cond delay="1120"/>
                                  </p:stCondLst>
                                  <p:childTnLst>
                                    <p:set>
                                      <p:cBhvr>
                                        <p:cTn id="159" dur="1" fill="hold">
                                          <p:stCondLst>
                                            <p:cond delay="0"/>
                                          </p:stCondLst>
                                        </p:cTn>
                                        <p:tgtEl>
                                          <p:spTgt spid="25"/>
                                        </p:tgtEl>
                                        <p:attrNameLst>
                                          <p:attrName>style.visibility</p:attrName>
                                        </p:attrNameLst>
                                      </p:cBhvr>
                                      <p:to>
                                        <p:strVal val="visible"/>
                                      </p:to>
                                    </p:set>
                                    <p:animEffect transition="in" filter="fade">
                                      <p:cBhvr>
                                        <p:cTn id="160" dur="400"/>
                                        <p:tgtEl>
                                          <p:spTgt spid="25"/>
                                        </p:tgtEl>
                                      </p:cBhvr>
                                    </p:animEffect>
                                  </p:childTnLst>
                                </p:cTn>
                              </p:par>
                              <p:par>
                                <p:cTn id="161" presetID="10" presetClass="entr" presetSubtype="0" fill="hold" grpId="0" nodeType="withEffect">
                                  <p:stCondLst>
                                    <p:cond delay="1400"/>
                                  </p:stCondLst>
                                  <p:childTnLst>
                                    <p:set>
                                      <p:cBhvr>
                                        <p:cTn id="162" dur="1" fill="hold">
                                          <p:stCondLst>
                                            <p:cond delay="0"/>
                                          </p:stCondLst>
                                        </p:cTn>
                                        <p:tgtEl>
                                          <p:spTgt spid="26"/>
                                        </p:tgtEl>
                                        <p:attrNameLst>
                                          <p:attrName>style.visibility</p:attrName>
                                        </p:attrNameLst>
                                      </p:cBhvr>
                                      <p:to>
                                        <p:strVal val="visible"/>
                                      </p:to>
                                    </p:set>
                                    <p:animEffect transition="in" filter="fade">
                                      <p:cBhvr>
                                        <p:cTn id="163" dur="400"/>
                                        <p:tgtEl>
                                          <p:spTgt spid="26"/>
                                        </p:tgtEl>
                                      </p:cBhvr>
                                    </p:animEffect>
                                  </p:childTnLst>
                                </p:cTn>
                              </p:par>
                              <p:par>
                                <p:cTn id="164" presetID="10" presetClass="entr" presetSubtype="0" fill="hold" grpId="0" nodeType="withEffect">
                                  <p:stCondLst>
                                    <p:cond delay="1400"/>
                                  </p:stCondLst>
                                  <p:childTnLst>
                                    <p:set>
                                      <p:cBhvr>
                                        <p:cTn id="165" dur="1" fill="hold">
                                          <p:stCondLst>
                                            <p:cond delay="0"/>
                                          </p:stCondLst>
                                        </p:cTn>
                                        <p:tgtEl>
                                          <p:spTgt spid="27"/>
                                        </p:tgtEl>
                                        <p:attrNameLst>
                                          <p:attrName>style.visibility</p:attrName>
                                        </p:attrNameLst>
                                      </p:cBhvr>
                                      <p:to>
                                        <p:strVal val="visible"/>
                                      </p:to>
                                    </p:set>
                                    <p:animEffect transition="in" filter="fade">
                                      <p:cBhvr>
                                        <p:cTn id="166" dur="400"/>
                                        <p:tgtEl>
                                          <p:spTgt spid="27"/>
                                        </p:tgtEl>
                                      </p:cBhvr>
                                    </p:animEffect>
                                  </p:childTnLst>
                                </p:cTn>
                              </p:par>
                              <p:par>
                                <p:cTn id="167" presetID="10" presetClass="entr" presetSubtype="0" fill="hold" grpId="0" nodeType="withEffect">
                                  <p:stCondLst>
                                    <p:cond delay="1400"/>
                                  </p:stCondLst>
                                  <p:childTnLst>
                                    <p:set>
                                      <p:cBhvr>
                                        <p:cTn id="168" dur="1" fill="hold">
                                          <p:stCondLst>
                                            <p:cond delay="0"/>
                                          </p:stCondLst>
                                        </p:cTn>
                                        <p:tgtEl>
                                          <p:spTgt spid="28"/>
                                        </p:tgtEl>
                                        <p:attrNameLst>
                                          <p:attrName>style.visibility</p:attrName>
                                        </p:attrNameLst>
                                      </p:cBhvr>
                                      <p:to>
                                        <p:strVal val="visible"/>
                                      </p:to>
                                    </p:set>
                                    <p:animEffect transition="in" filter="fade">
                                      <p:cBhvr>
                                        <p:cTn id="169" dur="400"/>
                                        <p:tgtEl>
                                          <p:spTgt spid="28"/>
                                        </p:tgtEl>
                                      </p:cBhvr>
                                    </p:animEffect>
                                  </p:childTnLst>
                                </p:cTn>
                              </p:par>
                              <p:par>
                                <p:cTn id="170" presetID="10" presetClass="entr" presetSubtype="0" fill="hold" grpId="0" nodeType="withEffect">
                                  <p:stCondLst>
                                    <p:cond delay="1400"/>
                                  </p:stCondLst>
                                  <p:childTnLst>
                                    <p:set>
                                      <p:cBhvr>
                                        <p:cTn id="171" dur="1" fill="hold">
                                          <p:stCondLst>
                                            <p:cond delay="0"/>
                                          </p:stCondLst>
                                        </p:cTn>
                                        <p:tgtEl>
                                          <p:spTgt spid="29"/>
                                        </p:tgtEl>
                                        <p:attrNameLst>
                                          <p:attrName>style.visibility</p:attrName>
                                        </p:attrNameLst>
                                      </p:cBhvr>
                                      <p:to>
                                        <p:strVal val="visible"/>
                                      </p:to>
                                    </p:set>
                                    <p:animEffect transition="in" filter="fade">
                                      <p:cBhvr>
                                        <p:cTn id="17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3405C"/>
        </a:solidFill>
      </p:bgPr>
    </p:bg>
    <p:spTree>
      <p:nvGrpSpPr>
        <p:cNvPr id="1" name=""/>
        <p:cNvGrpSpPr/>
        <p:nvPr/>
      </p:nvGrpSpPr>
      <p:grpSpPr>
        <a:xfrm>
          <a:off x="0" y="0"/>
          <a:ext cx="0" cy="0"/>
          <a:chOff x="0" y="0"/>
          <a:chExt cx="0" cy="0"/>
        </a:xfrm>
      </p:grpSpPr>
      <p:sp>
        <p:nvSpPr>
          <p:cNvPr id="2" name="Text 0"/>
          <p:cNvSpPr/>
          <p:nvPr/>
        </p:nvSpPr>
        <p:spPr>
          <a:xfrm>
            <a:off x="502920" y="914400"/>
            <a:ext cx="8138160" cy="219456"/>
          </a:xfrm>
          <a:prstGeom prst="rect">
            <a:avLst/>
          </a:prstGeom>
          <a:noFill/>
          <a:ln/>
        </p:spPr>
        <p:txBody>
          <a:bodyPr wrap="square" lIns="0" tIns="0" rIns="0" bIns="0" rtlCol="0" anchor="ctr"/>
          <a:lstStyle/>
          <a:p>
            <a:pPr algn="ctr" indent="0" marL="0">
              <a:buNone/>
            </a:pPr>
            <a:r>
              <a:rPr lang="en-US" sz="900" spc="200" kern="0" dirty="0">
                <a:solidFill>
                  <a:srgbClr val="9FE8DC"/>
                </a:solidFill>
                <a:latin typeface="Segoe UI Semibold" pitchFamily="34" charset="0"/>
                <a:ea typeface="Segoe UI Semibold" pitchFamily="34" charset="-122"/>
                <a:cs typeface="Segoe UI Semibold" pitchFamily="34" charset="-120"/>
              </a:rPr>
              <a:t>LỜI CẢM ƠN &amp; THẢO LUẬN</a:t>
            </a:r>
            <a:endParaRPr lang="en-US" sz="900" dirty="0"/>
          </a:p>
        </p:txBody>
      </p:sp>
      <p:sp>
        <p:nvSpPr>
          <p:cNvPr id="3" name="Text 1"/>
          <p:cNvSpPr/>
          <p:nvPr/>
        </p:nvSpPr>
        <p:spPr>
          <a:xfrm>
            <a:off x="640080" y="1225296"/>
            <a:ext cx="7863840" cy="914400"/>
          </a:xfrm>
          <a:prstGeom prst="rect">
            <a:avLst/>
          </a:prstGeom>
          <a:noFill/>
          <a:ln/>
        </p:spPr>
        <p:txBody>
          <a:bodyPr wrap="square" lIns="0" tIns="0" rIns="0" bIns="0" rtlCol="0" anchor="ctr"/>
          <a:lstStyle/>
          <a:p>
            <a:pPr algn="ctr" indent="0" marL="0">
              <a:lnSpc>
                <a:spcPct val="112000"/>
              </a:lnSpc>
              <a:buNone/>
            </a:pPr>
            <a:r>
              <a:rPr lang="en-US" sz="2500" dirty="0">
                <a:solidFill>
                  <a:srgbClr val="FFFFFF"/>
                </a:solidFill>
                <a:latin typeface="Segoe UI Semibold" pitchFamily="34" charset="0"/>
                <a:ea typeface="Segoe UI Semibold" pitchFamily="34" charset="-122"/>
                <a:cs typeface="Segoe UI Semibold" pitchFamily="34" charset="-120"/>
              </a:rPr>
              <a:t>TRÂN TRỌNG CẢM ƠN THẦY THS. ĐỖ TRUNG DŨNG VÀ CÁC BẠN SINH VIÊN!</a:t>
            </a:r>
            <a:endParaRPr lang="en-US" sz="2500" dirty="0"/>
          </a:p>
        </p:txBody>
      </p:sp>
      <p:sp>
        <p:nvSpPr>
          <p:cNvPr id="4" name="Text 2"/>
          <p:cNvSpPr/>
          <p:nvPr/>
        </p:nvSpPr>
        <p:spPr>
          <a:xfrm>
            <a:off x="1097280" y="2194560"/>
            <a:ext cx="6949440" cy="402336"/>
          </a:xfrm>
          <a:prstGeom prst="rect">
            <a:avLst/>
          </a:prstGeom>
          <a:noFill/>
          <a:ln/>
        </p:spPr>
        <p:txBody>
          <a:bodyPr wrap="square" lIns="0" tIns="0" rIns="0" bIns="0" rtlCol="0" anchor="ctr"/>
          <a:lstStyle/>
          <a:p>
            <a:pPr algn="ctr" indent="0" marL="0">
              <a:lnSpc>
                <a:spcPct val="120000"/>
              </a:lnSpc>
              <a:buNone/>
            </a:pPr>
            <a:r>
              <a:rPr lang="en-US" sz="1050" dirty="0">
                <a:solidFill>
                  <a:srgbClr val="CBE8EF"/>
                </a:solidFill>
                <a:latin typeface="Segoe UI" pitchFamily="34" charset="0"/>
                <a:ea typeface="Segoe UI" pitchFamily="34" charset="-122"/>
                <a:cs typeface="Segoe UI" pitchFamily="34" charset="-120"/>
              </a:rPr>
              <a:t>Buổi báo cáo kết thúc môn học Xử lý ảnh số — Ngành Khoa học Dữ liệu — Bộ môn Xử lý ảnh số — Khoa CNTT, HUIT</a:t>
            </a:r>
            <a:endParaRPr lang="en-US" sz="1050" dirty="0"/>
          </a:p>
        </p:txBody>
      </p:sp>
      <p:sp>
        <p:nvSpPr>
          <p:cNvPr id="5" name="Shape 3"/>
          <p:cNvSpPr/>
          <p:nvPr/>
        </p:nvSpPr>
        <p:spPr>
          <a:xfrm>
            <a:off x="2148840" y="2743200"/>
            <a:ext cx="4846320" cy="548640"/>
          </a:xfrm>
          <a:prstGeom prst="roundRect">
            <a:avLst>
              <a:gd name="adj" fmla="val 10000"/>
            </a:avLst>
          </a:prstGeom>
          <a:solidFill>
            <a:srgbClr val="028090"/>
          </a:solidFill>
          <a:ln w="9525">
            <a:solidFill>
              <a:srgbClr val="028090"/>
            </a:solidFill>
            <a:prstDash val="solid"/>
          </a:ln>
        </p:spPr>
      </p:sp>
      <p:sp>
        <p:nvSpPr>
          <p:cNvPr id="6" name="Text 4"/>
          <p:cNvSpPr/>
          <p:nvPr/>
        </p:nvSpPr>
        <p:spPr>
          <a:xfrm>
            <a:off x="2286000" y="2743200"/>
            <a:ext cx="4572000" cy="548640"/>
          </a:xfrm>
          <a:prstGeom prst="rect">
            <a:avLst/>
          </a:prstGeom>
          <a:noFill/>
          <a:ln/>
        </p:spPr>
        <p:txBody>
          <a:bodyPr wrap="square" lIns="0" tIns="0" rIns="0" bIns="0" rtlCol="0" anchor="ctr"/>
          <a:lstStyle/>
          <a:p>
            <a:pPr algn="ctr" indent="0" marL="0">
              <a:buNone/>
            </a:pPr>
            <a:r>
              <a:rPr lang="en-US" sz="950" dirty="0">
                <a:solidFill>
                  <a:srgbClr val="FFFFFF"/>
                </a:solidFill>
                <a:latin typeface="Segoe UI Semibold" pitchFamily="34" charset="0"/>
                <a:ea typeface="Segoe UI Semibold" pitchFamily="34" charset="-122"/>
                <a:cs typeface="Segoe UI Semibold" pitchFamily="34" charset="-120"/>
              </a:rPr>
              <a:t>SẴN SÀNG TRAO ĐỔI VÀ TRẢ LỜI CÂU HỎI PHẢN BIỆN</a:t>
            </a:r>
            <a:endParaRPr lang="en-US" sz="950" dirty="0"/>
          </a:p>
        </p:txBody>
      </p:sp>
      <p:sp>
        <p:nvSpPr>
          <p:cNvPr id="7" name="Shape 5"/>
          <p:cNvSpPr/>
          <p:nvPr/>
        </p:nvSpPr>
        <p:spPr>
          <a:xfrm>
            <a:off x="2148840" y="3493008"/>
            <a:ext cx="2331720" cy="841248"/>
          </a:xfrm>
          <a:prstGeom prst="roundRect">
            <a:avLst>
              <a:gd name="adj" fmla="val 6522"/>
            </a:avLst>
          </a:prstGeom>
          <a:solidFill>
            <a:srgbClr val="0B4A6B"/>
          </a:solidFill>
          <a:ln w="9525">
            <a:solidFill>
              <a:srgbClr val="1C6A8C"/>
            </a:solidFill>
            <a:prstDash val="solid"/>
          </a:ln>
        </p:spPr>
      </p:sp>
      <p:sp>
        <p:nvSpPr>
          <p:cNvPr id="8" name="Text 6"/>
          <p:cNvSpPr/>
          <p:nvPr/>
        </p:nvSpPr>
        <p:spPr>
          <a:xfrm>
            <a:off x="2331720" y="3602736"/>
            <a:ext cx="1965960" cy="219456"/>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Hà Mạnh Trường</a:t>
            </a:r>
            <a:endParaRPr lang="en-US" sz="1100" dirty="0"/>
          </a:p>
        </p:txBody>
      </p:sp>
      <p:sp>
        <p:nvSpPr>
          <p:cNvPr id="9" name="Text 7"/>
          <p:cNvSpPr/>
          <p:nvPr/>
        </p:nvSpPr>
        <p:spPr>
          <a:xfrm>
            <a:off x="2331720" y="3840480"/>
            <a:ext cx="1965960" cy="182880"/>
          </a:xfrm>
          <a:prstGeom prst="rect">
            <a:avLst/>
          </a:prstGeom>
          <a:noFill/>
          <a:ln/>
        </p:spPr>
        <p:txBody>
          <a:bodyPr wrap="square" lIns="0" tIns="0" rIns="0" bIns="0" rtlCol="0" anchor="ctr"/>
          <a:lstStyle/>
          <a:p>
            <a:pPr algn="ctr" indent="0" marL="0">
              <a:buNone/>
            </a:pPr>
            <a:r>
              <a:rPr lang="en-US" sz="850" dirty="0">
                <a:solidFill>
                  <a:srgbClr val="CBE8EF"/>
                </a:solidFill>
                <a:latin typeface="Segoe UI" pitchFamily="34" charset="0"/>
                <a:ea typeface="Segoe UI" pitchFamily="34" charset="-122"/>
                <a:cs typeface="Segoe UI" pitchFamily="34" charset="-120"/>
              </a:rPr>
              <a:t>2045240326  ·  Nhóm trưởng</a:t>
            </a:r>
            <a:endParaRPr lang="en-US" sz="850" dirty="0"/>
          </a:p>
        </p:txBody>
      </p:sp>
      <p:sp>
        <p:nvSpPr>
          <p:cNvPr id="10" name="Text 8"/>
          <p:cNvSpPr/>
          <p:nvPr/>
        </p:nvSpPr>
        <p:spPr>
          <a:xfrm>
            <a:off x="2331720" y="4023360"/>
            <a:ext cx="1965960" cy="182880"/>
          </a:xfrm>
          <a:prstGeom prst="rect">
            <a:avLst/>
          </a:prstGeom>
          <a:noFill/>
          <a:ln/>
        </p:spPr>
        <p:txBody>
          <a:bodyPr wrap="square" lIns="0" tIns="0" rIns="0" bIns="0" rtlCol="0" anchor="ctr"/>
          <a:lstStyle/>
          <a:p>
            <a:pPr algn="ctr" indent="0" marL="0">
              <a:buNone/>
            </a:pPr>
            <a:r>
              <a:rPr lang="en-US" sz="800" dirty="0">
                <a:solidFill>
                  <a:srgbClr val="8FC5D4"/>
                </a:solidFill>
                <a:latin typeface="Segoe UI" pitchFamily="34" charset="0"/>
                <a:ea typeface="Segoe UI" pitchFamily="34" charset="-122"/>
                <a:cs typeface="Segoe UI" pitchFamily="34" charset="-120"/>
              </a:rPr>
              <a:t>Khoa CNTT — HUIT</a:t>
            </a:r>
            <a:endParaRPr lang="en-US" sz="800" dirty="0"/>
          </a:p>
        </p:txBody>
      </p:sp>
      <p:sp>
        <p:nvSpPr>
          <p:cNvPr id="11" name="Shape 9"/>
          <p:cNvSpPr/>
          <p:nvPr/>
        </p:nvSpPr>
        <p:spPr>
          <a:xfrm>
            <a:off x="4663440" y="3493008"/>
            <a:ext cx="2331720" cy="841248"/>
          </a:xfrm>
          <a:prstGeom prst="roundRect">
            <a:avLst>
              <a:gd name="adj" fmla="val 6522"/>
            </a:avLst>
          </a:prstGeom>
          <a:solidFill>
            <a:srgbClr val="0B4A6B"/>
          </a:solidFill>
          <a:ln w="9525">
            <a:solidFill>
              <a:srgbClr val="1C6A8C"/>
            </a:solidFill>
            <a:prstDash val="solid"/>
          </a:ln>
        </p:spPr>
      </p:sp>
      <p:sp>
        <p:nvSpPr>
          <p:cNvPr id="12" name="Text 10"/>
          <p:cNvSpPr/>
          <p:nvPr/>
        </p:nvSpPr>
        <p:spPr>
          <a:xfrm>
            <a:off x="4846320" y="3602736"/>
            <a:ext cx="1965960" cy="219456"/>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Huỳnh Tâm Trí</a:t>
            </a:r>
            <a:endParaRPr lang="en-US" sz="1100" dirty="0"/>
          </a:p>
        </p:txBody>
      </p:sp>
      <p:sp>
        <p:nvSpPr>
          <p:cNvPr id="13" name="Text 11"/>
          <p:cNvSpPr/>
          <p:nvPr/>
        </p:nvSpPr>
        <p:spPr>
          <a:xfrm>
            <a:off x="4846320" y="3840480"/>
            <a:ext cx="1965960" cy="182880"/>
          </a:xfrm>
          <a:prstGeom prst="rect">
            <a:avLst/>
          </a:prstGeom>
          <a:noFill/>
          <a:ln/>
        </p:spPr>
        <p:txBody>
          <a:bodyPr wrap="square" lIns="0" tIns="0" rIns="0" bIns="0" rtlCol="0" anchor="ctr"/>
          <a:lstStyle/>
          <a:p>
            <a:pPr algn="ctr" indent="0" marL="0">
              <a:buNone/>
            </a:pPr>
            <a:r>
              <a:rPr lang="en-US" sz="850" dirty="0">
                <a:solidFill>
                  <a:srgbClr val="CBE8EF"/>
                </a:solidFill>
                <a:latin typeface="Segoe UI" pitchFamily="34" charset="0"/>
                <a:ea typeface="Segoe UI" pitchFamily="34" charset="-122"/>
                <a:cs typeface="Segoe UI" pitchFamily="34" charset="-120"/>
              </a:rPr>
              <a:t>2045240315  ·  Thành viên</a:t>
            </a:r>
            <a:endParaRPr lang="en-US" sz="850" dirty="0"/>
          </a:p>
        </p:txBody>
      </p:sp>
      <p:sp>
        <p:nvSpPr>
          <p:cNvPr id="14" name="Text 12"/>
          <p:cNvSpPr/>
          <p:nvPr/>
        </p:nvSpPr>
        <p:spPr>
          <a:xfrm>
            <a:off x="4846320" y="4023360"/>
            <a:ext cx="1965960" cy="182880"/>
          </a:xfrm>
          <a:prstGeom prst="rect">
            <a:avLst/>
          </a:prstGeom>
          <a:noFill/>
          <a:ln/>
        </p:spPr>
        <p:txBody>
          <a:bodyPr wrap="square" lIns="0" tIns="0" rIns="0" bIns="0" rtlCol="0" anchor="ctr"/>
          <a:lstStyle/>
          <a:p>
            <a:pPr algn="ctr" indent="0" marL="0">
              <a:buNone/>
            </a:pPr>
            <a:r>
              <a:rPr lang="en-US" sz="800" dirty="0">
                <a:solidFill>
                  <a:srgbClr val="8FC5D4"/>
                </a:solidFill>
                <a:latin typeface="Segoe UI" pitchFamily="34" charset="0"/>
                <a:ea typeface="Segoe UI" pitchFamily="34" charset="-122"/>
                <a:cs typeface="Segoe UI" pitchFamily="34" charset="-120"/>
              </a:rPr>
              <a:t>Khoa CNTT — HUIT</a:t>
            </a:r>
            <a:endParaRPr lang="en-US" sz="800" dirty="0"/>
          </a:p>
        </p:txBody>
      </p:sp>
      <p:sp>
        <p:nvSpPr>
          <p:cNvPr id="15" name="Text 13"/>
          <p:cNvSpPr/>
          <p:nvPr/>
        </p:nvSpPr>
        <p:spPr>
          <a:xfrm>
            <a:off x="502920" y="4553712"/>
            <a:ext cx="8138160" cy="201168"/>
          </a:xfrm>
          <a:prstGeom prst="rect">
            <a:avLst/>
          </a:prstGeom>
          <a:noFill/>
          <a:ln/>
        </p:spPr>
        <p:txBody>
          <a:bodyPr wrap="square" lIns="0" tIns="0" rIns="0" bIns="0" rtlCol="0" anchor="ctr"/>
          <a:lstStyle/>
          <a:p>
            <a:pPr algn="ctr" indent="0" marL="0">
              <a:buNone/>
            </a:pPr>
            <a:r>
              <a:rPr lang="en-US" sz="900" dirty="0">
                <a:solidFill>
                  <a:srgbClr val="8FC5D4"/>
                </a:solidFill>
                <a:latin typeface="Segoe UI" pitchFamily="34" charset="0"/>
                <a:ea typeface="Segoe UI" pitchFamily="34" charset="-122"/>
                <a:cs typeface="Segoe UI" pitchFamily="34" charset="-120"/>
              </a:rPr>
              <a:t>TP. Hồ Chí Minh, Năm 2026</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101" presetID="10" presetClass="entr" presetSubtype="0" fill="hold" grpId="0" nodeType="withEffect">
                                  <p:stCondLst>
                                    <p:cond delay="0"/>
                                  </p:stCondLst>
                                  <p:childTnLst>
                                    <p:set>
                                      <p:cBhvr>
                                        <p:cTn id="102" dur="1" fill="hold">
                                          <p:stCondLst>
                                            <p:cond delay="0"/>
                                          </p:stCondLst>
                                        </p:cTn>
                                        <p:tgtEl>
                                          <p:spTgt spid="3"/>
                                        </p:tgtEl>
                                        <p:attrNameLst>
                                          <p:attrName>style.visibility</p:attrName>
                                        </p:attrNameLst>
                                      </p:cBhvr>
                                      <p:to>
                                        <p:strVal val="visible"/>
                                      </p:to>
                                    </p:set>
                                    <p:animEffect transition="in" filter="fade">
                                      <p:cBhvr>
                                        <p:cTn id="103" dur="400"/>
                                        <p:tgtEl>
                                          <p:spTgt spid="3"/>
                                        </p:tgtEl>
                                      </p:cBhvr>
                                    </p:animEffect>
                                  </p:childTnLst>
                                </p:cTn>
                              </p:par>
                              <p:par>
                                <p:cTn id="104" presetID="10" presetClass="entr" presetSubtype="0" fill="hold" grpId="0" nodeType="withEffect">
                                  <p:stCondLst>
                                    <p:cond delay="280"/>
                                  </p:stCondLst>
                                  <p:childTnLst>
                                    <p:set>
                                      <p:cBhvr>
                                        <p:cTn id="105" dur="1" fill="hold">
                                          <p:stCondLst>
                                            <p:cond delay="0"/>
                                          </p:stCondLst>
                                        </p:cTn>
                                        <p:tgtEl>
                                          <p:spTgt spid="4"/>
                                        </p:tgtEl>
                                        <p:attrNameLst>
                                          <p:attrName>style.visibility</p:attrName>
                                        </p:attrNameLst>
                                      </p:cBhvr>
                                      <p:to>
                                        <p:strVal val="visible"/>
                                      </p:to>
                                    </p:set>
                                    <p:animEffect transition="in" filter="fade">
                                      <p:cBhvr>
                                        <p:cTn id="106" dur="400"/>
                                        <p:tgtEl>
                                          <p:spTgt spid="4"/>
                                        </p:tgtEl>
                                      </p:cBhvr>
                                    </p:animEffect>
                                  </p:childTnLst>
                                </p:cTn>
                              </p:par>
                              <p:par>
                                <p:cTn id="107" presetID="10" presetClass="entr" presetSubtype="0" fill="hold" grpId="0" nodeType="withEffect">
                                  <p:stCondLst>
                                    <p:cond delay="560"/>
                                  </p:stCondLst>
                                  <p:childTnLst>
                                    <p:set>
                                      <p:cBhvr>
                                        <p:cTn id="108" dur="1" fill="hold">
                                          <p:stCondLst>
                                            <p:cond delay="0"/>
                                          </p:stCondLst>
                                        </p:cTn>
                                        <p:tgtEl>
                                          <p:spTgt spid="5"/>
                                        </p:tgtEl>
                                        <p:attrNameLst>
                                          <p:attrName>style.visibility</p:attrName>
                                        </p:attrNameLst>
                                      </p:cBhvr>
                                      <p:to>
                                        <p:strVal val="visible"/>
                                      </p:to>
                                    </p:set>
                                    <p:animEffect transition="in" filter="fade">
                                      <p:cBhvr>
                                        <p:cTn id="109" dur="400"/>
                                        <p:tgtEl>
                                          <p:spTgt spid="5"/>
                                        </p:tgtEl>
                                      </p:cBhvr>
                                    </p:animEffect>
                                  </p:childTnLst>
                                </p:cTn>
                              </p:par>
                              <p:par>
                                <p:cTn id="110" presetID="10" presetClass="entr" presetSubtype="0" fill="hold" grpId="0" nodeType="withEffect">
                                  <p:stCondLst>
                                    <p:cond delay="56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00"/>
                                        <p:tgtEl>
                                          <p:spTgt spid="6"/>
                                        </p:tgtEl>
                                      </p:cBhvr>
                                    </p:animEffect>
                                  </p:childTnLst>
                                </p:cTn>
                              </p:par>
                              <p:par>
                                <p:cTn id="113" presetID="10" presetClass="entr" presetSubtype="0" fill="hold" grpId="0" nodeType="withEffect">
                                  <p:stCondLst>
                                    <p:cond delay="840"/>
                                  </p:stCondLst>
                                  <p:childTnLst>
                                    <p:set>
                                      <p:cBhvr>
                                        <p:cTn id="114" dur="1" fill="hold">
                                          <p:stCondLst>
                                            <p:cond delay="0"/>
                                          </p:stCondLst>
                                        </p:cTn>
                                        <p:tgtEl>
                                          <p:spTgt spid="7"/>
                                        </p:tgtEl>
                                        <p:attrNameLst>
                                          <p:attrName>style.visibility</p:attrName>
                                        </p:attrNameLst>
                                      </p:cBhvr>
                                      <p:to>
                                        <p:strVal val="visible"/>
                                      </p:to>
                                    </p:set>
                                    <p:animEffect transition="in" filter="fade">
                                      <p:cBhvr>
                                        <p:cTn id="115" dur="400"/>
                                        <p:tgtEl>
                                          <p:spTgt spid="7"/>
                                        </p:tgtEl>
                                      </p:cBhvr>
                                    </p:animEffect>
                                  </p:childTnLst>
                                </p:cTn>
                              </p:par>
                              <p:par>
                                <p:cTn id="116" presetID="10" presetClass="entr" presetSubtype="0" fill="hold" grpId="0" nodeType="withEffect">
                                  <p:stCondLst>
                                    <p:cond delay="840"/>
                                  </p:stCondLst>
                                  <p:childTnLst>
                                    <p:set>
                                      <p:cBhvr>
                                        <p:cTn id="117" dur="1" fill="hold">
                                          <p:stCondLst>
                                            <p:cond delay="0"/>
                                          </p:stCondLst>
                                        </p:cTn>
                                        <p:tgtEl>
                                          <p:spTgt spid="8"/>
                                        </p:tgtEl>
                                        <p:attrNameLst>
                                          <p:attrName>style.visibility</p:attrName>
                                        </p:attrNameLst>
                                      </p:cBhvr>
                                      <p:to>
                                        <p:strVal val="visible"/>
                                      </p:to>
                                    </p:set>
                                    <p:animEffect transition="in" filter="fade">
                                      <p:cBhvr>
                                        <p:cTn id="118" dur="400"/>
                                        <p:tgtEl>
                                          <p:spTgt spid="8"/>
                                        </p:tgtEl>
                                      </p:cBhvr>
                                    </p:animEffect>
                                  </p:childTnLst>
                                </p:cTn>
                              </p:par>
                              <p:par>
                                <p:cTn id="119" presetID="10" presetClass="entr" presetSubtype="0" fill="hold" grpId="0" nodeType="withEffect">
                                  <p:stCondLst>
                                    <p:cond delay="840"/>
                                  </p:stCondLst>
                                  <p:childTnLst>
                                    <p:set>
                                      <p:cBhvr>
                                        <p:cTn id="120" dur="1" fill="hold">
                                          <p:stCondLst>
                                            <p:cond delay="0"/>
                                          </p:stCondLst>
                                        </p:cTn>
                                        <p:tgtEl>
                                          <p:spTgt spid="9"/>
                                        </p:tgtEl>
                                        <p:attrNameLst>
                                          <p:attrName>style.visibility</p:attrName>
                                        </p:attrNameLst>
                                      </p:cBhvr>
                                      <p:to>
                                        <p:strVal val="visible"/>
                                      </p:to>
                                    </p:set>
                                    <p:animEffect transition="in" filter="fade">
                                      <p:cBhvr>
                                        <p:cTn id="121" dur="400"/>
                                        <p:tgtEl>
                                          <p:spTgt spid="9"/>
                                        </p:tgtEl>
                                      </p:cBhvr>
                                    </p:animEffect>
                                  </p:childTnLst>
                                </p:cTn>
                              </p:par>
                              <p:par>
                                <p:cTn id="122" presetID="10" presetClass="entr" presetSubtype="0" fill="hold" grpId="0" nodeType="withEffect">
                                  <p:stCondLst>
                                    <p:cond delay="84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00"/>
                                        <p:tgtEl>
                                          <p:spTgt spid="11"/>
                                        </p:tgtEl>
                                      </p:cBhvr>
                                    </p:animEffect>
                                  </p:childTnLst>
                                </p:cTn>
                              </p:par>
                              <p:par>
                                <p:cTn id="125" presetID="10" presetClass="entr" presetSubtype="0" fill="hold" grpId="0" nodeType="withEffect">
                                  <p:stCondLst>
                                    <p:cond delay="84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00"/>
                                        <p:tgtEl>
                                          <p:spTgt spid="12"/>
                                        </p:tgtEl>
                                      </p:cBhvr>
                                    </p:animEffect>
                                  </p:childTnLst>
                                </p:cTn>
                              </p:par>
                              <p:par>
                                <p:cTn id="128" presetID="10" presetClass="entr" presetSubtype="0" fill="hold" grpId="0" nodeType="withEffect">
                                  <p:stCondLst>
                                    <p:cond delay="84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00"/>
                                        <p:tgtEl>
                                          <p:spTgt spid="13"/>
                                        </p:tgtEl>
                                      </p:cBhvr>
                                    </p:animEffect>
                                  </p:childTnLst>
                                </p:cTn>
                              </p:par>
                              <p:par>
                                <p:cTn id="131" presetID="10" presetClass="entr" presetSubtype="0" fill="hold" grpId="0" nodeType="withEffect">
                                  <p:stCondLst>
                                    <p:cond delay="1120"/>
                                  </p:stCondLst>
                                  <p:childTnLst>
                                    <p:set>
                                      <p:cBhvr>
                                        <p:cTn id="132" dur="1" fill="hold">
                                          <p:stCondLst>
                                            <p:cond delay="0"/>
                                          </p:stCondLst>
                                        </p:cTn>
                                        <p:tgtEl>
                                          <p:spTgt spid="10"/>
                                        </p:tgtEl>
                                        <p:attrNameLst>
                                          <p:attrName>style.visibility</p:attrName>
                                        </p:attrNameLst>
                                      </p:cBhvr>
                                      <p:to>
                                        <p:strVal val="visible"/>
                                      </p:to>
                                    </p:set>
                                    <p:animEffect transition="in" filter="fade">
                                      <p:cBhvr>
                                        <p:cTn id="133" dur="400"/>
                                        <p:tgtEl>
                                          <p:spTgt spid="10"/>
                                        </p:tgtEl>
                                      </p:cBhvr>
                                    </p:animEffect>
                                  </p:childTnLst>
                                </p:cTn>
                              </p:par>
                              <p:par>
                                <p:cTn id="134" presetID="10" presetClass="entr" presetSubtype="0" fill="hold" grpId="0" nodeType="withEffect">
                                  <p:stCondLst>
                                    <p:cond delay="1120"/>
                                  </p:stCondLst>
                                  <p:childTnLst>
                                    <p:set>
                                      <p:cBhvr>
                                        <p:cTn id="135" dur="1" fill="hold">
                                          <p:stCondLst>
                                            <p:cond delay="0"/>
                                          </p:stCondLst>
                                        </p:cTn>
                                        <p:tgtEl>
                                          <p:spTgt spid="14"/>
                                        </p:tgtEl>
                                        <p:attrNameLst>
                                          <p:attrName>style.visibility</p:attrName>
                                        </p:attrNameLst>
                                      </p:cBhvr>
                                      <p:to>
                                        <p:strVal val="visible"/>
                                      </p:to>
                                    </p:set>
                                    <p:animEffect transition="in" filter="fade">
                                      <p:cBhvr>
                                        <p:cTn id="136" dur="400"/>
                                        <p:tgtEl>
                                          <p:spTgt spid="14"/>
                                        </p:tgtEl>
                                      </p:cBhvr>
                                    </p:animEffect>
                                  </p:childTnLst>
                                </p:cTn>
                              </p:par>
                              <p:par>
                                <p:cTn id="137" presetID="10" presetClass="entr" presetSubtype="0" fill="hold" grpId="0" nodeType="withEffect">
                                  <p:stCondLst>
                                    <p:cond delay="1400"/>
                                  </p:stCondLst>
                                  <p:childTnLst>
                                    <p:set>
                                      <p:cBhvr>
                                        <p:cTn id="138" dur="1" fill="hold">
                                          <p:stCondLst>
                                            <p:cond delay="0"/>
                                          </p:stCondLst>
                                        </p:cTn>
                                        <p:tgtEl>
                                          <p:spTgt spid="15"/>
                                        </p:tgtEl>
                                        <p:attrNameLst>
                                          <p:attrName>style.visibility</p:attrName>
                                        </p:attrNameLst>
                                      </p:cBhvr>
                                      <p:to>
                                        <p:strVal val="visible"/>
                                      </p:to>
                                    </p:set>
                                    <p:animEffect transition="in" filter="fade">
                                      <p:cBhvr>
                                        <p:cTn id="13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HUIT - Khoa Công nghệ Thông tin - Ngành Khoa học Dữ liệu - Bộ môn Xử lý ảnh số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SLIDE_THUYET_TRINH_XLAS</dc:title>
  <dc:subject>Phân đoạn và phát hiện tổn thương trên ảnh y tế</dc:subject>
  <dc:creator>Hà Mạnh Trường &amp; Huỳnh Tâm Trí</dc:creator>
  <cp:lastModifiedBy>Hà Mạnh Trường &amp; Huỳnh Tâm Trí</cp:lastModifiedBy>
  <cp:revision>1</cp:revision>
  <dcterms:created xsi:type="dcterms:W3CDTF">2026-10-23T16:59:10Z</dcterms:created>
  <dcterms:modified xsi:type="dcterms:W3CDTF">2026-10-23T16:59:10Z</dcterms:modified>
</cp:coreProperties>
</file>